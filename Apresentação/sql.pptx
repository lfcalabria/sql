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6" r:id="rId1"/>
  </p:sldMasterIdLst>
  <p:notesMasterIdLst>
    <p:notesMasterId r:id="rId60"/>
  </p:notesMasterIdLst>
  <p:handoutMasterIdLst>
    <p:handoutMasterId r:id="rId61"/>
  </p:handoutMasterIdLst>
  <p:sldIdLst>
    <p:sldId id="2526" r:id="rId2"/>
    <p:sldId id="2510" r:id="rId3"/>
    <p:sldId id="2580" r:id="rId4"/>
    <p:sldId id="2511" r:id="rId5"/>
    <p:sldId id="3168" r:id="rId6"/>
    <p:sldId id="3169" r:id="rId7"/>
    <p:sldId id="3170" r:id="rId8"/>
    <p:sldId id="3167" r:id="rId9"/>
    <p:sldId id="305" r:id="rId10"/>
    <p:sldId id="2513" r:id="rId11"/>
    <p:sldId id="2515" r:id="rId12"/>
    <p:sldId id="2573" r:id="rId13"/>
    <p:sldId id="3171" r:id="rId14"/>
    <p:sldId id="3172" r:id="rId15"/>
    <p:sldId id="3173" r:id="rId16"/>
    <p:sldId id="3174" r:id="rId17"/>
    <p:sldId id="3158" r:id="rId18"/>
    <p:sldId id="3166" r:id="rId19"/>
    <p:sldId id="3175" r:id="rId20"/>
    <p:sldId id="3176" r:id="rId21"/>
    <p:sldId id="3177" r:id="rId22"/>
    <p:sldId id="3178" r:id="rId23"/>
    <p:sldId id="3179" r:id="rId24"/>
    <p:sldId id="3180" r:id="rId25"/>
    <p:sldId id="3183" r:id="rId26"/>
    <p:sldId id="3184" r:id="rId27"/>
    <p:sldId id="3185" r:id="rId28"/>
    <p:sldId id="3186" r:id="rId29"/>
    <p:sldId id="3187" r:id="rId30"/>
    <p:sldId id="3182" r:id="rId31"/>
    <p:sldId id="3189" r:id="rId32"/>
    <p:sldId id="3201" r:id="rId33"/>
    <p:sldId id="3190" r:id="rId34"/>
    <p:sldId id="3192" r:id="rId35"/>
    <p:sldId id="3193" r:id="rId36"/>
    <p:sldId id="2543" r:id="rId37"/>
    <p:sldId id="2574" r:id="rId38"/>
    <p:sldId id="3188" r:id="rId39"/>
    <p:sldId id="2559" r:id="rId40"/>
    <p:sldId id="2554" r:id="rId41"/>
    <p:sldId id="2592" r:id="rId42"/>
    <p:sldId id="3194" r:id="rId43"/>
    <p:sldId id="3195" r:id="rId44"/>
    <p:sldId id="3196" r:id="rId45"/>
    <p:sldId id="3197" r:id="rId46"/>
    <p:sldId id="3198" r:id="rId47"/>
    <p:sldId id="3199" r:id="rId48"/>
    <p:sldId id="3200" r:id="rId49"/>
    <p:sldId id="3202" r:id="rId50"/>
    <p:sldId id="3203" r:id="rId51"/>
    <p:sldId id="3204" r:id="rId52"/>
    <p:sldId id="3207" r:id="rId53"/>
    <p:sldId id="3208" r:id="rId54"/>
    <p:sldId id="3205" r:id="rId55"/>
    <p:sldId id="3209" r:id="rId56"/>
    <p:sldId id="3210" r:id="rId57"/>
    <p:sldId id="3211" r:id="rId58"/>
    <p:sldId id="3212" r:id="rId59"/>
  </p:sldIdLst>
  <p:sldSz cx="9144000" cy="5143500" type="screen16x9"/>
  <p:notesSz cx="6858000" cy="9945688"/>
  <p:embeddedFontLst>
    <p:embeddedFont>
      <p:font typeface="Arial Unicode MS" panose="020B0604020202020204" charset="-128"/>
      <p:regular r:id="rId62"/>
    </p:embeddedFont>
    <p:embeddedFont>
      <p:font typeface="Consolas" panose="020B0609020204030204" pitchFamily="49" charset="0"/>
      <p:regular r:id="rId63"/>
      <p:bold r:id="rId64"/>
      <p:italic r:id="rId65"/>
      <p:boldItalic r:id="rId66"/>
    </p:embeddedFont>
    <p:embeddedFont>
      <p:font typeface="Roboto" panose="02000000000000000000" pitchFamily="2" charset="0"/>
      <p:regular r:id="rId67"/>
      <p:bold r:id="rId68"/>
      <p:italic r:id="rId69"/>
      <p:boldItalic r:id="rId70"/>
    </p:embeddedFont>
    <p:embeddedFont>
      <p:font typeface="Times" panose="02020603050405020304" pitchFamily="18" charset="0"/>
      <p:regular r:id="rId71"/>
      <p:bold r:id="rId72"/>
      <p:italic r:id="rId73"/>
      <p:boldItalic r:id="rId74"/>
    </p:embeddedFont>
    <p:embeddedFont>
      <p:font typeface="Verdana" panose="020B0604030504040204" pitchFamily="3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ção Padrão" id="{9024791A-2CB8-4DBF-8798-D3A36EFACACD}">
          <p14:sldIdLst>
            <p14:sldId id="2526"/>
            <p14:sldId id="2510"/>
            <p14:sldId id="2580"/>
            <p14:sldId id="2511"/>
            <p14:sldId id="3168"/>
            <p14:sldId id="3169"/>
            <p14:sldId id="3170"/>
            <p14:sldId id="3167"/>
            <p14:sldId id="305"/>
            <p14:sldId id="2513"/>
            <p14:sldId id="2515"/>
            <p14:sldId id="2573"/>
            <p14:sldId id="3171"/>
            <p14:sldId id="3172"/>
            <p14:sldId id="3173"/>
            <p14:sldId id="3174"/>
            <p14:sldId id="3158"/>
            <p14:sldId id="3166"/>
            <p14:sldId id="3175"/>
            <p14:sldId id="3176"/>
            <p14:sldId id="3177"/>
            <p14:sldId id="3178"/>
            <p14:sldId id="3179"/>
            <p14:sldId id="3180"/>
            <p14:sldId id="3183"/>
            <p14:sldId id="3184"/>
            <p14:sldId id="3185"/>
            <p14:sldId id="3186"/>
            <p14:sldId id="3187"/>
            <p14:sldId id="3182"/>
            <p14:sldId id="3189"/>
            <p14:sldId id="3201"/>
            <p14:sldId id="3190"/>
            <p14:sldId id="3192"/>
            <p14:sldId id="3193"/>
            <p14:sldId id="2543"/>
            <p14:sldId id="2574"/>
            <p14:sldId id="3188"/>
            <p14:sldId id="2559"/>
            <p14:sldId id="2554"/>
            <p14:sldId id="2592"/>
            <p14:sldId id="3194"/>
            <p14:sldId id="3195"/>
            <p14:sldId id="3196"/>
            <p14:sldId id="3197"/>
            <p14:sldId id="3198"/>
            <p14:sldId id="3199"/>
            <p14:sldId id="3200"/>
            <p14:sldId id="3202"/>
            <p14:sldId id="3203"/>
            <p14:sldId id="3204"/>
            <p14:sldId id="3207"/>
            <p14:sldId id="3208"/>
            <p14:sldId id="3205"/>
            <p14:sldId id="3209"/>
            <p14:sldId id="3210"/>
            <p14:sldId id="3211"/>
            <p14:sldId id="321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gerio Aguiar" initials="RA" lastIdx="1" clrIdx="0">
    <p:extLst>
      <p:ext uri="{19B8F6BF-5375-455C-9EA6-DF929625EA0E}">
        <p15:presenceInfo xmlns:p15="http://schemas.microsoft.com/office/powerpoint/2012/main" userId="86fef4cc378c39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6960A"/>
    <a:srgbClr val="FFD243"/>
    <a:srgbClr val="FFEDB3"/>
    <a:srgbClr val="FFD9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B9740-4907-488C-8CCB-91CE89FE51F6}" v="364" dt="2023-08-31T22:38:18.596"/>
  </p1510:revLst>
</p1510:revInfo>
</file>

<file path=ppt/tableStyles.xml><?xml version="1.0" encoding="utf-8"?>
<a:tblStyleLst xmlns:a="http://schemas.openxmlformats.org/drawingml/2006/main" def="{18E0EB87-6F86-4DAB-AA45-32A1FB75C8D8}">
  <a:tblStyle styleId="{18E0EB87-6F86-4DAB-AA45-32A1FB75C8D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Estilo Claro 3 - Ênfas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Estilo Claro 2 - Ênfas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Estilo Claro 2 - Ênfas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Estilo Claro 2 - Ênfas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30" autoAdjust="0"/>
    <p:restoredTop sz="92125" autoAdjust="0"/>
  </p:normalViewPr>
  <p:slideViewPr>
    <p:cSldViewPr snapToGrid="0">
      <p:cViewPr varScale="1">
        <p:scale>
          <a:sx n="49" d="100"/>
          <a:sy n="49" d="100"/>
        </p:scale>
        <p:origin x="1104" y="261"/>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3.fntdata"/><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handoutMaster" Target="handoutMasters/handoutMaster1.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1.fntdata"/><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font" Target="fonts/font10.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5.fntdata"/></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92AB06-7F4F-44D5-9C13-67435DBE1D52}" type="doc">
      <dgm:prSet loTypeId="urn:microsoft.com/office/officeart/2005/8/layout/default" loCatId="list" qsTypeId="urn:microsoft.com/office/officeart/2005/8/quickstyle/simple2" qsCatId="simple" csTypeId="urn:microsoft.com/office/officeart/2005/8/colors/accent0_3" csCatId="mainScheme" phldr="1"/>
      <dgm:spPr/>
      <dgm:t>
        <a:bodyPr/>
        <a:lstStyle/>
        <a:p>
          <a:endParaRPr lang="en-US"/>
        </a:p>
      </dgm:t>
    </dgm:pt>
    <dgm:pt modelId="{1B0DD17B-C869-460A-8412-035031902DC5}">
      <dgm:prSet custT="1"/>
      <dgm:spPr/>
      <dgm:t>
        <a:bodyPr/>
        <a:lstStyle/>
        <a:p>
          <a:r>
            <a:rPr lang="en-US" sz="1600" dirty="0"/>
            <a:t>01 - </a:t>
          </a:r>
          <a:r>
            <a:rPr lang="pt-BR" sz="1600" dirty="0"/>
            <a:t>Introdução a Bancos de Dados</a:t>
          </a:r>
          <a:endParaRPr lang="en-US" sz="1600" dirty="0"/>
        </a:p>
      </dgm:t>
    </dgm:pt>
    <dgm:pt modelId="{00F8A07E-F595-4A47-AB83-0429D97B9776}" type="parTrans" cxnId="{D1371AE7-3183-422B-BD0E-1884C0834EE1}">
      <dgm:prSet/>
      <dgm:spPr/>
      <dgm:t>
        <a:bodyPr/>
        <a:lstStyle/>
        <a:p>
          <a:endParaRPr lang="en-US" sz="1600"/>
        </a:p>
      </dgm:t>
    </dgm:pt>
    <dgm:pt modelId="{30B7B260-5C7F-40EA-AFD3-D77DC0C20D72}" type="sibTrans" cxnId="{D1371AE7-3183-422B-BD0E-1884C0834EE1}">
      <dgm:prSet/>
      <dgm:spPr/>
      <dgm:t>
        <a:bodyPr/>
        <a:lstStyle/>
        <a:p>
          <a:endParaRPr lang="en-US" sz="1600"/>
        </a:p>
      </dgm:t>
    </dgm:pt>
    <dgm:pt modelId="{265FFD5A-C64B-4C0C-8471-A17AF7F0B089}">
      <dgm:prSet custT="1"/>
      <dgm:spPr/>
      <dgm:t>
        <a:bodyPr/>
        <a:lstStyle/>
        <a:p>
          <a:r>
            <a:rPr lang="en-US" sz="1600" dirty="0"/>
            <a:t>02 - </a:t>
          </a:r>
          <a:r>
            <a:rPr lang="en-US" sz="1600" dirty="0" err="1"/>
            <a:t>Conhecendo</a:t>
          </a:r>
          <a:r>
            <a:rPr lang="en-US" sz="1600" dirty="0"/>
            <a:t> um </a:t>
          </a:r>
          <a:r>
            <a:rPr lang="en-US" sz="1600" dirty="0" err="1"/>
            <a:t>modelo</a:t>
          </a:r>
          <a:r>
            <a:rPr lang="en-US" sz="1600" dirty="0"/>
            <a:t> de dados</a:t>
          </a:r>
        </a:p>
      </dgm:t>
    </dgm:pt>
    <dgm:pt modelId="{C9CE35C7-ED6C-4220-8DDE-1B12A788F273}" type="parTrans" cxnId="{7AD4DD24-6548-4CA5-80FB-AB412890EF02}">
      <dgm:prSet/>
      <dgm:spPr/>
      <dgm:t>
        <a:bodyPr/>
        <a:lstStyle/>
        <a:p>
          <a:endParaRPr lang="en-US" sz="1600"/>
        </a:p>
      </dgm:t>
    </dgm:pt>
    <dgm:pt modelId="{B5FF797F-7C7F-4DFB-A13D-0659C3A2F3A6}" type="sibTrans" cxnId="{7AD4DD24-6548-4CA5-80FB-AB412890EF02}">
      <dgm:prSet/>
      <dgm:spPr/>
      <dgm:t>
        <a:bodyPr/>
        <a:lstStyle/>
        <a:p>
          <a:endParaRPr lang="en-US" sz="1600"/>
        </a:p>
      </dgm:t>
    </dgm:pt>
    <dgm:pt modelId="{D5FDB34E-810C-4676-A98E-54BF4E2ECCDD}">
      <dgm:prSet custT="1"/>
      <dgm:spPr/>
      <dgm:t>
        <a:bodyPr/>
        <a:lstStyle/>
        <a:p>
          <a:r>
            <a:rPr lang="en-US" sz="1600" dirty="0"/>
            <a:t>03 -</a:t>
          </a:r>
          <a:r>
            <a:rPr lang="pt-BR" sz="1600" dirty="0"/>
            <a:t>Criando um banco de dados no MySQL</a:t>
          </a:r>
          <a:endParaRPr lang="en-US" sz="1600" dirty="0"/>
        </a:p>
      </dgm:t>
    </dgm:pt>
    <dgm:pt modelId="{694CDB2C-F0B6-40B5-92D2-CDCCBD45F630}" type="parTrans" cxnId="{3F31DCCC-C3BE-49B0-98AA-3FED898988F4}">
      <dgm:prSet/>
      <dgm:spPr/>
      <dgm:t>
        <a:bodyPr/>
        <a:lstStyle/>
        <a:p>
          <a:endParaRPr lang="en-US" sz="1600"/>
        </a:p>
      </dgm:t>
    </dgm:pt>
    <dgm:pt modelId="{1BFD7BED-AA25-4E0D-A4A8-D16464C842A0}" type="sibTrans" cxnId="{3F31DCCC-C3BE-49B0-98AA-3FED898988F4}">
      <dgm:prSet/>
      <dgm:spPr/>
      <dgm:t>
        <a:bodyPr/>
        <a:lstStyle/>
        <a:p>
          <a:endParaRPr lang="en-US" sz="1600"/>
        </a:p>
      </dgm:t>
    </dgm:pt>
    <dgm:pt modelId="{FCF1EC46-1966-47D2-B4A8-4D44F0C2BA97}">
      <dgm:prSet custT="1"/>
      <dgm:spPr/>
      <dgm:t>
        <a:bodyPr/>
        <a:lstStyle/>
        <a:p>
          <a:r>
            <a:rPr lang="en-US" sz="1600" dirty="0"/>
            <a:t>04 - </a:t>
          </a:r>
          <a:r>
            <a:rPr lang="pt-BR" sz="1600" b="1" dirty="0"/>
            <a:t>DDL</a:t>
          </a:r>
          <a:r>
            <a:rPr lang="pt-BR" sz="1600" dirty="0"/>
            <a:t> ( Data </a:t>
          </a:r>
          <a:r>
            <a:rPr lang="pt-BR" sz="1600" dirty="0" err="1"/>
            <a:t>Definition</a:t>
          </a:r>
          <a:r>
            <a:rPr lang="pt-BR" sz="1600" dirty="0"/>
            <a:t> </a:t>
          </a:r>
          <a:r>
            <a:rPr lang="pt-BR" sz="1600" dirty="0" err="1"/>
            <a:t>Language</a:t>
          </a:r>
          <a:r>
            <a:rPr lang="pt-BR" sz="1600" dirty="0"/>
            <a:t>) :</a:t>
          </a:r>
        </a:p>
        <a:p>
          <a:r>
            <a:rPr lang="pt-BR" sz="1600" dirty="0"/>
            <a:t>Linguagem de Definição de Dados</a:t>
          </a:r>
          <a:endParaRPr lang="en-US" sz="1600" dirty="0"/>
        </a:p>
      </dgm:t>
    </dgm:pt>
    <dgm:pt modelId="{91D66915-BC24-4777-892E-07DA6993E11F}" type="parTrans" cxnId="{CA29811A-2D30-4F0F-A83A-093553601064}">
      <dgm:prSet/>
      <dgm:spPr/>
      <dgm:t>
        <a:bodyPr/>
        <a:lstStyle/>
        <a:p>
          <a:endParaRPr lang="en-US" sz="1600"/>
        </a:p>
      </dgm:t>
    </dgm:pt>
    <dgm:pt modelId="{AFF39A28-CF16-4D10-B79B-9ABE35EF4899}" type="sibTrans" cxnId="{CA29811A-2D30-4F0F-A83A-093553601064}">
      <dgm:prSet/>
      <dgm:spPr/>
      <dgm:t>
        <a:bodyPr/>
        <a:lstStyle/>
        <a:p>
          <a:endParaRPr lang="en-US" sz="1600"/>
        </a:p>
      </dgm:t>
    </dgm:pt>
    <dgm:pt modelId="{A45BA678-A88A-4AA0-87F7-5328C632B6D3}">
      <dgm:prSet custT="1"/>
      <dgm:spPr/>
      <dgm:t>
        <a:bodyPr/>
        <a:lstStyle/>
        <a:p>
          <a:r>
            <a:rPr lang="en-US" sz="1600" dirty="0"/>
            <a:t>05 - </a:t>
          </a:r>
          <a:r>
            <a:rPr lang="pt-BR" sz="1600" b="1" dirty="0"/>
            <a:t>DML</a:t>
          </a:r>
          <a:r>
            <a:rPr lang="pt-BR" sz="1600" dirty="0"/>
            <a:t> (Data </a:t>
          </a:r>
          <a:r>
            <a:rPr lang="pt-BR" sz="1600" dirty="0" err="1"/>
            <a:t>Manipulation</a:t>
          </a:r>
          <a:r>
            <a:rPr lang="pt-BR" sz="1600" dirty="0"/>
            <a:t> </a:t>
          </a:r>
          <a:r>
            <a:rPr lang="pt-BR" sz="1600" dirty="0" err="1"/>
            <a:t>Language</a:t>
          </a:r>
          <a:r>
            <a:rPr lang="pt-BR" sz="1600" dirty="0"/>
            <a:t>) : </a:t>
          </a:r>
        </a:p>
        <a:p>
          <a:r>
            <a:rPr lang="pt-BR" sz="1600" dirty="0"/>
            <a:t>Linguagem de Manipulação de</a:t>
          </a:r>
        </a:p>
        <a:p>
          <a:r>
            <a:rPr lang="pt-BR" sz="1600" dirty="0"/>
            <a:t>Dados</a:t>
          </a:r>
          <a:endParaRPr lang="en-US" sz="1600" dirty="0"/>
        </a:p>
      </dgm:t>
    </dgm:pt>
    <dgm:pt modelId="{F31D6C51-3D58-44BB-BC67-7EE6B5A21A70}" type="parTrans" cxnId="{182C5921-6B95-497E-991E-BAE5A540956D}">
      <dgm:prSet/>
      <dgm:spPr/>
      <dgm:t>
        <a:bodyPr/>
        <a:lstStyle/>
        <a:p>
          <a:endParaRPr lang="en-US" sz="1600"/>
        </a:p>
      </dgm:t>
    </dgm:pt>
    <dgm:pt modelId="{572F4AEE-081D-4CEE-A030-AA72B61FE207}" type="sibTrans" cxnId="{182C5921-6B95-497E-991E-BAE5A540956D}">
      <dgm:prSet/>
      <dgm:spPr/>
      <dgm:t>
        <a:bodyPr/>
        <a:lstStyle/>
        <a:p>
          <a:endParaRPr lang="en-US" sz="1600"/>
        </a:p>
      </dgm:t>
    </dgm:pt>
    <dgm:pt modelId="{4AE06F6B-6035-4E18-A269-A6DD2708FBE3}">
      <dgm:prSet custT="1"/>
      <dgm:spPr/>
      <dgm:t>
        <a:bodyPr/>
        <a:lstStyle/>
        <a:p>
          <a:r>
            <a:rPr lang="en-US" sz="1600" dirty="0"/>
            <a:t>06 - </a:t>
          </a:r>
          <a:r>
            <a:rPr lang="pt-BR" sz="1600" b="1" dirty="0"/>
            <a:t>DQL</a:t>
          </a:r>
          <a:r>
            <a:rPr lang="pt-BR" sz="1600" dirty="0"/>
            <a:t> ( Data Query </a:t>
          </a:r>
          <a:r>
            <a:rPr lang="pt-BR" sz="1600" dirty="0" err="1"/>
            <a:t>Language</a:t>
          </a:r>
          <a:r>
            <a:rPr lang="pt-BR" sz="1600" dirty="0"/>
            <a:t> ) </a:t>
          </a:r>
        </a:p>
        <a:p>
          <a:r>
            <a:rPr lang="pt-BR" sz="1600" dirty="0"/>
            <a:t>Linguagem de Consulta de Dados</a:t>
          </a:r>
          <a:endParaRPr lang="en-US" sz="1600" dirty="0"/>
        </a:p>
      </dgm:t>
    </dgm:pt>
    <dgm:pt modelId="{705F3957-CE10-4B79-A2A0-886EB0CC4EFB}" type="parTrans" cxnId="{E5A547D9-9BD1-42E8-BA70-BEA25ECD6666}">
      <dgm:prSet/>
      <dgm:spPr/>
      <dgm:t>
        <a:bodyPr/>
        <a:lstStyle/>
        <a:p>
          <a:endParaRPr lang="en-US" sz="1600"/>
        </a:p>
      </dgm:t>
    </dgm:pt>
    <dgm:pt modelId="{9AE27510-17F1-4C88-B820-EEDC58EDE57A}" type="sibTrans" cxnId="{E5A547D9-9BD1-42E8-BA70-BEA25ECD6666}">
      <dgm:prSet/>
      <dgm:spPr/>
      <dgm:t>
        <a:bodyPr/>
        <a:lstStyle/>
        <a:p>
          <a:endParaRPr lang="en-US" sz="1600"/>
        </a:p>
      </dgm:t>
    </dgm:pt>
    <dgm:pt modelId="{3F38086C-0935-42BC-BD6E-9914C2658F83}" type="pres">
      <dgm:prSet presAssocID="{B392AB06-7F4F-44D5-9C13-67435DBE1D52}" presName="diagram" presStyleCnt="0">
        <dgm:presLayoutVars>
          <dgm:dir/>
          <dgm:resizeHandles val="exact"/>
        </dgm:presLayoutVars>
      </dgm:prSet>
      <dgm:spPr/>
    </dgm:pt>
    <dgm:pt modelId="{C24384EC-A0E5-43D1-BE45-E3BB2E7CBB18}" type="pres">
      <dgm:prSet presAssocID="{1B0DD17B-C869-460A-8412-035031902DC5}" presName="node" presStyleLbl="node1" presStyleIdx="0" presStyleCnt="6">
        <dgm:presLayoutVars>
          <dgm:bulletEnabled val="1"/>
        </dgm:presLayoutVars>
      </dgm:prSet>
      <dgm:spPr/>
    </dgm:pt>
    <dgm:pt modelId="{931D33D7-7F27-4E9B-84E9-BA33C26AD73F}" type="pres">
      <dgm:prSet presAssocID="{30B7B260-5C7F-40EA-AFD3-D77DC0C20D72}" presName="sibTrans" presStyleCnt="0"/>
      <dgm:spPr/>
    </dgm:pt>
    <dgm:pt modelId="{1C04693B-0F01-457A-B658-87BBBC146526}" type="pres">
      <dgm:prSet presAssocID="{265FFD5A-C64B-4C0C-8471-A17AF7F0B089}" presName="node" presStyleLbl="node1" presStyleIdx="1" presStyleCnt="6">
        <dgm:presLayoutVars>
          <dgm:bulletEnabled val="1"/>
        </dgm:presLayoutVars>
      </dgm:prSet>
      <dgm:spPr/>
    </dgm:pt>
    <dgm:pt modelId="{8E33D7A1-8F1A-4E3A-80DA-9AA6D6DBE1D2}" type="pres">
      <dgm:prSet presAssocID="{B5FF797F-7C7F-4DFB-A13D-0659C3A2F3A6}" presName="sibTrans" presStyleCnt="0"/>
      <dgm:spPr/>
    </dgm:pt>
    <dgm:pt modelId="{C3E144F8-5F78-4937-AC19-728DB4922C1E}" type="pres">
      <dgm:prSet presAssocID="{D5FDB34E-810C-4676-A98E-54BF4E2ECCDD}" presName="node" presStyleLbl="node1" presStyleIdx="2" presStyleCnt="6">
        <dgm:presLayoutVars>
          <dgm:bulletEnabled val="1"/>
        </dgm:presLayoutVars>
      </dgm:prSet>
      <dgm:spPr/>
    </dgm:pt>
    <dgm:pt modelId="{BF9E3CA6-0040-4939-8CB9-E9890016F37D}" type="pres">
      <dgm:prSet presAssocID="{1BFD7BED-AA25-4E0D-A4A8-D16464C842A0}" presName="sibTrans" presStyleCnt="0"/>
      <dgm:spPr/>
    </dgm:pt>
    <dgm:pt modelId="{719F9491-E3F5-4814-A528-AB3FB48913E7}" type="pres">
      <dgm:prSet presAssocID="{FCF1EC46-1966-47D2-B4A8-4D44F0C2BA97}" presName="node" presStyleLbl="node1" presStyleIdx="3" presStyleCnt="6" custScaleX="113378">
        <dgm:presLayoutVars>
          <dgm:bulletEnabled val="1"/>
        </dgm:presLayoutVars>
      </dgm:prSet>
      <dgm:spPr/>
    </dgm:pt>
    <dgm:pt modelId="{9DC97429-70FE-4940-8E2D-B11735703A7A}" type="pres">
      <dgm:prSet presAssocID="{AFF39A28-CF16-4D10-B79B-9ABE35EF4899}" presName="sibTrans" presStyleCnt="0"/>
      <dgm:spPr/>
    </dgm:pt>
    <dgm:pt modelId="{62D9F019-5A35-43B8-983E-E59F4187EB5E}" type="pres">
      <dgm:prSet presAssocID="{A45BA678-A88A-4AA0-87F7-5328C632B6D3}" presName="node" presStyleLbl="node1" presStyleIdx="4" presStyleCnt="6" custScaleX="140077" custScaleY="99753">
        <dgm:presLayoutVars>
          <dgm:bulletEnabled val="1"/>
        </dgm:presLayoutVars>
      </dgm:prSet>
      <dgm:spPr/>
    </dgm:pt>
    <dgm:pt modelId="{102BF721-1A0D-49C3-94AB-3B389904E468}" type="pres">
      <dgm:prSet presAssocID="{572F4AEE-081D-4CEE-A030-AA72B61FE207}" presName="sibTrans" presStyleCnt="0"/>
      <dgm:spPr/>
    </dgm:pt>
    <dgm:pt modelId="{140D63ED-EE28-4D07-827B-3A9765019981}" type="pres">
      <dgm:prSet presAssocID="{4AE06F6B-6035-4E18-A269-A6DD2708FBE3}" presName="node" presStyleLbl="node1" presStyleIdx="5" presStyleCnt="6" custScaleX="115319">
        <dgm:presLayoutVars>
          <dgm:bulletEnabled val="1"/>
        </dgm:presLayoutVars>
      </dgm:prSet>
      <dgm:spPr/>
    </dgm:pt>
  </dgm:ptLst>
  <dgm:cxnLst>
    <dgm:cxn modelId="{CA29811A-2D30-4F0F-A83A-093553601064}" srcId="{B392AB06-7F4F-44D5-9C13-67435DBE1D52}" destId="{FCF1EC46-1966-47D2-B4A8-4D44F0C2BA97}" srcOrd="3" destOrd="0" parTransId="{91D66915-BC24-4777-892E-07DA6993E11F}" sibTransId="{AFF39A28-CF16-4D10-B79B-9ABE35EF4899}"/>
    <dgm:cxn modelId="{D749C21E-C57E-4FD3-AA6D-4950B2852FE0}" type="presOf" srcId="{D5FDB34E-810C-4676-A98E-54BF4E2ECCDD}" destId="{C3E144F8-5F78-4937-AC19-728DB4922C1E}" srcOrd="0" destOrd="0" presId="urn:microsoft.com/office/officeart/2005/8/layout/default"/>
    <dgm:cxn modelId="{182C5921-6B95-497E-991E-BAE5A540956D}" srcId="{B392AB06-7F4F-44D5-9C13-67435DBE1D52}" destId="{A45BA678-A88A-4AA0-87F7-5328C632B6D3}" srcOrd="4" destOrd="0" parTransId="{F31D6C51-3D58-44BB-BC67-7EE6B5A21A70}" sibTransId="{572F4AEE-081D-4CEE-A030-AA72B61FE207}"/>
    <dgm:cxn modelId="{7AD4DD24-6548-4CA5-80FB-AB412890EF02}" srcId="{B392AB06-7F4F-44D5-9C13-67435DBE1D52}" destId="{265FFD5A-C64B-4C0C-8471-A17AF7F0B089}" srcOrd="1" destOrd="0" parTransId="{C9CE35C7-ED6C-4220-8DDE-1B12A788F273}" sibTransId="{B5FF797F-7C7F-4DFB-A13D-0659C3A2F3A6}"/>
    <dgm:cxn modelId="{05187828-8D40-4B65-95E7-12582F7D1E3B}" type="presOf" srcId="{1B0DD17B-C869-460A-8412-035031902DC5}" destId="{C24384EC-A0E5-43D1-BE45-E3BB2E7CBB18}" srcOrd="0" destOrd="0" presId="urn:microsoft.com/office/officeart/2005/8/layout/default"/>
    <dgm:cxn modelId="{1379906A-2772-4802-A3B6-8FDD9CE36961}" type="presOf" srcId="{FCF1EC46-1966-47D2-B4A8-4D44F0C2BA97}" destId="{719F9491-E3F5-4814-A528-AB3FB48913E7}" srcOrd="0" destOrd="0" presId="urn:microsoft.com/office/officeart/2005/8/layout/default"/>
    <dgm:cxn modelId="{16BC8E6F-117A-4EB9-B962-6D9454C8E95A}" type="presOf" srcId="{B392AB06-7F4F-44D5-9C13-67435DBE1D52}" destId="{3F38086C-0935-42BC-BD6E-9914C2658F83}" srcOrd="0" destOrd="0" presId="urn:microsoft.com/office/officeart/2005/8/layout/default"/>
    <dgm:cxn modelId="{E271A87A-9BBF-4F50-8A49-A3C5EECC61B2}" type="presOf" srcId="{4AE06F6B-6035-4E18-A269-A6DD2708FBE3}" destId="{140D63ED-EE28-4D07-827B-3A9765019981}" srcOrd="0" destOrd="0" presId="urn:microsoft.com/office/officeart/2005/8/layout/default"/>
    <dgm:cxn modelId="{6000188D-6058-4F9B-ADC0-7B72EB517755}" type="presOf" srcId="{A45BA678-A88A-4AA0-87F7-5328C632B6D3}" destId="{62D9F019-5A35-43B8-983E-E59F4187EB5E}" srcOrd="0" destOrd="0" presId="urn:microsoft.com/office/officeart/2005/8/layout/default"/>
    <dgm:cxn modelId="{3F31DCCC-C3BE-49B0-98AA-3FED898988F4}" srcId="{B392AB06-7F4F-44D5-9C13-67435DBE1D52}" destId="{D5FDB34E-810C-4676-A98E-54BF4E2ECCDD}" srcOrd="2" destOrd="0" parTransId="{694CDB2C-F0B6-40B5-92D2-CDCCBD45F630}" sibTransId="{1BFD7BED-AA25-4E0D-A4A8-D16464C842A0}"/>
    <dgm:cxn modelId="{E5A547D9-9BD1-42E8-BA70-BEA25ECD6666}" srcId="{B392AB06-7F4F-44D5-9C13-67435DBE1D52}" destId="{4AE06F6B-6035-4E18-A269-A6DD2708FBE3}" srcOrd="5" destOrd="0" parTransId="{705F3957-CE10-4B79-A2A0-886EB0CC4EFB}" sibTransId="{9AE27510-17F1-4C88-B820-EEDC58EDE57A}"/>
    <dgm:cxn modelId="{D1371AE7-3183-422B-BD0E-1884C0834EE1}" srcId="{B392AB06-7F4F-44D5-9C13-67435DBE1D52}" destId="{1B0DD17B-C869-460A-8412-035031902DC5}" srcOrd="0" destOrd="0" parTransId="{00F8A07E-F595-4A47-AB83-0429D97B9776}" sibTransId="{30B7B260-5C7F-40EA-AFD3-D77DC0C20D72}"/>
    <dgm:cxn modelId="{78F1EDF6-4F3C-4D58-8096-2A5E3C6BA521}" type="presOf" srcId="{265FFD5A-C64B-4C0C-8471-A17AF7F0B089}" destId="{1C04693B-0F01-457A-B658-87BBBC146526}" srcOrd="0" destOrd="0" presId="urn:microsoft.com/office/officeart/2005/8/layout/default"/>
    <dgm:cxn modelId="{5C9826C1-B256-4CCF-89A0-EA259CBAD5F0}" type="presParOf" srcId="{3F38086C-0935-42BC-BD6E-9914C2658F83}" destId="{C24384EC-A0E5-43D1-BE45-E3BB2E7CBB18}" srcOrd="0" destOrd="0" presId="urn:microsoft.com/office/officeart/2005/8/layout/default"/>
    <dgm:cxn modelId="{E7B6776C-4F53-4903-8B21-330F99413150}" type="presParOf" srcId="{3F38086C-0935-42BC-BD6E-9914C2658F83}" destId="{931D33D7-7F27-4E9B-84E9-BA33C26AD73F}" srcOrd="1" destOrd="0" presId="urn:microsoft.com/office/officeart/2005/8/layout/default"/>
    <dgm:cxn modelId="{55EC7D05-BACA-424C-988F-252F37639945}" type="presParOf" srcId="{3F38086C-0935-42BC-BD6E-9914C2658F83}" destId="{1C04693B-0F01-457A-B658-87BBBC146526}" srcOrd="2" destOrd="0" presId="urn:microsoft.com/office/officeart/2005/8/layout/default"/>
    <dgm:cxn modelId="{677FEAF2-8994-4054-997E-85217DA1FEA0}" type="presParOf" srcId="{3F38086C-0935-42BC-BD6E-9914C2658F83}" destId="{8E33D7A1-8F1A-4E3A-80DA-9AA6D6DBE1D2}" srcOrd="3" destOrd="0" presId="urn:microsoft.com/office/officeart/2005/8/layout/default"/>
    <dgm:cxn modelId="{B1EB56EB-6498-4B77-94D6-C7A39E72AB4E}" type="presParOf" srcId="{3F38086C-0935-42BC-BD6E-9914C2658F83}" destId="{C3E144F8-5F78-4937-AC19-728DB4922C1E}" srcOrd="4" destOrd="0" presId="urn:microsoft.com/office/officeart/2005/8/layout/default"/>
    <dgm:cxn modelId="{7518A539-AFF8-488A-88A1-D2DB8C809A6E}" type="presParOf" srcId="{3F38086C-0935-42BC-BD6E-9914C2658F83}" destId="{BF9E3CA6-0040-4939-8CB9-E9890016F37D}" srcOrd="5" destOrd="0" presId="urn:microsoft.com/office/officeart/2005/8/layout/default"/>
    <dgm:cxn modelId="{FBEC3656-2768-445C-93F3-18BC34E13D97}" type="presParOf" srcId="{3F38086C-0935-42BC-BD6E-9914C2658F83}" destId="{719F9491-E3F5-4814-A528-AB3FB48913E7}" srcOrd="6" destOrd="0" presId="urn:microsoft.com/office/officeart/2005/8/layout/default"/>
    <dgm:cxn modelId="{7A9B75C0-036C-4A94-9FBC-C73F6ED53240}" type="presParOf" srcId="{3F38086C-0935-42BC-BD6E-9914C2658F83}" destId="{9DC97429-70FE-4940-8E2D-B11735703A7A}" srcOrd="7" destOrd="0" presId="urn:microsoft.com/office/officeart/2005/8/layout/default"/>
    <dgm:cxn modelId="{8657F504-A2FB-40D1-BAFD-73A7D10EA248}" type="presParOf" srcId="{3F38086C-0935-42BC-BD6E-9914C2658F83}" destId="{62D9F019-5A35-43B8-983E-E59F4187EB5E}" srcOrd="8" destOrd="0" presId="urn:microsoft.com/office/officeart/2005/8/layout/default"/>
    <dgm:cxn modelId="{0D5AEC27-7F19-4F3F-AD42-BFAE6222010F}" type="presParOf" srcId="{3F38086C-0935-42BC-BD6E-9914C2658F83}" destId="{102BF721-1A0D-49C3-94AB-3B389904E468}" srcOrd="9" destOrd="0" presId="urn:microsoft.com/office/officeart/2005/8/layout/default"/>
    <dgm:cxn modelId="{FF8898FE-E67A-4D92-A5A7-327D2F98F4C5}" type="presParOf" srcId="{3F38086C-0935-42BC-BD6E-9914C2658F83}" destId="{140D63ED-EE28-4D07-827B-3A9765019981}"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384EC-A0E5-43D1-BE45-E3BB2E7CBB18}">
      <dsp:nvSpPr>
        <dsp:cNvPr id="0" name=""/>
        <dsp:cNvSpPr/>
      </dsp:nvSpPr>
      <dsp:spPr>
        <a:xfrm>
          <a:off x="775669" y="516455"/>
          <a:ext cx="2236854"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01 - </a:t>
          </a:r>
          <a:r>
            <a:rPr lang="pt-BR" sz="1600" kern="1200" dirty="0"/>
            <a:t>Introdução a Bancos de Dados</a:t>
          </a:r>
          <a:endParaRPr lang="en-US" sz="1600" kern="1200" dirty="0"/>
        </a:p>
      </dsp:txBody>
      <dsp:txXfrm>
        <a:off x="775669" y="516455"/>
        <a:ext cx="2236854" cy="1342112"/>
      </dsp:txXfrm>
    </dsp:sp>
    <dsp:sp modelId="{1C04693B-0F01-457A-B658-87BBBC146526}">
      <dsp:nvSpPr>
        <dsp:cNvPr id="0" name=""/>
        <dsp:cNvSpPr/>
      </dsp:nvSpPr>
      <dsp:spPr>
        <a:xfrm>
          <a:off x="3236209" y="516455"/>
          <a:ext cx="2236854"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02 - </a:t>
          </a:r>
          <a:r>
            <a:rPr lang="en-US" sz="1600" kern="1200" dirty="0" err="1"/>
            <a:t>Conhecendo</a:t>
          </a:r>
          <a:r>
            <a:rPr lang="en-US" sz="1600" kern="1200" dirty="0"/>
            <a:t> um </a:t>
          </a:r>
          <a:r>
            <a:rPr lang="en-US" sz="1600" kern="1200" dirty="0" err="1"/>
            <a:t>modelo</a:t>
          </a:r>
          <a:r>
            <a:rPr lang="en-US" sz="1600" kern="1200" dirty="0"/>
            <a:t> de dados</a:t>
          </a:r>
        </a:p>
      </dsp:txBody>
      <dsp:txXfrm>
        <a:off x="3236209" y="516455"/>
        <a:ext cx="2236854" cy="1342112"/>
      </dsp:txXfrm>
    </dsp:sp>
    <dsp:sp modelId="{C3E144F8-5F78-4937-AC19-728DB4922C1E}">
      <dsp:nvSpPr>
        <dsp:cNvPr id="0" name=""/>
        <dsp:cNvSpPr/>
      </dsp:nvSpPr>
      <dsp:spPr>
        <a:xfrm>
          <a:off x="5696749" y="516455"/>
          <a:ext cx="2236854"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03 -</a:t>
          </a:r>
          <a:r>
            <a:rPr lang="pt-BR" sz="1600" kern="1200" dirty="0"/>
            <a:t>Criando um banco de dados no MySQL</a:t>
          </a:r>
          <a:endParaRPr lang="en-US" sz="1600" kern="1200" dirty="0"/>
        </a:p>
      </dsp:txBody>
      <dsp:txXfrm>
        <a:off x="5696749" y="516455"/>
        <a:ext cx="2236854" cy="1342112"/>
      </dsp:txXfrm>
    </dsp:sp>
    <dsp:sp modelId="{719F9491-E3F5-4814-A528-AB3FB48913E7}">
      <dsp:nvSpPr>
        <dsp:cNvPr id="0" name=""/>
        <dsp:cNvSpPr/>
      </dsp:nvSpPr>
      <dsp:spPr>
        <a:xfrm>
          <a:off x="6482" y="2082253"/>
          <a:ext cx="2536100"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04 - </a:t>
          </a:r>
          <a:r>
            <a:rPr lang="pt-BR" sz="1600" b="1" kern="1200" dirty="0"/>
            <a:t>DDL</a:t>
          </a:r>
          <a:r>
            <a:rPr lang="pt-BR" sz="1600" kern="1200" dirty="0"/>
            <a:t> ( Data </a:t>
          </a:r>
          <a:r>
            <a:rPr lang="pt-BR" sz="1600" kern="1200" dirty="0" err="1"/>
            <a:t>Definition</a:t>
          </a:r>
          <a:r>
            <a:rPr lang="pt-BR" sz="1600" kern="1200" dirty="0"/>
            <a:t> </a:t>
          </a:r>
          <a:r>
            <a:rPr lang="pt-BR" sz="1600" kern="1200" dirty="0" err="1"/>
            <a:t>Language</a:t>
          </a:r>
          <a:r>
            <a:rPr lang="pt-BR" sz="1600" kern="1200" dirty="0"/>
            <a:t>) :</a:t>
          </a:r>
        </a:p>
        <a:p>
          <a:pPr marL="0" lvl="0" indent="0" algn="ctr" defTabSz="711200">
            <a:lnSpc>
              <a:spcPct val="90000"/>
            </a:lnSpc>
            <a:spcBef>
              <a:spcPct val="0"/>
            </a:spcBef>
            <a:spcAft>
              <a:spcPct val="35000"/>
            </a:spcAft>
            <a:buNone/>
          </a:pPr>
          <a:r>
            <a:rPr lang="pt-BR" sz="1600" kern="1200" dirty="0"/>
            <a:t>Linguagem de Definição de Dados</a:t>
          </a:r>
          <a:endParaRPr lang="en-US" sz="1600" kern="1200" dirty="0"/>
        </a:p>
      </dsp:txBody>
      <dsp:txXfrm>
        <a:off x="6482" y="2082253"/>
        <a:ext cx="2536100" cy="1342112"/>
      </dsp:txXfrm>
    </dsp:sp>
    <dsp:sp modelId="{62D9F019-5A35-43B8-983E-E59F4187EB5E}">
      <dsp:nvSpPr>
        <dsp:cNvPr id="0" name=""/>
        <dsp:cNvSpPr/>
      </dsp:nvSpPr>
      <dsp:spPr>
        <a:xfrm>
          <a:off x="2766268" y="2083910"/>
          <a:ext cx="3133318" cy="1338797"/>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05 - </a:t>
          </a:r>
          <a:r>
            <a:rPr lang="pt-BR" sz="1600" b="1" kern="1200" dirty="0"/>
            <a:t>DML</a:t>
          </a:r>
          <a:r>
            <a:rPr lang="pt-BR" sz="1600" kern="1200" dirty="0"/>
            <a:t> (Data </a:t>
          </a:r>
          <a:r>
            <a:rPr lang="pt-BR" sz="1600" kern="1200" dirty="0" err="1"/>
            <a:t>Manipulation</a:t>
          </a:r>
          <a:r>
            <a:rPr lang="pt-BR" sz="1600" kern="1200" dirty="0"/>
            <a:t> </a:t>
          </a:r>
          <a:r>
            <a:rPr lang="pt-BR" sz="1600" kern="1200" dirty="0" err="1"/>
            <a:t>Language</a:t>
          </a:r>
          <a:r>
            <a:rPr lang="pt-BR" sz="1600" kern="1200" dirty="0"/>
            <a:t>) : </a:t>
          </a:r>
        </a:p>
        <a:p>
          <a:pPr marL="0" lvl="0" indent="0" algn="ctr" defTabSz="711200">
            <a:lnSpc>
              <a:spcPct val="90000"/>
            </a:lnSpc>
            <a:spcBef>
              <a:spcPct val="0"/>
            </a:spcBef>
            <a:spcAft>
              <a:spcPct val="35000"/>
            </a:spcAft>
            <a:buNone/>
          </a:pPr>
          <a:r>
            <a:rPr lang="pt-BR" sz="1600" kern="1200" dirty="0"/>
            <a:t>Linguagem de Manipulação de</a:t>
          </a:r>
        </a:p>
        <a:p>
          <a:pPr marL="0" lvl="0" indent="0" algn="ctr" defTabSz="711200">
            <a:lnSpc>
              <a:spcPct val="90000"/>
            </a:lnSpc>
            <a:spcBef>
              <a:spcPct val="0"/>
            </a:spcBef>
            <a:spcAft>
              <a:spcPct val="35000"/>
            </a:spcAft>
            <a:buNone/>
          </a:pPr>
          <a:r>
            <a:rPr lang="pt-BR" sz="1600" kern="1200" dirty="0"/>
            <a:t>Dados</a:t>
          </a:r>
          <a:endParaRPr lang="en-US" sz="1600" kern="1200" dirty="0"/>
        </a:p>
      </dsp:txBody>
      <dsp:txXfrm>
        <a:off x="2766268" y="2083910"/>
        <a:ext cx="3133318" cy="1338797"/>
      </dsp:txXfrm>
    </dsp:sp>
    <dsp:sp modelId="{140D63ED-EE28-4D07-827B-3A9765019981}">
      <dsp:nvSpPr>
        <dsp:cNvPr id="0" name=""/>
        <dsp:cNvSpPr/>
      </dsp:nvSpPr>
      <dsp:spPr>
        <a:xfrm>
          <a:off x="6123272" y="2082253"/>
          <a:ext cx="2579518"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06 - </a:t>
          </a:r>
          <a:r>
            <a:rPr lang="pt-BR" sz="1600" b="1" kern="1200" dirty="0"/>
            <a:t>DQL</a:t>
          </a:r>
          <a:r>
            <a:rPr lang="pt-BR" sz="1600" kern="1200" dirty="0"/>
            <a:t> ( Data Query </a:t>
          </a:r>
          <a:r>
            <a:rPr lang="pt-BR" sz="1600" kern="1200" dirty="0" err="1"/>
            <a:t>Language</a:t>
          </a:r>
          <a:r>
            <a:rPr lang="pt-BR" sz="1600" kern="1200" dirty="0"/>
            <a:t> ) </a:t>
          </a:r>
        </a:p>
        <a:p>
          <a:pPr marL="0" lvl="0" indent="0" algn="ctr" defTabSz="711200">
            <a:lnSpc>
              <a:spcPct val="90000"/>
            </a:lnSpc>
            <a:spcBef>
              <a:spcPct val="0"/>
            </a:spcBef>
            <a:spcAft>
              <a:spcPct val="35000"/>
            </a:spcAft>
            <a:buNone/>
          </a:pPr>
          <a:r>
            <a:rPr lang="pt-BR" sz="1600" kern="1200" dirty="0"/>
            <a:t>Linguagem de Consulta de Dados</a:t>
          </a:r>
          <a:endParaRPr lang="en-US" sz="1600" kern="1200" dirty="0"/>
        </a:p>
      </dsp:txBody>
      <dsp:txXfrm>
        <a:off x="6123272" y="2082253"/>
        <a:ext cx="2579518" cy="134211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4E7BF670-571C-49EB-A6A7-5E570C99D281}"/>
              </a:ext>
            </a:extLst>
          </p:cNvPr>
          <p:cNvSpPr>
            <a:spLocks noGrp="1"/>
          </p:cNvSpPr>
          <p:nvPr>
            <p:ph type="hdr" sz="quarter"/>
          </p:nvPr>
        </p:nvSpPr>
        <p:spPr>
          <a:xfrm>
            <a:off x="0" y="0"/>
            <a:ext cx="2971545" cy="498288"/>
          </a:xfrm>
          <a:prstGeom prst="rect">
            <a:avLst/>
          </a:prstGeom>
        </p:spPr>
        <p:txBody>
          <a:bodyPr vert="horz" lIns="88615" tIns="44307" rIns="88615" bIns="44307" rtlCol="0"/>
          <a:lstStyle>
            <a:lvl1pPr algn="l">
              <a:defRPr sz="1200"/>
            </a:lvl1pPr>
          </a:lstStyle>
          <a:p>
            <a:r>
              <a:rPr lang="pt-BR"/>
              <a:t>TREINA RECIFE - SQL</a:t>
            </a:r>
          </a:p>
        </p:txBody>
      </p:sp>
      <p:sp>
        <p:nvSpPr>
          <p:cNvPr id="3" name="Espaço Reservado para Data 2">
            <a:extLst>
              <a:ext uri="{FF2B5EF4-FFF2-40B4-BE49-F238E27FC236}">
                <a16:creationId xmlns:a16="http://schemas.microsoft.com/office/drawing/2014/main" id="{D75051FA-D892-43F3-9386-D6D2639B6B5C}"/>
              </a:ext>
            </a:extLst>
          </p:cNvPr>
          <p:cNvSpPr>
            <a:spLocks noGrp="1"/>
          </p:cNvSpPr>
          <p:nvPr>
            <p:ph type="dt" sz="quarter" idx="1"/>
          </p:nvPr>
        </p:nvSpPr>
        <p:spPr>
          <a:xfrm>
            <a:off x="3884923" y="0"/>
            <a:ext cx="2971544" cy="498288"/>
          </a:xfrm>
          <a:prstGeom prst="rect">
            <a:avLst/>
          </a:prstGeom>
        </p:spPr>
        <p:txBody>
          <a:bodyPr vert="horz" lIns="88615" tIns="44307" rIns="88615" bIns="44307" rtlCol="0"/>
          <a:lstStyle>
            <a:lvl1pPr algn="r">
              <a:defRPr sz="1200"/>
            </a:lvl1pPr>
          </a:lstStyle>
          <a:p>
            <a:endParaRPr lang="pt-BR"/>
          </a:p>
        </p:txBody>
      </p:sp>
      <p:sp>
        <p:nvSpPr>
          <p:cNvPr id="4" name="Espaço Reservado para Rodapé 3">
            <a:extLst>
              <a:ext uri="{FF2B5EF4-FFF2-40B4-BE49-F238E27FC236}">
                <a16:creationId xmlns:a16="http://schemas.microsoft.com/office/drawing/2014/main" id="{2A9435AC-CCB6-4B40-878E-D29AC4114AFD}"/>
              </a:ext>
            </a:extLst>
          </p:cNvPr>
          <p:cNvSpPr>
            <a:spLocks noGrp="1"/>
          </p:cNvSpPr>
          <p:nvPr>
            <p:ph type="ftr" sz="quarter" idx="2"/>
          </p:nvPr>
        </p:nvSpPr>
        <p:spPr>
          <a:xfrm>
            <a:off x="0" y="9447401"/>
            <a:ext cx="2971545" cy="498288"/>
          </a:xfrm>
          <a:prstGeom prst="rect">
            <a:avLst/>
          </a:prstGeom>
        </p:spPr>
        <p:txBody>
          <a:bodyPr vert="horz" lIns="88615" tIns="44307" rIns="88615" bIns="44307"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1EFB0033-2C8B-4436-B83A-797AC70BDE39}"/>
              </a:ext>
            </a:extLst>
          </p:cNvPr>
          <p:cNvSpPr>
            <a:spLocks noGrp="1"/>
          </p:cNvSpPr>
          <p:nvPr>
            <p:ph type="sldNum" sz="quarter" idx="3"/>
          </p:nvPr>
        </p:nvSpPr>
        <p:spPr>
          <a:xfrm>
            <a:off x="3884923" y="9447401"/>
            <a:ext cx="2971544" cy="498288"/>
          </a:xfrm>
          <a:prstGeom prst="rect">
            <a:avLst/>
          </a:prstGeom>
        </p:spPr>
        <p:txBody>
          <a:bodyPr vert="horz" lIns="88615" tIns="44307" rIns="88615" bIns="44307" rtlCol="0" anchor="b"/>
          <a:lstStyle>
            <a:lvl1pPr algn="r">
              <a:defRPr sz="1200"/>
            </a:lvl1pPr>
          </a:lstStyle>
          <a:p>
            <a:fld id="{0878DA2E-347B-46BB-8DBC-F2AFC9533DFB}" type="slidenum">
              <a:rPr lang="pt-BR" smtClean="0"/>
              <a:t>‹nº›</a:t>
            </a:fld>
            <a:endParaRPr lang="pt-BR"/>
          </a:p>
        </p:txBody>
      </p:sp>
    </p:spTree>
    <p:extLst>
      <p:ext uri="{BB962C8B-B14F-4D97-AF65-F5344CB8AC3E}">
        <p14:creationId xmlns:p14="http://schemas.microsoft.com/office/powerpoint/2010/main" val="3119551945"/>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724202"/>
            <a:ext cx="5486400" cy="4475560"/>
          </a:xfrm>
          <a:prstGeom prst="rect">
            <a:avLst/>
          </a:prstGeom>
          <a:noFill/>
          <a:ln>
            <a:noFill/>
          </a:ln>
        </p:spPr>
        <p:txBody>
          <a:bodyPr spcFirstLastPara="1" wrap="square" lIns="91851" tIns="91851" rIns="91851" bIns="91851"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hf ft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Rot="1" noChangeAspect="1" noChangeArrowheads="1" noTextEdit="1"/>
          </p:cNvSpPr>
          <p:nvPr>
            <p:ph type="sldImg"/>
          </p:nvPr>
        </p:nvSpPr>
        <p:spPr>
          <a:xfrm>
            <a:off x="-160338" y="835025"/>
            <a:ext cx="7421563" cy="4175125"/>
          </a:xfrm>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456326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Espaço Reservado para Imagem de Slide 1"/>
          <p:cNvSpPr>
            <a:spLocks noGrp="1" noRot="1" noChangeAspect="1" noTextEdit="1"/>
          </p:cNvSpPr>
          <p:nvPr>
            <p:ph type="sldImg"/>
          </p:nvPr>
        </p:nvSpPr>
        <p:spPr>
          <a:xfrm>
            <a:off x="-19621500" y="-14360525"/>
            <a:ext cx="27030363" cy="15205075"/>
          </a:xfrm>
          <a:ln/>
        </p:spPr>
      </p:sp>
      <p:sp>
        <p:nvSpPr>
          <p:cNvPr id="11267" name="Espaço Reservado para Anotaçõ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Arial" panose="020B0604020202020204" pitchFamily="34" charset="0"/>
            </a:endParaRPr>
          </a:p>
        </p:txBody>
      </p:sp>
      <p:sp>
        <p:nvSpPr>
          <p:cNvPr id="11269" name="Espaço Reservado para Rodapé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867" tIns="45933" rIns="91867" bIns="45933"/>
          <a:lstStyle>
            <a:lvl1pPr defTabSz="995222">
              <a:defRPr>
                <a:solidFill>
                  <a:schemeClr val="tx1"/>
                </a:solidFill>
                <a:latin typeface="Arial" panose="020B0604020202020204" pitchFamily="34" charset="0"/>
              </a:defRPr>
            </a:lvl1pPr>
            <a:lvl2pPr marL="746416" indent="-287083" defTabSz="995222">
              <a:defRPr>
                <a:solidFill>
                  <a:schemeClr val="tx1"/>
                </a:solidFill>
                <a:latin typeface="Arial" panose="020B0604020202020204" pitchFamily="34" charset="0"/>
              </a:defRPr>
            </a:lvl2pPr>
            <a:lvl3pPr marL="1148333" indent="-229667" defTabSz="995222">
              <a:defRPr>
                <a:solidFill>
                  <a:schemeClr val="tx1"/>
                </a:solidFill>
                <a:latin typeface="Arial" panose="020B0604020202020204" pitchFamily="34" charset="0"/>
              </a:defRPr>
            </a:lvl3pPr>
            <a:lvl4pPr marL="1607666" indent="-229667" defTabSz="995222">
              <a:defRPr>
                <a:solidFill>
                  <a:schemeClr val="tx1"/>
                </a:solidFill>
                <a:latin typeface="Arial" panose="020B0604020202020204" pitchFamily="34" charset="0"/>
              </a:defRPr>
            </a:lvl4pPr>
            <a:lvl5pPr marL="2067000" indent="-229667" defTabSz="995222">
              <a:defRPr>
                <a:solidFill>
                  <a:schemeClr val="tx1"/>
                </a:solidFill>
                <a:latin typeface="Arial" panose="020B0604020202020204" pitchFamily="34" charset="0"/>
              </a:defRPr>
            </a:lvl5pPr>
            <a:lvl6pPr marL="2526333" indent="-229667" defTabSz="995222" eaLnBrk="0" fontAlgn="base" hangingPunct="0">
              <a:spcBef>
                <a:spcPct val="0"/>
              </a:spcBef>
              <a:spcAft>
                <a:spcPct val="0"/>
              </a:spcAft>
              <a:defRPr>
                <a:solidFill>
                  <a:schemeClr val="tx1"/>
                </a:solidFill>
                <a:latin typeface="Arial" panose="020B0604020202020204" pitchFamily="34" charset="0"/>
              </a:defRPr>
            </a:lvl6pPr>
            <a:lvl7pPr marL="2985666" indent="-229667" defTabSz="995222" eaLnBrk="0" fontAlgn="base" hangingPunct="0">
              <a:spcBef>
                <a:spcPct val="0"/>
              </a:spcBef>
              <a:spcAft>
                <a:spcPct val="0"/>
              </a:spcAft>
              <a:defRPr>
                <a:solidFill>
                  <a:schemeClr val="tx1"/>
                </a:solidFill>
                <a:latin typeface="Arial" panose="020B0604020202020204" pitchFamily="34" charset="0"/>
              </a:defRPr>
            </a:lvl7pPr>
            <a:lvl8pPr marL="3444999" indent="-229667" defTabSz="995222" eaLnBrk="0" fontAlgn="base" hangingPunct="0">
              <a:spcBef>
                <a:spcPct val="0"/>
              </a:spcBef>
              <a:spcAft>
                <a:spcPct val="0"/>
              </a:spcAft>
              <a:defRPr>
                <a:solidFill>
                  <a:schemeClr val="tx1"/>
                </a:solidFill>
                <a:latin typeface="Arial" panose="020B0604020202020204" pitchFamily="34" charset="0"/>
              </a:defRPr>
            </a:lvl8pPr>
            <a:lvl9pPr marL="3904333" indent="-229667" defTabSz="995222" eaLnBrk="0" fontAlgn="base" hangingPunct="0">
              <a:spcBef>
                <a:spcPct val="0"/>
              </a:spcBef>
              <a:spcAft>
                <a:spcPct val="0"/>
              </a:spcAft>
              <a:defRPr>
                <a:solidFill>
                  <a:schemeClr val="tx1"/>
                </a:solidFill>
                <a:latin typeface="Arial" panose="020B0604020202020204" pitchFamily="34" charset="0"/>
              </a:defRPr>
            </a:lvl9pPr>
          </a:lstStyle>
          <a:p>
            <a:r>
              <a:rPr lang="pt-BR" altLang="pt-BR"/>
              <a:t>Prof. Rogério Aguiar,MsC</a:t>
            </a:r>
          </a:p>
        </p:txBody>
      </p:sp>
    </p:spTree>
    <p:extLst>
      <p:ext uri="{BB962C8B-B14F-4D97-AF65-F5344CB8AC3E}">
        <p14:creationId xmlns:p14="http://schemas.microsoft.com/office/powerpoint/2010/main" val="1193236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977490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B338A-37C7-8988-E90F-2F752002DDA5}"/>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AC8EA595-0619-CE6C-A5B7-F21F7EBD8A7F}"/>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72B493E8-E707-8856-52A2-51679C4CB4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387647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064DD-7533-E738-CFE2-55ECBACFAAE1}"/>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E2B8CDF-5C49-21AA-E7BA-9E2D25A44B1E}"/>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04225E5C-CEE8-6300-9965-B3CD2C8DB8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464164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DF4CC-5491-1E21-C39D-CF646DD4D7E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1B2A859-FD08-FC62-12CD-4BE2CF05A556}"/>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769C5C63-87F5-E635-BFDF-C70191262E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024130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085D1-6306-0A34-303C-2AC637FBE8AC}"/>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583D0106-04E9-6A00-733E-C31680FD90A1}"/>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53224F24-C3AE-D7D5-883F-1E42BAEA0B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120067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101662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053471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Rot="1" noChangeAspect="1" noChangeArrowheads="1" noTextEdit="1"/>
          </p:cNvSpPr>
          <p:nvPr>
            <p:ph type="sldImg"/>
          </p:nvPr>
        </p:nvSpPr>
        <p:spPr>
          <a:xfrm>
            <a:off x="-160338" y="835025"/>
            <a:ext cx="7421563" cy="4175125"/>
          </a:xfrm>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314921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BF1-1699-6015-928C-7730A72A28E6}"/>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C70FE4D-279A-D9A9-57D1-53894141FFE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8DD283DD-84AC-7E35-BCAB-4B09E6E83A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875618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6BAAB-56D1-4306-856E-C3E3DE73A288}"/>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EE99AEFE-F6AF-C5C6-7857-A4E3FB61DB1E}"/>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9F9CA47B-5BA9-7810-7C57-6BA0033C77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036563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8A688-5C79-8344-73C3-FDD24E4FD4B8}"/>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039027E-B492-8463-0AEC-B32AD2C36B4A}"/>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F5404862-1001-E05B-22C5-509D2F27DC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101541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22A93-C307-5316-BBE1-7AD41768C433}"/>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A0F0C5F-5AD0-41ED-4B7B-E48AB28A2D3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C1EB4CA4-7A77-6F1B-55C4-C705F86B9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698612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4FA9E-824D-ABA3-87C4-2201FCBE6735}"/>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6DE7AC4F-67DD-0F33-0575-7CA1DCB0725F}"/>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DE572081-3616-0CA8-F744-F0AAEB45B5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206438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A92CC-C7BB-D29D-3DD3-212390D0CF4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D79480E9-C8C3-E098-F661-7761A3439159}"/>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E3312220-7000-7126-B6C2-3F49A79D66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324569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72FC7-AEAF-6FE9-0CA3-8123279F04F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BB3305B-4DF8-82BF-266E-2F9324DDE1EA}"/>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2E906E80-685D-E539-EEB6-15F4663616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1546942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85CA1-2B02-ED28-061F-BF9CB5F0865E}"/>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8A2E793-658B-E63F-04CF-B3E623B91B0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931AC578-B834-B680-C1E5-8AE468536F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8474667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930A0-5579-ACEC-63CB-06EB0F10A831}"/>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9054B569-680B-7F2C-9732-194D07FAF1B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5960B4D3-4062-A3D3-BB73-A9BD0B809B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8875482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08069-C9CA-367F-2AB4-1FD32BC7AC4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637281BC-BF6B-F8B1-6A64-FD89DB4BBD83}"/>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C7C85167-8E56-06AE-C6C8-E23391B11B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967472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C63CB-C3FB-4F67-5BCF-13E0A979CB15}"/>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4F01792-5C7C-4A34-22AB-B06544BB679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7A0D7EB7-D8B6-996F-DE9A-4833D4708F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872787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68E3-BE73-2042-1CEC-369859273F3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5BCCFB1D-7663-4077-F22E-41FED3C5308A}"/>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A11650BD-F1D4-27AF-1881-13537A6DF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7008801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ED3F6-7F71-D79C-7E97-B2589AEC3943}"/>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4F5D5D36-6D42-A602-D820-8F67E880509A}"/>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89E4FD29-47A3-24B6-6E36-08418C7052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5008850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DCE6C-BA1F-C793-2810-E13DC8D93FD0}"/>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7BC79E6A-B1A0-BC3A-CFD8-AFF2DA0DD7C0}"/>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8E679E1-D210-5759-37B9-9488E6C217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406771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6AB0-5A2D-DDA3-B855-8E56CF07C0F4}"/>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F76C7566-49EC-BE4E-38D1-1360C800BF5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B8AEBB9B-856F-5CD9-3019-501B0EF68D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8714460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35633613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5266D-C83E-EA11-0DC2-D756E6148D46}"/>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7160DA1E-54A2-0FD2-9856-854318326E4E}"/>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B6CFD7C2-7A69-3C12-3386-477A65078C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2946241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4807C-1A93-EEAD-CE34-E7AC28BCE4B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609F5EE-101E-AEF2-65EC-03B6992292A5}"/>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80E4B77F-2A47-C3B0-0E8A-337BA17119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6297081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E6CB0-79A8-FE8F-43E2-137CE2B75C2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FABBD50D-B04A-047A-7389-93E2DADE3353}"/>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E86CEEE4-03E2-4555-A3E6-48BFFE3BB5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950991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00C9B-C698-24F0-177D-645515B45CEE}"/>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C92FC95-7EDC-3975-09B4-9BCA6F41193C}"/>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530A2625-0241-80D2-572B-36DDA13734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1778537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B19FD-E035-B5EC-981F-3B6B3752AAA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FE04692-0000-E93E-9984-CE9C3E8B59AF}"/>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462A1293-8A8F-0F88-2C03-4BA3B89921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4088926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Rot="1" noChangeAspect="1" noChangeArrowheads="1" noTextEdit="1"/>
          </p:cNvSpPr>
          <p:nvPr>
            <p:ph type="sldImg"/>
          </p:nvPr>
        </p:nvSpPr>
        <p:spPr>
          <a:xfrm>
            <a:off x="-160338" y="835025"/>
            <a:ext cx="7421563" cy="4175125"/>
          </a:xfrm>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241605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5208-E565-FC7C-9BAE-06725F01C1C2}"/>
            </a:ext>
          </a:extLst>
        </p:cNvPr>
        <p:cNvGrpSpPr/>
        <p:nvPr/>
      </p:nvGrpSpPr>
      <p:grpSpPr>
        <a:xfrm>
          <a:off x="0" y="0"/>
          <a:ext cx="0" cy="0"/>
          <a:chOff x="0" y="0"/>
          <a:chExt cx="0" cy="0"/>
        </a:xfrm>
      </p:grpSpPr>
      <p:sp>
        <p:nvSpPr>
          <p:cNvPr id="140291" name="Rectangle 2">
            <a:extLst>
              <a:ext uri="{FF2B5EF4-FFF2-40B4-BE49-F238E27FC236}">
                <a16:creationId xmlns:a16="http://schemas.microsoft.com/office/drawing/2014/main" id="{AA4C3314-B304-254F-D7E8-E94A39E1B4D6}"/>
              </a:ext>
            </a:extLst>
          </p:cNvPr>
          <p:cNvSpPr>
            <a:spLocks noGrp="1" noRot="1" noChangeAspect="1" noChangeArrowheads="1" noTextEdit="1"/>
          </p:cNvSpPr>
          <p:nvPr>
            <p:ph type="sldImg"/>
          </p:nvPr>
        </p:nvSpPr>
        <p:spPr>
          <a:xfrm>
            <a:off x="-160338" y="835025"/>
            <a:ext cx="7421563" cy="4175125"/>
          </a:xfrm>
          <a:ln/>
        </p:spPr>
      </p:sp>
      <p:sp>
        <p:nvSpPr>
          <p:cNvPr id="140292" name="Rectangle 3">
            <a:extLst>
              <a:ext uri="{FF2B5EF4-FFF2-40B4-BE49-F238E27FC236}">
                <a16:creationId xmlns:a16="http://schemas.microsoft.com/office/drawing/2014/main" id="{F71DB987-B8F9-37B8-E990-7E4DE97007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9566414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1BB47-C27E-8D9A-EF00-5154F475ED37}"/>
            </a:ext>
          </a:extLst>
        </p:cNvPr>
        <p:cNvGrpSpPr/>
        <p:nvPr/>
      </p:nvGrpSpPr>
      <p:grpSpPr>
        <a:xfrm>
          <a:off x="0" y="0"/>
          <a:ext cx="0" cy="0"/>
          <a:chOff x="0" y="0"/>
          <a:chExt cx="0" cy="0"/>
        </a:xfrm>
      </p:grpSpPr>
      <p:sp>
        <p:nvSpPr>
          <p:cNvPr id="140291" name="Rectangle 2">
            <a:extLst>
              <a:ext uri="{FF2B5EF4-FFF2-40B4-BE49-F238E27FC236}">
                <a16:creationId xmlns:a16="http://schemas.microsoft.com/office/drawing/2014/main" id="{C2388536-E026-11E4-D1D4-3F834443BEC9}"/>
              </a:ext>
            </a:extLst>
          </p:cNvPr>
          <p:cNvSpPr>
            <a:spLocks noGrp="1" noRot="1" noChangeAspect="1" noChangeArrowheads="1" noTextEdit="1"/>
          </p:cNvSpPr>
          <p:nvPr>
            <p:ph type="sldImg"/>
          </p:nvPr>
        </p:nvSpPr>
        <p:spPr>
          <a:xfrm>
            <a:off x="-160338" y="835025"/>
            <a:ext cx="7421563" cy="4175125"/>
          </a:xfrm>
          <a:ln/>
        </p:spPr>
      </p:sp>
      <p:sp>
        <p:nvSpPr>
          <p:cNvPr id="140292" name="Rectangle 3">
            <a:extLst>
              <a:ext uri="{FF2B5EF4-FFF2-40B4-BE49-F238E27FC236}">
                <a16:creationId xmlns:a16="http://schemas.microsoft.com/office/drawing/2014/main" id="{004A7171-875F-481F-58D3-D8B2493E6C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4465561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8AFC-0562-80B1-EF15-EAF75A1CE45C}"/>
            </a:ext>
          </a:extLst>
        </p:cNvPr>
        <p:cNvGrpSpPr/>
        <p:nvPr/>
      </p:nvGrpSpPr>
      <p:grpSpPr>
        <a:xfrm>
          <a:off x="0" y="0"/>
          <a:ext cx="0" cy="0"/>
          <a:chOff x="0" y="0"/>
          <a:chExt cx="0" cy="0"/>
        </a:xfrm>
      </p:grpSpPr>
      <p:sp>
        <p:nvSpPr>
          <p:cNvPr id="140291" name="Rectangle 2">
            <a:extLst>
              <a:ext uri="{FF2B5EF4-FFF2-40B4-BE49-F238E27FC236}">
                <a16:creationId xmlns:a16="http://schemas.microsoft.com/office/drawing/2014/main" id="{3A346C12-F686-B249-0392-E63BEE9A81D6}"/>
              </a:ext>
            </a:extLst>
          </p:cNvPr>
          <p:cNvSpPr>
            <a:spLocks noGrp="1" noRot="1" noChangeAspect="1" noChangeArrowheads="1" noTextEdit="1"/>
          </p:cNvSpPr>
          <p:nvPr>
            <p:ph type="sldImg"/>
          </p:nvPr>
        </p:nvSpPr>
        <p:spPr>
          <a:xfrm>
            <a:off x="-160338" y="835025"/>
            <a:ext cx="7421563" cy="4175125"/>
          </a:xfrm>
          <a:ln/>
        </p:spPr>
      </p:sp>
      <p:sp>
        <p:nvSpPr>
          <p:cNvPr id="140292" name="Rectangle 3">
            <a:extLst>
              <a:ext uri="{FF2B5EF4-FFF2-40B4-BE49-F238E27FC236}">
                <a16:creationId xmlns:a16="http://schemas.microsoft.com/office/drawing/2014/main" id="{619E7E00-3415-8D99-8EF2-0583A2A4D3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554955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719693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80121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646240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967432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205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dirty="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258952" cy="276999"/>
          </a:xfrm>
          <a:prstGeom prst="rect">
            <a:avLst/>
          </a:prstGeom>
        </p:spPr>
        <p:txBody>
          <a:bodyPr wrap="none">
            <a:spAutoFit/>
          </a:bodyPr>
          <a:lstStyle/>
          <a:p>
            <a:r>
              <a:rPr lang="pt-BR" sz="1200" dirty="0">
                <a:solidFill>
                  <a:schemeClr val="bg1"/>
                </a:solidFill>
              </a:rPr>
              <a:t>Prof. Luiz Fernando Calábria©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dirty="0">
                <a:solidFill>
                  <a:schemeClr val="bg1"/>
                </a:solidFill>
              </a:rPr>
              <a:t>@</a:t>
            </a:r>
            <a:r>
              <a:rPr lang="pt-BR" sz="1100" dirty="0" err="1">
                <a:solidFill>
                  <a:schemeClr val="bg1"/>
                </a:solidFill>
              </a:rPr>
              <a:t>treina_recife</a:t>
            </a:r>
            <a:endParaRPr lang="pt-BR" sz="1100" dirty="0">
              <a:solidFill>
                <a:schemeClr val="bg1"/>
              </a:solidFill>
            </a:endParaRPr>
          </a:p>
        </p:txBody>
      </p:sp>
      <p:cxnSp>
        <p:nvCxnSpPr>
          <p:cNvPr id="3" name="Conector reto 2">
            <a:extLst>
              <a:ext uri="{FF2B5EF4-FFF2-40B4-BE49-F238E27FC236}">
                <a16:creationId xmlns:a16="http://schemas.microsoft.com/office/drawing/2014/main" id="{5DF72620-CC94-48B2-9CA0-99175298C71C}"/>
              </a:ext>
            </a:extLst>
          </p:cNvPr>
          <p:cNvCxnSpPr>
            <a:cxnSpLocks/>
          </p:cNvCxnSpPr>
          <p:nvPr userDrawn="1"/>
        </p:nvCxnSpPr>
        <p:spPr>
          <a:xfrm>
            <a:off x="965593" y="685780"/>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7"/>
          <a:stretch>
            <a:fillRect/>
          </a:stretch>
        </p:blipFill>
        <p:spPr>
          <a:xfrm>
            <a:off x="116840" y="58420"/>
            <a:ext cx="698500" cy="698500"/>
          </a:xfrm>
          <a:prstGeom prst="rect">
            <a:avLst/>
          </a:prstGeom>
        </p:spPr>
      </p:pic>
    </p:spTree>
    <p:extLst>
      <p:ext uri="{BB962C8B-B14F-4D97-AF65-F5344CB8AC3E}">
        <p14:creationId xmlns:p14="http://schemas.microsoft.com/office/powerpoint/2010/main" val="228771005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72" r:id="rId4"/>
    <p:sldLayoutId id="2147483673" r:id="rId5"/>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w3schools.com/sql/sql_ref_keywords.asp" TargetMode="External"/><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045B59B-615E-4718-A150-42DE5D03E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73" name="Rectangle 72">
            <a:extLst>
              <a:ext uri="{FF2B5EF4-FFF2-40B4-BE49-F238E27FC236}">
                <a16:creationId xmlns:a16="http://schemas.microsoft.com/office/drawing/2014/main" id="{D6CF29CD-38B8-4924-BA11-6D6051748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39266" name="AutoShape 4"/>
          <p:cNvSpPr>
            <a:spLocks noChangeArrowheads="1"/>
          </p:cNvSpPr>
          <p:nvPr/>
        </p:nvSpPr>
        <p:spPr bwMode="auto">
          <a:xfrm>
            <a:off x="530258" y="3376746"/>
            <a:ext cx="8074057" cy="1632223"/>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90000"/>
              </a:lnSpc>
              <a:spcBef>
                <a:spcPct val="0"/>
              </a:spcBef>
              <a:spcAft>
                <a:spcPts val="600"/>
              </a:spcAft>
              <a:buClr>
                <a:srgbClr val="000000"/>
              </a:buClr>
              <a:buSzTx/>
              <a:buFont typeface="Arial"/>
              <a:buNone/>
              <a:tabLst/>
              <a:defRPr/>
            </a:pPr>
            <a:r>
              <a:rPr kumimoji="0" lang="en-US" altLang="pt-BR" sz="6600" b="0" i="0" u="none" strike="noStrike" kern="1200" cap="none" spc="0" normalizeH="0" baseline="0" noProof="0" dirty="0">
                <a:ln>
                  <a:noFill/>
                </a:ln>
                <a:solidFill>
                  <a:srgbClr val="FFFFFF"/>
                </a:solidFill>
                <a:effectLst/>
                <a:uLnTx/>
                <a:uFillTx/>
                <a:latin typeface="Calibri Light" panose="020F0302020204030204"/>
                <a:ea typeface="+mj-ea"/>
                <a:cs typeface="Arial"/>
                <a:sym typeface="Arial"/>
              </a:rPr>
              <a:t>SQL</a:t>
            </a:r>
          </a:p>
        </p:txBody>
      </p:sp>
      <p:pic>
        <p:nvPicPr>
          <p:cNvPr id="6" name="Imagem 5" descr="Uma imagem contendo objeto, relógio, computador, monitor&#10;&#10;Descrição gerada automaticamente">
            <a:extLst>
              <a:ext uri="{FF2B5EF4-FFF2-40B4-BE49-F238E27FC236}">
                <a16:creationId xmlns:a16="http://schemas.microsoft.com/office/drawing/2014/main" id="{3A980074-1406-4228-BB3B-661B0F630ED5}"/>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2039673337"/>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aixaDeTexto 5"/>
          <p:cNvSpPr txBox="1">
            <a:spLocks noChangeArrowheads="1"/>
          </p:cNvSpPr>
          <p:nvPr/>
        </p:nvSpPr>
        <p:spPr bwMode="auto">
          <a:xfrm>
            <a:off x="915406" y="106149"/>
            <a:ext cx="6967829" cy="5232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pt-BR" altLang="pt-BR" sz="2800" b="1" i="1" dirty="0">
                <a:solidFill>
                  <a:srgbClr val="002060"/>
                </a:solidFill>
                <a:latin typeface="Verdana" panose="020B0604030504040204" pitchFamily="34" charset="0"/>
                <a:ea typeface="Verdana" panose="020B0604030504040204" pitchFamily="34" charset="0"/>
                <a:cs typeface="Verdana" panose="020B0604030504040204" pitchFamily="34" charset="0"/>
              </a:rPr>
              <a:t>O que vamos Aprender?</a:t>
            </a:r>
            <a:endParaRPr lang="pt-BR" altLang="pt-BR" sz="2800" b="1" dirty="0">
              <a:solidFill>
                <a:srgbClr val="002060"/>
              </a:solidFill>
            </a:endParaRPr>
          </a:p>
        </p:txBody>
      </p:sp>
      <p:graphicFrame>
        <p:nvGraphicFramePr>
          <p:cNvPr id="11" name="CaixaDeTexto 11">
            <a:extLst>
              <a:ext uri="{FF2B5EF4-FFF2-40B4-BE49-F238E27FC236}">
                <a16:creationId xmlns:a16="http://schemas.microsoft.com/office/drawing/2014/main" id="{3938345D-1D71-3BF3-3D7A-FB7618EB1522}"/>
              </a:ext>
            </a:extLst>
          </p:cNvPr>
          <p:cNvGraphicFramePr/>
          <p:nvPr>
            <p:extLst>
              <p:ext uri="{D42A27DB-BD31-4B8C-83A1-F6EECF244321}">
                <p14:modId xmlns:p14="http://schemas.microsoft.com/office/powerpoint/2010/main" val="1417237502"/>
              </p:ext>
            </p:extLst>
          </p:nvPr>
        </p:nvGraphicFramePr>
        <p:xfrm>
          <a:off x="217363" y="873940"/>
          <a:ext cx="8709273" cy="39408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7732019"/>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A0E4C26-A355-BB24-18A3-EA9B2F06E2B5}"/>
              </a:ext>
            </a:extLst>
          </p:cNvPr>
          <p:cNvPicPr>
            <a:picLocks noChangeAspect="1"/>
          </p:cNvPicPr>
          <p:nvPr/>
        </p:nvPicPr>
        <p:blipFill>
          <a:blip r:embed="rId2"/>
          <a:stretch>
            <a:fillRect/>
          </a:stretch>
        </p:blipFill>
        <p:spPr>
          <a:xfrm>
            <a:off x="283027" y="836186"/>
            <a:ext cx="7905010" cy="3471127"/>
          </a:xfrm>
          <a:prstGeom prst="rect">
            <a:avLst/>
          </a:prstGeom>
        </p:spPr>
      </p:pic>
      <p:sp>
        <p:nvSpPr>
          <p:cNvPr id="5" name="CaixaDeTexto 4">
            <a:extLst>
              <a:ext uri="{FF2B5EF4-FFF2-40B4-BE49-F238E27FC236}">
                <a16:creationId xmlns:a16="http://schemas.microsoft.com/office/drawing/2014/main" id="{79FE09F4-015A-CB6D-885B-559D1343C202}"/>
              </a:ext>
            </a:extLst>
          </p:cNvPr>
          <p:cNvSpPr txBox="1"/>
          <p:nvPr/>
        </p:nvSpPr>
        <p:spPr>
          <a:xfrm>
            <a:off x="1877291" y="4407721"/>
            <a:ext cx="4613562" cy="307777"/>
          </a:xfrm>
          <a:prstGeom prst="rect">
            <a:avLst/>
          </a:prstGeom>
          <a:noFill/>
        </p:spPr>
        <p:txBody>
          <a:bodyPr wrap="square">
            <a:spAutoFit/>
          </a:bodyPr>
          <a:lstStyle/>
          <a:p>
            <a:r>
              <a:rPr lang="pt-BR" dirty="0">
                <a:hlinkClick r:id="rId3"/>
              </a:rPr>
              <a:t>https://www.w3schools.com/sql/sql_ref_keywords.asp</a:t>
            </a:r>
            <a:r>
              <a:rPr lang="pt-BR" dirty="0"/>
              <a:t> </a:t>
            </a:r>
          </a:p>
        </p:txBody>
      </p:sp>
      <p:sp>
        <p:nvSpPr>
          <p:cNvPr id="7" name="Text Box 4">
            <a:extLst>
              <a:ext uri="{FF2B5EF4-FFF2-40B4-BE49-F238E27FC236}">
                <a16:creationId xmlns:a16="http://schemas.microsoft.com/office/drawing/2014/main" id="{ECABCB62-099D-81C9-E889-BE617DB87073}"/>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Referencial Teórico</a:t>
            </a:r>
          </a:p>
        </p:txBody>
      </p:sp>
    </p:spTree>
    <p:extLst>
      <p:ext uri="{BB962C8B-B14F-4D97-AF65-F5344CB8AC3E}">
        <p14:creationId xmlns:p14="http://schemas.microsoft.com/office/powerpoint/2010/main" val="1699068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altLang="pt-BR" sz="2000" dirty="0">
                <a:ea typeface="Arial Unicode MS" pitchFamily="34" charset="-128"/>
              </a:rPr>
              <a:t>A necessidade de se </a:t>
            </a:r>
            <a:r>
              <a:rPr lang="pt-BR" altLang="pt-BR" sz="2000" dirty="0" err="1">
                <a:ea typeface="Arial Unicode MS" pitchFamily="34" charset="-128"/>
              </a:rPr>
              <a:t>armarzenar</a:t>
            </a:r>
            <a:r>
              <a:rPr lang="pt-BR" altLang="pt-BR" sz="2000" dirty="0">
                <a:ea typeface="Arial Unicode MS" pitchFamily="34" charset="-128"/>
              </a:rPr>
              <a:t> os dados vem desde os primórdios da computação </a:t>
            </a:r>
            <a:r>
              <a:rPr lang="pt-BR" sz="2000" dirty="0"/>
              <a:t>com métodos rudimentares de registro, como cartões perfurados e fitas magnéticas, que ofereciam apenas acesso sequencial aos dados. </a:t>
            </a:r>
          </a:p>
          <a:p>
            <a:pPr algn="just"/>
            <a:r>
              <a:rPr lang="pt-BR" sz="2000" dirty="0"/>
              <a:t>Na década de 1960, surgiram os primeiros modelos de banco de dados, como o Hierárquico Embora inovadores para a época, esses sistemas eram extremamente rígidos, sofriam de alta dependência de dados (onde a estrutura física estava ligada à lógica da aplicação) e eram complexos de manipular, exigindo que os programadores "navegassem" pelos dados de forma procedural. A redundância e a inconsistência de dados eram problemas comuns, limitando a flexibilidade e a manutenção.</a:t>
            </a:r>
          </a:p>
          <a:p>
            <a:pPr algn="just"/>
            <a:endParaRPr lang="pt-BR" altLang="pt-BR" sz="2800" dirty="0">
              <a:ea typeface="Arial Unicode MS" pitchFamily="34" charset="-128"/>
            </a:endParaRP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pouco de História</a:t>
            </a:r>
          </a:p>
        </p:txBody>
      </p:sp>
    </p:spTree>
    <p:extLst>
      <p:ext uri="{BB962C8B-B14F-4D97-AF65-F5344CB8AC3E}">
        <p14:creationId xmlns:p14="http://schemas.microsoft.com/office/powerpoint/2010/main" val="3565598615"/>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6548B-E8F8-30CC-D0A3-4CB051B852B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FDEB389C-4954-964C-8AA7-6D6FE9287501}"/>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O grande divisor de águas ocorreu em 1970, quando Edgar F. </a:t>
            </a:r>
            <a:r>
              <a:rPr lang="pt-BR" sz="2000" dirty="0" err="1"/>
              <a:t>Codd</a:t>
            </a:r>
            <a:r>
              <a:rPr lang="pt-BR" sz="2000" dirty="0"/>
              <a:t> propôs o modelo relacional. Baseado em tabelas (relações) e na teoria dos conjuntos, este modelo revolucionou a forma de organizar dados ao introduzir a independência de dados, separando a lógica da aplicação da estrutura física de armazenamento. Isso permitiu que os programadores especificassem o que queriam, e não como obter. </a:t>
            </a:r>
          </a:p>
          <a:p>
            <a:pPr algn="just"/>
            <a:r>
              <a:rPr lang="pt-BR" sz="2000" dirty="0"/>
              <a:t>A linguagem SQL (</a:t>
            </a:r>
            <a:r>
              <a:rPr lang="pt-BR" sz="2000" dirty="0" err="1"/>
              <a:t>Structured</a:t>
            </a:r>
            <a:r>
              <a:rPr lang="pt-BR" sz="2000" dirty="0"/>
              <a:t> Query </a:t>
            </a:r>
            <a:r>
              <a:rPr lang="pt-BR" sz="2000" dirty="0" err="1"/>
              <a:t>Language</a:t>
            </a:r>
            <a:r>
              <a:rPr lang="pt-BR" sz="2000" dirty="0"/>
              <a:t>), desenvolvida na IBM, tornou-se a ferramenta padrão para interagir com esses bancos de dados, impulsionando a comercialização de </a:t>
            </a:r>
            <a:r>
              <a:rPr lang="pt-BR" sz="2000" dirty="0" err="1"/>
              <a:t>SGBDs</a:t>
            </a:r>
            <a:r>
              <a:rPr lang="pt-BR" sz="2000" dirty="0"/>
              <a:t> por empresas como Oracle, IBM e Microsoft, que dominaram o mercado nas décadas seguintes</a:t>
            </a:r>
            <a:endParaRPr lang="pt-BR" altLang="pt-BR" sz="2000" dirty="0">
              <a:ea typeface="Arial Unicode MS" pitchFamily="34" charset="-128"/>
            </a:endParaRPr>
          </a:p>
        </p:txBody>
      </p:sp>
      <p:sp>
        <p:nvSpPr>
          <p:cNvPr id="18435" name="Text Box 4">
            <a:extLst>
              <a:ext uri="{FF2B5EF4-FFF2-40B4-BE49-F238E27FC236}">
                <a16:creationId xmlns:a16="http://schemas.microsoft.com/office/drawing/2014/main" id="{4F387406-DB55-3996-D6A0-2D3AF7DB9E31}"/>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pouco de História</a:t>
            </a:r>
          </a:p>
        </p:txBody>
      </p:sp>
    </p:spTree>
    <p:extLst>
      <p:ext uri="{BB962C8B-B14F-4D97-AF65-F5344CB8AC3E}">
        <p14:creationId xmlns:p14="http://schemas.microsoft.com/office/powerpoint/2010/main" val="149722332"/>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37F0-67B8-2114-5B8D-4E2A86AB03A7}"/>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CBF6773E-BFAC-C788-DE1A-1146DB8F43C4}"/>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Nos anos 1990 e 2000, o modelo relacional consolidou-se, mas novas demandas surgiram com o crescimento da internet e a necessidade de análises complexas. Isso levou ao desenvolvimento de sistemas de Data </a:t>
            </a:r>
            <a:r>
              <a:rPr lang="pt-BR" sz="2000" dirty="0" err="1"/>
              <a:t>Warehousing</a:t>
            </a:r>
            <a:r>
              <a:rPr lang="pt-BR" sz="2000" dirty="0"/>
              <a:t> e OLAP para Business </a:t>
            </a:r>
            <a:r>
              <a:rPr lang="pt-BR" sz="2000" dirty="0" err="1"/>
              <a:t>Intelligence</a:t>
            </a:r>
            <a:r>
              <a:rPr lang="pt-BR" sz="2000" dirty="0"/>
              <a:t>, focados em análise de dados históricos, e ao surgimento de abordagens híbridas como os bancos de dados objeto-relacionais. No entanto, a escalabilidade e a flexibilidade dos </a:t>
            </a:r>
            <a:r>
              <a:rPr lang="pt-BR" sz="2000" dirty="0" err="1"/>
              <a:t>SGBDs</a:t>
            </a:r>
            <a:r>
              <a:rPr lang="pt-BR" sz="2000" dirty="0"/>
              <a:t> tradicionais começaram a ser testadas pelos volumes massivos de dados não estruturados gerados pela web.</a:t>
            </a:r>
          </a:p>
        </p:txBody>
      </p:sp>
      <p:sp>
        <p:nvSpPr>
          <p:cNvPr id="18435" name="Text Box 4">
            <a:extLst>
              <a:ext uri="{FF2B5EF4-FFF2-40B4-BE49-F238E27FC236}">
                <a16:creationId xmlns:a16="http://schemas.microsoft.com/office/drawing/2014/main" id="{19E2765A-E817-C41F-4B5C-808590FD70E8}"/>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pouco de História</a:t>
            </a:r>
          </a:p>
        </p:txBody>
      </p:sp>
    </p:spTree>
    <p:extLst>
      <p:ext uri="{BB962C8B-B14F-4D97-AF65-F5344CB8AC3E}">
        <p14:creationId xmlns:p14="http://schemas.microsoft.com/office/powerpoint/2010/main" val="298468769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053A-56CA-29C9-9434-A6B87D7B2F7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F028FFB9-101B-E10F-81A8-DD805AFA5DE1}"/>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A partir dos anos 2010, a era do "Big Data" impulsionou a ascensão dos bancos de dados </a:t>
            </a:r>
            <a:r>
              <a:rPr lang="pt-BR" sz="2000" dirty="0" err="1"/>
              <a:t>NoSQL</a:t>
            </a:r>
            <a:r>
              <a:rPr lang="pt-BR" sz="2000" dirty="0"/>
              <a:t> (</a:t>
            </a:r>
            <a:r>
              <a:rPr lang="pt-BR" sz="2000" dirty="0" err="1"/>
              <a:t>Not</a:t>
            </a:r>
            <a:r>
              <a:rPr lang="pt-BR" sz="2000" dirty="0"/>
              <a:t> </a:t>
            </a:r>
            <a:r>
              <a:rPr lang="pt-BR" sz="2000" dirty="0" err="1"/>
              <a:t>only</a:t>
            </a:r>
            <a:r>
              <a:rPr lang="pt-BR" sz="2000" dirty="0"/>
              <a:t> SQL), que oferecem maior flexibilidade de esquema e escalabilidade horizontal para lidar com dados não estruturados e </a:t>
            </a:r>
            <a:r>
              <a:rPr lang="pt-BR" sz="2000" dirty="0" err="1"/>
              <a:t>semi-estruturados</a:t>
            </a:r>
            <a:r>
              <a:rPr lang="pt-BR" sz="2000" dirty="0"/>
              <a:t>, muitas vezes sacrificando a consistência forte em favor da disponibilidade. </a:t>
            </a:r>
          </a:p>
          <a:p>
            <a:pPr algn="just"/>
            <a:r>
              <a:rPr lang="pt-BR" sz="2000" dirty="0"/>
              <a:t>Paralelamente, a computação em nuvem transformou a forma como os bancos de dados são implantados e gerenciados. Atualmente, a tendência é a persistência poliglota, onde diferentes tipos de bancos de dados (relacionais, </a:t>
            </a:r>
            <a:r>
              <a:rPr lang="pt-BR" sz="2000" dirty="0" err="1"/>
              <a:t>NoSQL</a:t>
            </a:r>
            <a:r>
              <a:rPr lang="pt-BR" sz="2000" dirty="0"/>
              <a:t>, em memória, </a:t>
            </a:r>
            <a:r>
              <a:rPr lang="pt-BR" sz="2000" dirty="0" err="1"/>
              <a:t>serverless</a:t>
            </a:r>
            <a:r>
              <a:rPr lang="pt-BR" sz="2000" dirty="0"/>
              <a:t>) são utilizados em conjunto, cada um otimizado para um tipo específico de dado ou carga de trabalho, buscando a melhor combinação de performance, escalabilidade e </a:t>
            </a:r>
            <a:r>
              <a:rPr lang="pt-BR" sz="2000" dirty="0" err="1"/>
              <a:t>custo.andas</a:t>
            </a:r>
            <a:r>
              <a:rPr lang="pt-BR" sz="2000" dirty="0"/>
              <a:t> tecnológicas e de negócios.</a:t>
            </a:r>
          </a:p>
        </p:txBody>
      </p:sp>
      <p:sp>
        <p:nvSpPr>
          <p:cNvPr id="18435" name="Text Box 4">
            <a:extLst>
              <a:ext uri="{FF2B5EF4-FFF2-40B4-BE49-F238E27FC236}">
                <a16:creationId xmlns:a16="http://schemas.microsoft.com/office/drawing/2014/main" id="{C1F5715E-3223-B248-9646-890E315D5FD1}"/>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pouco de História</a:t>
            </a:r>
          </a:p>
        </p:txBody>
      </p:sp>
    </p:spTree>
    <p:extLst>
      <p:ext uri="{BB962C8B-B14F-4D97-AF65-F5344CB8AC3E}">
        <p14:creationId xmlns:p14="http://schemas.microsoft.com/office/powerpoint/2010/main" val="245331545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4CB6-96BA-C474-BDA9-AE462D782BF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8816BE5-0C26-3F7A-DA81-75A22559C0D5}"/>
              </a:ext>
            </a:extLst>
          </p:cNvPr>
          <p:cNvSpPr>
            <a:spLocks noChangeArrowheads="1"/>
          </p:cNvSpPr>
          <p:nvPr/>
        </p:nvSpPr>
        <p:spPr bwMode="auto">
          <a:xfrm>
            <a:off x="324196" y="778018"/>
            <a:ext cx="8657706" cy="774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1800" dirty="0"/>
              <a:t>São </a:t>
            </a:r>
            <a:r>
              <a:rPr lang="pt-BR" sz="1800" b="1" dirty="0"/>
              <a:t>coleções organizadas de dados </a:t>
            </a:r>
            <a:r>
              <a:rPr lang="pt-BR" sz="1800" dirty="0"/>
              <a:t>que se relacionam de forma a criar </a:t>
            </a:r>
            <a:r>
              <a:rPr lang="pt-BR" sz="1800" b="1" dirty="0"/>
              <a:t>algum sentido</a:t>
            </a:r>
            <a:r>
              <a:rPr lang="pt-BR" sz="1800" dirty="0"/>
              <a:t> e dar mais eficiência durante uma pesquisa.</a:t>
            </a:r>
            <a:endParaRPr lang="pt-BR" altLang="pt-BR" sz="2800" dirty="0">
              <a:ea typeface="Arial Unicode MS" pitchFamily="34" charset="-128"/>
            </a:endParaRPr>
          </a:p>
        </p:txBody>
      </p:sp>
      <p:sp>
        <p:nvSpPr>
          <p:cNvPr id="18435" name="Text Box 4">
            <a:extLst>
              <a:ext uri="{FF2B5EF4-FFF2-40B4-BE49-F238E27FC236}">
                <a16:creationId xmlns:a16="http://schemas.microsoft.com/office/drawing/2014/main" id="{497A8508-07F7-434B-CED4-A8B9618A7D35}"/>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O que é um Banco de Dados?</a:t>
            </a:r>
          </a:p>
        </p:txBody>
      </p:sp>
      <p:pic>
        <p:nvPicPr>
          <p:cNvPr id="1026" name="Picture 2" descr="Que tipo de Banco de Dados utilizar | Solvimm">
            <a:extLst>
              <a:ext uri="{FF2B5EF4-FFF2-40B4-BE49-F238E27FC236}">
                <a16:creationId xmlns:a16="http://schemas.microsoft.com/office/drawing/2014/main" id="{549B1B17-8351-A022-6B50-405A844AD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8921" y="1829526"/>
            <a:ext cx="3748021" cy="218951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98C39811-5D0A-A330-FB3C-A47EE99B90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109" y="1691131"/>
            <a:ext cx="4282918" cy="2466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48806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146237" y="703259"/>
            <a:ext cx="5712590" cy="4094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pt-BR" sz="1800" b="1" dirty="0"/>
              <a:t>SGBD - </a:t>
            </a:r>
            <a:r>
              <a:rPr lang="pt-BR" sz="1600" b="1" dirty="0"/>
              <a:t>Sistema Gerenciador de Banco de Dados :</a:t>
            </a:r>
            <a:endParaRPr lang="pt-BR" sz="1600" dirty="0"/>
          </a:p>
          <a:p>
            <a:r>
              <a:rPr lang="pt-BR" sz="1600" dirty="0"/>
              <a:t>é um programa que gerencia e regula as requisições dos dados de um banco de dados.</a:t>
            </a:r>
          </a:p>
          <a:p>
            <a:endParaRPr lang="pt-BR" b="1" dirty="0"/>
          </a:p>
          <a:p>
            <a:r>
              <a:rPr lang="pt-BR" sz="1800" b="1" dirty="0"/>
              <a:t>Banco de Dados:</a:t>
            </a:r>
          </a:p>
          <a:p>
            <a:r>
              <a:rPr lang="pt-BR" sz="1600" dirty="0"/>
              <a:t>Ferramentas que permitem o armazenamento e manipulação dados.</a:t>
            </a:r>
          </a:p>
          <a:p>
            <a:endParaRPr lang="pt-BR" sz="1600" b="1" dirty="0"/>
          </a:p>
          <a:p>
            <a:r>
              <a:rPr lang="pt-BR" sz="1600" b="1" dirty="0"/>
              <a:t>Tabelas</a:t>
            </a:r>
          </a:p>
          <a:p>
            <a:r>
              <a:rPr lang="pt-BR" sz="1600" dirty="0"/>
              <a:t>Estruturas de dados organizadas em linhas e colunas</a:t>
            </a:r>
          </a:p>
          <a:p>
            <a:endParaRPr lang="pt-BR" altLang="pt-BR" sz="1600" dirty="0">
              <a:ea typeface="Arial Unicode MS" pitchFamily="34" charset="-128"/>
            </a:endParaRPr>
          </a:p>
          <a:p>
            <a:r>
              <a:rPr lang="pt-BR" sz="1600" b="1" dirty="0"/>
              <a:t>Colunas</a:t>
            </a:r>
          </a:p>
          <a:p>
            <a:r>
              <a:rPr lang="pt-BR" sz="1600" dirty="0"/>
              <a:t>Campos que formam um linha</a:t>
            </a:r>
          </a:p>
          <a:p>
            <a:endParaRPr lang="pt-BR" sz="1600" b="1" dirty="0"/>
          </a:p>
          <a:p>
            <a:r>
              <a:rPr lang="pt-BR" sz="1600" b="1" dirty="0"/>
              <a:t>Linhas</a:t>
            </a:r>
          </a:p>
          <a:p>
            <a:r>
              <a:rPr lang="pt-BR" sz="1600" dirty="0"/>
              <a:t>Registros ou </a:t>
            </a:r>
            <a:r>
              <a:rPr lang="pt-BR" sz="1600" dirty="0" err="1"/>
              <a:t>tuplas</a:t>
            </a:r>
            <a:endParaRPr lang="pt-BR" sz="1600" dirty="0"/>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77524" y="135017"/>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 dos </a:t>
            </a:r>
            <a:r>
              <a:rPr lang="pt-BR" altLang="pt-BR" sz="2700" b="1" i="1" dirty="0" err="1">
                <a:solidFill>
                  <a:srgbClr val="0033CC"/>
                </a:solidFill>
                <a:latin typeface="Verdana" panose="020B0604030504040204" pitchFamily="34" charset="0"/>
              </a:rPr>
              <a:t>Bancis</a:t>
            </a:r>
            <a:r>
              <a:rPr lang="pt-BR" altLang="pt-BR" sz="2700" b="1" i="1" dirty="0">
                <a:solidFill>
                  <a:srgbClr val="0033CC"/>
                </a:solidFill>
                <a:latin typeface="Verdana" panose="020B0604030504040204" pitchFamily="34" charset="0"/>
              </a:rPr>
              <a:t> Relacionais</a:t>
            </a:r>
          </a:p>
        </p:txBody>
      </p:sp>
      <p:grpSp>
        <p:nvGrpSpPr>
          <p:cNvPr id="13" name="Agrupar 12">
            <a:extLst>
              <a:ext uri="{FF2B5EF4-FFF2-40B4-BE49-F238E27FC236}">
                <a16:creationId xmlns:a16="http://schemas.microsoft.com/office/drawing/2014/main" id="{F1D97B58-7700-9E27-C742-78C785EAF704}"/>
              </a:ext>
            </a:extLst>
          </p:cNvPr>
          <p:cNvGrpSpPr/>
          <p:nvPr/>
        </p:nvGrpSpPr>
        <p:grpSpPr>
          <a:xfrm>
            <a:off x="5955737" y="853440"/>
            <a:ext cx="3066881" cy="3694284"/>
            <a:chOff x="5955737" y="207978"/>
            <a:chExt cx="3066881" cy="4339746"/>
          </a:xfrm>
        </p:grpSpPr>
        <p:sp>
          <p:nvSpPr>
            <p:cNvPr id="11" name="Fluxograma: Terminação 10">
              <a:extLst>
                <a:ext uri="{FF2B5EF4-FFF2-40B4-BE49-F238E27FC236}">
                  <a16:creationId xmlns:a16="http://schemas.microsoft.com/office/drawing/2014/main" id="{D1EC0C48-4A6C-846A-3C4F-26DEAA7C879B}"/>
                </a:ext>
              </a:extLst>
            </p:cNvPr>
            <p:cNvSpPr/>
            <p:nvPr/>
          </p:nvSpPr>
          <p:spPr>
            <a:xfrm>
              <a:off x="5955737" y="207978"/>
              <a:ext cx="3066881" cy="4339746"/>
            </a:xfrm>
            <a:prstGeom prst="flowChartTerminator">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 name="Imagem 8">
              <a:extLst>
                <a:ext uri="{FF2B5EF4-FFF2-40B4-BE49-F238E27FC236}">
                  <a16:creationId xmlns:a16="http://schemas.microsoft.com/office/drawing/2014/main" id="{E3835F41-FD83-386F-FE62-858FB90C6403}"/>
                </a:ext>
              </a:extLst>
            </p:cNvPr>
            <p:cNvPicPr>
              <a:picLocks noChangeAspect="1"/>
            </p:cNvPicPr>
            <p:nvPr/>
          </p:nvPicPr>
          <p:blipFill>
            <a:blip r:embed="rId3"/>
            <a:stretch>
              <a:fillRect/>
            </a:stretch>
          </p:blipFill>
          <p:spPr>
            <a:xfrm>
              <a:off x="6287511" y="783019"/>
              <a:ext cx="2427611" cy="3538127"/>
            </a:xfrm>
            <a:prstGeom prst="rect">
              <a:avLst/>
            </a:prstGeom>
            <a:ln>
              <a:noFill/>
            </a:ln>
            <a:effectLst>
              <a:softEdge rad="112500"/>
            </a:effectLst>
          </p:spPr>
        </p:pic>
        <p:sp>
          <p:nvSpPr>
            <p:cNvPr id="12" name="CaixaDeTexto 11">
              <a:extLst>
                <a:ext uri="{FF2B5EF4-FFF2-40B4-BE49-F238E27FC236}">
                  <a16:creationId xmlns:a16="http://schemas.microsoft.com/office/drawing/2014/main" id="{6139B0C8-F6A8-3389-8D8D-64AE7B8DC5B0}"/>
                </a:ext>
              </a:extLst>
            </p:cNvPr>
            <p:cNvSpPr txBox="1"/>
            <p:nvPr/>
          </p:nvSpPr>
          <p:spPr>
            <a:xfrm>
              <a:off x="6505996" y="323548"/>
              <a:ext cx="2103930" cy="369332"/>
            </a:xfrm>
            <a:prstGeom prst="rect">
              <a:avLst/>
            </a:prstGeom>
            <a:noFill/>
          </p:spPr>
          <p:txBody>
            <a:bodyPr wrap="square" rtlCol="0">
              <a:spAutoFit/>
            </a:bodyPr>
            <a:lstStyle/>
            <a:p>
              <a:pPr algn="ctr"/>
              <a:r>
                <a:rPr lang="pt-BR" sz="1800" b="1" dirty="0">
                  <a:solidFill>
                    <a:schemeClr val="bg1"/>
                  </a:solidFill>
                </a:rPr>
                <a:t>Banco de Dados</a:t>
              </a:r>
            </a:p>
          </p:txBody>
        </p:sp>
      </p:grpSp>
      <p:sp>
        <p:nvSpPr>
          <p:cNvPr id="2" name="Rectangle 3">
            <a:extLst>
              <a:ext uri="{FF2B5EF4-FFF2-40B4-BE49-F238E27FC236}">
                <a16:creationId xmlns:a16="http://schemas.microsoft.com/office/drawing/2014/main" id="{B7E6282B-9918-5C4F-F21D-56423DDF9DB8}"/>
              </a:ext>
            </a:extLst>
          </p:cNvPr>
          <p:cNvSpPr>
            <a:spLocks noChangeArrowheads="1"/>
          </p:cNvSpPr>
          <p:nvPr/>
        </p:nvSpPr>
        <p:spPr bwMode="auto">
          <a:xfrm>
            <a:off x="243146" y="810744"/>
            <a:ext cx="8471975" cy="1285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sz="1800" dirty="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243147" y="810744"/>
            <a:ext cx="5712590" cy="1285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pt-BR" sz="2000" b="1" dirty="0"/>
              <a:t>Índices</a:t>
            </a:r>
          </a:p>
          <a:p>
            <a:r>
              <a:rPr lang="pt-BR" sz="1800" dirty="0"/>
              <a:t>Estruturas que gerenciam a ordenação dos valores dos campos informados para melhorar a velocidade de acesso às linhas de dados.</a:t>
            </a:r>
          </a:p>
          <a:p>
            <a:endParaRPr lang="pt-BR" sz="1800" b="1" dirty="0"/>
          </a:p>
          <a:p>
            <a:endParaRPr lang="pt-BR" sz="1800" dirty="0"/>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982720" y="44423"/>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a:t>
            </a:r>
          </a:p>
        </p:txBody>
      </p:sp>
      <p:sp>
        <p:nvSpPr>
          <p:cNvPr id="12" name="CaixaDeTexto 11">
            <a:extLst>
              <a:ext uri="{FF2B5EF4-FFF2-40B4-BE49-F238E27FC236}">
                <a16:creationId xmlns:a16="http://schemas.microsoft.com/office/drawing/2014/main" id="{6139B0C8-F6A8-3389-8D8D-64AE7B8DC5B0}"/>
              </a:ext>
            </a:extLst>
          </p:cNvPr>
          <p:cNvSpPr txBox="1"/>
          <p:nvPr/>
        </p:nvSpPr>
        <p:spPr>
          <a:xfrm>
            <a:off x="6505996" y="323548"/>
            <a:ext cx="2103930" cy="369332"/>
          </a:xfrm>
          <a:prstGeom prst="rect">
            <a:avLst/>
          </a:prstGeom>
          <a:noFill/>
        </p:spPr>
        <p:txBody>
          <a:bodyPr wrap="square" rtlCol="0">
            <a:spAutoFit/>
          </a:bodyPr>
          <a:lstStyle/>
          <a:p>
            <a:pPr algn="ctr"/>
            <a:r>
              <a:rPr lang="pt-BR" sz="1800" b="1" dirty="0">
                <a:solidFill>
                  <a:schemeClr val="bg1"/>
                </a:solidFill>
              </a:rPr>
              <a:t>Banco de Dados</a:t>
            </a:r>
          </a:p>
        </p:txBody>
      </p:sp>
      <p:pic>
        <p:nvPicPr>
          <p:cNvPr id="3" name="Imagem 2">
            <a:extLst>
              <a:ext uri="{FF2B5EF4-FFF2-40B4-BE49-F238E27FC236}">
                <a16:creationId xmlns:a16="http://schemas.microsoft.com/office/drawing/2014/main" id="{0F38CB2A-5666-F9E1-1361-C683CA00A7DB}"/>
              </a:ext>
            </a:extLst>
          </p:cNvPr>
          <p:cNvPicPr>
            <a:picLocks noChangeAspect="1"/>
          </p:cNvPicPr>
          <p:nvPr/>
        </p:nvPicPr>
        <p:blipFill>
          <a:blip r:embed="rId3"/>
          <a:stretch>
            <a:fillRect/>
          </a:stretch>
        </p:blipFill>
        <p:spPr>
          <a:xfrm>
            <a:off x="392086" y="2354328"/>
            <a:ext cx="4158712" cy="1778000"/>
          </a:xfrm>
          <a:prstGeom prst="rect">
            <a:avLst/>
          </a:prstGeom>
        </p:spPr>
      </p:pic>
      <p:pic>
        <p:nvPicPr>
          <p:cNvPr id="5" name="Imagem 4">
            <a:extLst>
              <a:ext uri="{FF2B5EF4-FFF2-40B4-BE49-F238E27FC236}">
                <a16:creationId xmlns:a16="http://schemas.microsoft.com/office/drawing/2014/main" id="{CC781916-C93B-DFBC-895B-832BF10003BF}"/>
              </a:ext>
            </a:extLst>
          </p:cNvPr>
          <p:cNvPicPr>
            <a:picLocks noChangeAspect="1"/>
          </p:cNvPicPr>
          <p:nvPr/>
        </p:nvPicPr>
        <p:blipFill>
          <a:blip r:embed="rId4"/>
          <a:stretch>
            <a:fillRect/>
          </a:stretch>
        </p:blipFill>
        <p:spPr>
          <a:xfrm>
            <a:off x="6053433" y="1598557"/>
            <a:ext cx="2443204" cy="1644771"/>
          </a:xfrm>
          <a:prstGeom prst="rect">
            <a:avLst/>
          </a:prstGeom>
        </p:spPr>
      </p:pic>
      <p:cxnSp>
        <p:nvCxnSpPr>
          <p:cNvPr id="8" name="Conector: Angulado 7">
            <a:extLst>
              <a:ext uri="{FF2B5EF4-FFF2-40B4-BE49-F238E27FC236}">
                <a16:creationId xmlns:a16="http://schemas.microsoft.com/office/drawing/2014/main" id="{7A31C3D2-D8FE-17E3-FEEE-CF87DF2C1EA0}"/>
              </a:ext>
            </a:extLst>
          </p:cNvPr>
          <p:cNvCxnSpPr>
            <a:cxnSpLocks/>
            <a:stCxn id="3" idx="3"/>
            <a:endCxn id="5" idx="1"/>
          </p:cNvCxnSpPr>
          <p:nvPr/>
        </p:nvCxnSpPr>
        <p:spPr>
          <a:xfrm flipV="1">
            <a:off x="4550798" y="2420943"/>
            <a:ext cx="1502635" cy="822385"/>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78152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259924" y="1469382"/>
            <a:ext cx="3533663" cy="2465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É uma linguagem estruturada que permite criar, manipular, consultar as informações armazenadas em um bando de dados</a:t>
            </a: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77524" y="111205"/>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a:t>
            </a:r>
          </a:p>
        </p:txBody>
      </p:sp>
      <p:sp>
        <p:nvSpPr>
          <p:cNvPr id="12" name="CaixaDeTexto 11">
            <a:extLst>
              <a:ext uri="{FF2B5EF4-FFF2-40B4-BE49-F238E27FC236}">
                <a16:creationId xmlns:a16="http://schemas.microsoft.com/office/drawing/2014/main" id="{6139B0C8-F6A8-3389-8D8D-64AE7B8DC5B0}"/>
              </a:ext>
            </a:extLst>
          </p:cNvPr>
          <p:cNvSpPr txBox="1"/>
          <p:nvPr/>
        </p:nvSpPr>
        <p:spPr>
          <a:xfrm>
            <a:off x="6505996" y="323548"/>
            <a:ext cx="2103930" cy="369332"/>
          </a:xfrm>
          <a:prstGeom prst="rect">
            <a:avLst/>
          </a:prstGeom>
          <a:noFill/>
        </p:spPr>
        <p:txBody>
          <a:bodyPr wrap="square" rtlCol="0">
            <a:spAutoFit/>
          </a:bodyPr>
          <a:lstStyle/>
          <a:p>
            <a:pPr algn="ctr"/>
            <a:r>
              <a:rPr lang="pt-BR" sz="1800" b="1" dirty="0">
                <a:solidFill>
                  <a:schemeClr val="bg1"/>
                </a:solidFill>
              </a:rPr>
              <a:t>Banco de Dados</a:t>
            </a:r>
          </a:p>
        </p:txBody>
      </p:sp>
      <p:sp>
        <p:nvSpPr>
          <p:cNvPr id="3" name="CaixaDeTexto 2">
            <a:extLst>
              <a:ext uri="{FF2B5EF4-FFF2-40B4-BE49-F238E27FC236}">
                <a16:creationId xmlns:a16="http://schemas.microsoft.com/office/drawing/2014/main" id="{66C19662-CEC0-CD22-E9BC-3EB043E7B57A}"/>
              </a:ext>
            </a:extLst>
          </p:cNvPr>
          <p:cNvSpPr txBox="1"/>
          <p:nvPr/>
        </p:nvSpPr>
        <p:spPr>
          <a:xfrm>
            <a:off x="259925" y="856929"/>
            <a:ext cx="4613944" cy="400110"/>
          </a:xfrm>
          <a:prstGeom prst="rect">
            <a:avLst/>
          </a:prstGeom>
          <a:noFill/>
        </p:spPr>
        <p:txBody>
          <a:bodyPr wrap="square">
            <a:spAutoFit/>
          </a:bodyPr>
          <a:lstStyle/>
          <a:p>
            <a:r>
              <a:rPr lang="pt-BR" sz="2000" b="1" dirty="0"/>
              <a:t>SQL – </a:t>
            </a:r>
            <a:r>
              <a:rPr lang="pt-BR" sz="2000" b="1" dirty="0" err="1"/>
              <a:t>Structured</a:t>
            </a:r>
            <a:r>
              <a:rPr lang="pt-BR" sz="2000" b="1" dirty="0"/>
              <a:t> Query </a:t>
            </a:r>
            <a:r>
              <a:rPr lang="pt-BR" sz="2000" b="1" dirty="0" err="1"/>
              <a:t>Language</a:t>
            </a:r>
            <a:endParaRPr lang="pt-BR" sz="2000" b="1" dirty="0"/>
          </a:p>
        </p:txBody>
      </p:sp>
      <p:sp>
        <p:nvSpPr>
          <p:cNvPr id="5" name="CaixaDeTexto 4">
            <a:extLst>
              <a:ext uri="{FF2B5EF4-FFF2-40B4-BE49-F238E27FC236}">
                <a16:creationId xmlns:a16="http://schemas.microsoft.com/office/drawing/2014/main" id="{B3F8947B-4E5F-E6D2-D7BA-00E0E732DBF0}"/>
              </a:ext>
            </a:extLst>
          </p:cNvPr>
          <p:cNvSpPr txBox="1"/>
          <p:nvPr/>
        </p:nvSpPr>
        <p:spPr>
          <a:xfrm>
            <a:off x="259925" y="4286571"/>
            <a:ext cx="4613944" cy="307777"/>
          </a:xfrm>
          <a:prstGeom prst="rect">
            <a:avLst/>
          </a:prstGeom>
          <a:noFill/>
        </p:spPr>
        <p:txBody>
          <a:bodyPr wrap="square">
            <a:spAutoFit/>
          </a:bodyPr>
          <a:lstStyle/>
          <a:p>
            <a:r>
              <a:rPr lang="pt-BR" b="1" dirty="0"/>
              <a:t>Padrão ANSI2023</a:t>
            </a:r>
          </a:p>
        </p:txBody>
      </p:sp>
      <p:pic>
        <p:nvPicPr>
          <p:cNvPr id="4" name="Imagem 3" descr="Diagrama&#10;&#10;O conteúdo gerado por IA pode estar incorreto.">
            <a:extLst>
              <a:ext uri="{FF2B5EF4-FFF2-40B4-BE49-F238E27FC236}">
                <a16:creationId xmlns:a16="http://schemas.microsoft.com/office/drawing/2014/main" id="{2C4E6E87-07E7-670B-A651-9B794797E527}"/>
              </a:ext>
            </a:extLst>
          </p:cNvPr>
          <p:cNvPicPr>
            <a:picLocks noChangeAspect="1"/>
          </p:cNvPicPr>
          <p:nvPr/>
        </p:nvPicPr>
        <p:blipFill>
          <a:blip r:embed="rId3"/>
          <a:stretch>
            <a:fillRect/>
          </a:stretch>
        </p:blipFill>
        <p:spPr>
          <a:xfrm>
            <a:off x="3892227" y="1254401"/>
            <a:ext cx="4782256" cy="3325731"/>
          </a:xfrm>
          <a:prstGeom prst="rect">
            <a:avLst/>
          </a:prstGeom>
        </p:spPr>
      </p:pic>
    </p:spTree>
    <p:extLst>
      <p:ext uri="{BB962C8B-B14F-4D97-AF65-F5344CB8AC3E}">
        <p14:creationId xmlns:p14="http://schemas.microsoft.com/office/powerpoint/2010/main" val="3303359905"/>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045B59B-615E-4718-A150-42DE5D03E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6CF29CD-38B8-4924-BA11-6D6051748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p:cNvSpPr>
            <a:spLocks noChangeArrowheads="1"/>
          </p:cNvSpPr>
          <p:nvPr/>
        </p:nvSpPr>
        <p:spPr bwMode="auto">
          <a:xfrm>
            <a:off x="530258" y="3376747"/>
            <a:ext cx="8074057" cy="905452"/>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err="1">
                <a:solidFill>
                  <a:srgbClr val="FFFFFF"/>
                </a:solidFill>
                <a:latin typeface="+mj-lt"/>
                <a:ea typeface="+mj-ea"/>
                <a:cs typeface="+mj-cs"/>
              </a:rPr>
              <a:t>Entendendo</a:t>
            </a:r>
            <a:r>
              <a:rPr lang="en-US" altLang="pt-BR" sz="3800" kern="1200" dirty="0">
                <a:solidFill>
                  <a:srgbClr val="FFFFFF"/>
                </a:solidFill>
                <a:latin typeface="+mj-lt"/>
                <a:ea typeface="+mj-ea"/>
                <a:cs typeface="+mj-cs"/>
              </a:rPr>
              <a:t> </a:t>
            </a:r>
            <a:r>
              <a:rPr lang="en-US" altLang="pt-BR" sz="3800" kern="1200" dirty="0" err="1">
                <a:solidFill>
                  <a:srgbClr val="FFFFFF"/>
                </a:solidFill>
                <a:latin typeface="+mj-lt"/>
                <a:ea typeface="+mj-ea"/>
                <a:cs typeface="+mj-cs"/>
              </a:rPr>
              <a:t>Modelos</a:t>
            </a:r>
            <a:r>
              <a:rPr lang="en-US" altLang="pt-BR" sz="3800" kern="1200" dirty="0">
                <a:solidFill>
                  <a:srgbClr val="FFFFFF"/>
                </a:solidFill>
                <a:latin typeface="+mj-lt"/>
                <a:ea typeface="+mj-ea"/>
                <a:cs typeface="+mj-cs"/>
              </a:rPr>
              <a:t> de Dados</a:t>
            </a:r>
          </a:p>
        </p:txBody>
      </p:sp>
      <p:pic>
        <p:nvPicPr>
          <p:cNvPr id="6" name="Imagem 5" descr="Uma imagem contendo objeto, relógio, computador, monitor&#10;&#10;Descrição gerada automaticamente">
            <a:extLst>
              <a:ext uri="{FF2B5EF4-FFF2-40B4-BE49-F238E27FC236}">
                <a16:creationId xmlns:a16="http://schemas.microsoft.com/office/drawing/2014/main" id="{3A980074-1406-4228-BB3B-661B0F630ED5}"/>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100835359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912DE-0CC5-46C8-E176-F8E6E7DCD9C5}"/>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D882BEB-C17E-5D81-E9D7-F0209F710AD8}"/>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Podemos de que um modelo de seria como uma planta é para um arquiteto, é uma representação abstrata e estruturada de como os dados são organizados e relacionados entre si, que descreve a estrutura dos dados, suas propriedades, os relacionamentos entre eles e as regras (restrições) que governam sua integridade e comportamento.</a:t>
            </a:r>
          </a:p>
        </p:txBody>
      </p:sp>
      <p:sp>
        <p:nvSpPr>
          <p:cNvPr id="18435" name="Text Box 4">
            <a:extLst>
              <a:ext uri="{FF2B5EF4-FFF2-40B4-BE49-F238E27FC236}">
                <a16:creationId xmlns:a16="http://schemas.microsoft.com/office/drawing/2014/main" id="{6F572E07-CD64-5A67-A3C7-35AE84A6F4D7}"/>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de dados</a:t>
            </a:r>
          </a:p>
        </p:txBody>
      </p:sp>
    </p:spTree>
    <p:extLst>
      <p:ext uri="{BB962C8B-B14F-4D97-AF65-F5344CB8AC3E}">
        <p14:creationId xmlns:p14="http://schemas.microsoft.com/office/powerpoint/2010/main" val="3767221472"/>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9AF2-F2B4-12FF-06AA-819FAD30064E}"/>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DBA5A83-C96B-5017-E2F9-41CF33C31AF0}"/>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Tem a finalidade de apresentar o negócio. É a representação mais abstrata e de alto nível dos dados. Ele se concentra nas entidades do negócio e os relacionamentos entre elas, sem se preocupar com detalhes técnicos ou com a forma como os dados serão armazenados. É puramente focado nas necessidades do negócio</a:t>
            </a:r>
          </a:p>
        </p:txBody>
      </p:sp>
      <p:sp>
        <p:nvSpPr>
          <p:cNvPr id="18435" name="Text Box 4">
            <a:extLst>
              <a:ext uri="{FF2B5EF4-FFF2-40B4-BE49-F238E27FC236}">
                <a16:creationId xmlns:a16="http://schemas.microsoft.com/office/drawing/2014/main" id="{91020467-C33B-D03E-9BB3-BB52FF449102}"/>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Conceitual</a:t>
            </a:r>
          </a:p>
        </p:txBody>
      </p:sp>
    </p:spTree>
    <p:extLst>
      <p:ext uri="{BB962C8B-B14F-4D97-AF65-F5344CB8AC3E}">
        <p14:creationId xmlns:p14="http://schemas.microsoft.com/office/powerpoint/2010/main" val="2715731496"/>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87053-0C88-B207-38C3-FE615F14BC55}"/>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47BCF399-FF71-75A8-D82C-5A7CD73BDC87}"/>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O Modelo Conceitual captura a visão de negócio. É um refinamento do modelo conceitual. Ele traduz as entidades, relacionamentos e atributos em estruturas que são compatíveis com um modelo de dados específico, mas ainda é independente de um sistema de gerenciamento de banco de dados (SGBD) específico. Ele define as tabelas, colunas, chaves primárias e estrangeiras, e a normalização</a:t>
            </a:r>
          </a:p>
        </p:txBody>
      </p:sp>
      <p:sp>
        <p:nvSpPr>
          <p:cNvPr id="18435" name="Text Box 4">
            <a:extLst>
              <a:ext uri="{FF2B5EF4-FFF2-40B4-BE49-F238E27FC236}">
                <a16:creationId xmlns:a16="http://schemas.microsoft.com/office/drawing/2014/main" id="{221CC75F-A78A-8688-2901-DCED39712EB3}"/>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Lógico</a:t>
            </a:r>
          </a:p>
        </p:txBody>
      </p:sp>
    </p:spTree>
    <p:extLst>
      <p:ext uri="{BB962C8B-B14F-4D97-AF65-F5344CB8AC3E}">
        <p14:creationId xmlns:p14="http://schemas.microsoft.com/office/powerpoint/2010/main" val="111729291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25B30-94E5-E6E8-4407-113567CB764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E3059943-96D5-F1B5-4878-E15FD05198F2}"/>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É a representação mais detalhada e específica dos dados, descrevendo como o banco de dados será implementado em um SGBD específico. Ele leva em consideração as características e otimizações do SGBD escolhido, como tipos de dados nativos, indexação, particionamento, restrições de armazenamento e outras considerações de desempenho e segurança.</a:t>
            </a:r>
          </a:p>
        </p:txBody>
      </p:sp>
      <p:sp>
        <p:nvSpPr>
          <p:cNvPr id="18435" name="Text Box 4">
            <a:extLst>
              <a:ext uri="{FF2B5EF4-FFF2-40B4-BE49-F238E27FC236}">
                <a16:creationId xmlns:a16="http://schemas.microsoft.com/office/drawing/2014/main" id="{E08D9E08-F3B8-8199-6898-32FE278A7AD3}"/>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Físico</a:t>
            </a:r>
          </a:p>
        </p:txBody>
      </p:sp>
    </p:spTree>
    <p:extLst>
      <p:ext uri="{BB962C8B-B14F-4D97-AF65-F5344CB8AC3E}">
        <p14:creationId xmlns:p14="http://schemas.microsoft.com/office/powerpoint/2010/main" val="3666114694"/>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3F39EBAF-3C3F-6CE7-9EE1-FD6F8CDAC31C}"/>
              </a:ext>
            </a:extLst>
          </p:cNvPr>
          <p:cNvPicPr>
            <a:picLocks noChangeAspect="1"/>
          </p:cNvPicPr>
          <p:nvPr/>
        </p:nvPicPr>
        <p:blipFill>
          <a:blip r:embed="rId2"/>
          <a:stretch>
            <a:fillRect/>
          </a:stretch>
        </p:blipFill>
        <p:spPr>
          <a:xfrm>
            <a:off x="173607" y="865911"/>
            <a:ext cx="8796786" cy="3649644"/>
          </a:xfrm>
          <a:prstGeom prst="rect">
            <a:avLst/>
          </a:prstGeom>
        </p:spPr>
      </p:pic>
      <p:sp>
        <p:nvSpPr>
          <p:cNvPr id="4" name="Text Box 4">
            <a:extLst>
              <a:ext uri="{FF2B5EF4-FFF2-40B4-BE49-F238E27FC236}">
                <a16:creationId xmlns:a16="http://schemas.microsoft.com/office/drawing/2014/main" id="{253D9EC3-8F75-DCE9-D289-8C678DAE83F4}"/>
              </a:ext>
            </a:extLst>
          </p:cNvPr>
          <p:cNvSpPr txBox="1">
            <a:spLocks noChangeArrowheads="1"/>
          </p:cNvSpPr>
          <p:nvPr/>
        </p:nvSpPr>
        <p:spPr bwMode="auto">
          <a:xfrm>
            <a:off x="973341" y="12011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700" b="1" i="1">
                <a:solidFill>
                  <a:srgbClr val="0033CC"/>
                </a:solidFill>
                <a:latin typeface="Verdana" panose="020B0604030504040204" pitchFamily="34" charset="0"/>
              </a:rPr>
              <a:t>Tipos de Modelos de Dados</a:t>
            </a:r>
            <a:endParaRPr lang="en-US"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2671820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F12A-1411-7053-3019-42460893DEB8}"/>
            </a:ext>
          </a:extLst>
        </p:cNvPr>
        <p:cNvGrpSpPr/>
        <p:nvPr/>
      </p:nvGrpSpPr>
      <p:grpSpPr>
        <a:xfrm>
          <a:off x="0" y="0"/>
          <a:ext cx="0" cy="0"/>
          <a:chOff x="0" y="0"/>
          <a:chExt cx="0" cy="0"/>
        </a:xfrm>
      </p:grpSpPr>
      <p:sp>
        <p:nvSpPr>
          <p:cNvPr id="4" name="Text Box 4">
            <a:extLst>
              <a:ext uri="{FF2B5EF4-FFF2-40B4-BE49-F238E27FC236}">
                <a16:creationId xmlns:a16="http://schemas.microsoft.com/office/drawing/2014/main" id="{FC6CB872-5AA6-C754-85B9-B998B443ED30}"/>
              </a:ext>
            </a:extLst>
          </p:cNvPr>
          <p:cNvSpPr txBox="1">
            <a:spLocks noChangeArrowheads="1"/>
          </p:cNvSpPr>
          <p:nvPr/>
        </p:nvSpPr>
        <p:spPr bwMode="auto">
          <a:xfrm>
            <a:off x="982720" y="12534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700" b="1" i="1">
                <a:solidFill>
                  <a:srgbClr val="0033CC"/>
                </a:solidFill>
                <a:latin typeface="Verdana" panose="020B0604030504040204" pitchFamily="34" charset="0"/>
              </a:rPr>
              <a:t>Tipos de Modelos de Dados</a:t>
            </a:r>
            <a:endParaRPr lang="en-US" sz="2700" b="1" i="1" dirty="0">
              <a:solidFill>
                <a:srgbClr val="0033CC"/>
              </a:solidFill>
              <a:latin typeface="Verdana" panose="020B0604030504040204" pitchFamily="34" charset="0"/>
            </a:endParaRPr>
          </a:p>
        </p:txBody>
      </p:sp>
      <p:graphicFrame>
        <p:nvGraphicFramePr>
          <p:cNvPr id="6" name="Tabela 6">
            <a:extLst>
              <a:ext uri="{FF2B5EF4-FFF2-40B4-BE49-F238E27FC236}">
                <a16:creationId xmlns:a16="http://schemas.microsoft.com/office/drawing/2014/main" id="{B454F5AA-5911-EA87-4A76-05B1CBDC827A}"/>
              </a:ext>
            </a:extLst>
          </p:cNvPr>
          <p:cNvGraphicFramePr>
            <a:graphicFrameLocks noGrp="1"/>
          </p:cNvGraphicFramePr>
          <p:nvPr>
            <p:extLst>
              <p:ext uri="{D42A27DB-BD31-4B8C-83A1-F6EECF244321}">
                <p14:modId xmlns:p14="http://schemas.microsoft.com/office/powerpoint/2010/main" val="3243968715"/>
              </p:ext>
            </p:extLst>
          </p:nvPr>
        </p:nvGraphicFramePr>
        <p:xfrm>
          <a:off x="1120775" y="911225"/>
          <a:ext cx="7322390" cy="3445659"/>
        </p:xfrm>
        <a:graphic>
          <a:graphicData uri="http://schemas.openxmlformats.org/drawingml/2006/table">
            <a:tbl>
              <a:tblPr firstRow="1" bandRow="1">
                <a:tableStyleId>{18E0EB87-6F86-4DAB-AA45-32A1FB75C8D8}</a:tableStyleId>
              </a:tblPr>
              <a:tblGrid>
                <a:gridCol w="3221194">
                  <a:extLst>
                    <a:ext uri="{9D8B030D-6E8A-4147-A177-3AD203B41FA5}">
                      <a16:colId xmlns:a16="http://schemas.microsoft.com/office/drawing/2014/main" val="3102676746"/>
                    </a:ext>
                  </a:extLst>
                </a:gridCol>
                <a:gridCol w="1445319">
                  <a:extLst>
                    <a:ext uri="{9D8B030D-6E8A-4147-A177-3AD203B41FA5}">
                      <a16:colId xmlns:a16="http://schemas.microsoft.com/office/drawing/2014/main" val="2903938169"/>
                    </a:ext>
                  </a:extLst>
                </a:gridCol>
                <a:gridCol w="1169164">
                  <a:extLst>
                    <a:ext uri="{9D8B030D-6E8A-4147-A177-3AD203B41FA5}">
                      <a16:colId xmlns:a16="http://schemas.microsoft.com/office/drawing/2014/main" val="231705625"/>
                    </a:ext>
                  </a:extLst>
                </a:gridCol>
                <a:gridCol w="1486713">
                  <a:extLst>
                    <a:ext uri="{9D8B030D-6E8A-4147-A177-3AD203B41FA5}">
                      <a16:colId xmlns:a16="http://schemas.microsoft.com/office/drawing/2014/main" val="4148180785"/>
                    </a:ext>
                  </a:extLst>
                </a:gridCol>
              </a:tblGrid>
              <a:tr h="488323">
                <a:tc>
                  <a:txBody>
                    <a:bodyPr/>
                    <a:lstStyle/>
                    <a:p>
                      <a:r>
                        <a:rPr lang="pt-BR" sz="1400" b="1" dirty="0" err="1"/>
                        <a:t>Característicass</a:t>
                      </a:r>
                      <a:endParaRPr lang="pt-BR" sz="1400" b="1" dirty="0"/>
                    </a:p>
                  </a:txBody>
                  <a:tcPr>
                    <a:solidFill>
                      <a:schemeClr val="bg1">
                        <a:lumMod val="85000"/>
                      </a:schemeClr>
                    </a:solidFill>
                  </a:tcPr>
                </a:tc>
                <a:tc>
                  <a:txBody>
                    <a:bodyPr/>
                    <a:lstStyle/>
                    <a:p>
                      <a:pPr algn="ctr"/>
                      <a:r>
                        <a:rPr lang="pt-BR" sz="1400" b="1" dirty="0"/>
                        <a:t>Conceitual</a:t>
                      </a:r>
                    </a:p>
                  </a:txBody>
                  <a:tcPr>
                    <a:solidFill>
                      <a:schemeClr val="bg1">
                        <a:lumMod val="85000"/>
                      </a:schemeClr>
                    </a:solidFill>
                  </a:tcPr>
                </a:tc>
                <a:tc>
                  <a:txBody>
                    <a:bodyPr/>
                    <a:lstStyle/>
                    <a:p>
                      <a:pPr algn="ctr"/>
                      <a:r>
                        <a:rPr lang="pt-BR" sz="1400" b="1" dirty="0"/>
                        <a:t>Lógico</a:t>
                      </a:r>
                    </a:p>
                  </a:txBody>
                  <a:tcPr>
                    <a:solidFill>
                      <a:schemeClr val="bg1">
                        <a:lumMod val="85000"/>
                      </a:schemeClr>
                    </a:solidFill>
                  </a:tcPr>
                </a:tc>
                <a:tc>
                  <a:txBody>
                    <a:bodyPr/>
                    <a:lstStyle/>
                    <a:p>
                      <a:pPr algn="ctr"/>
                      <a:r>
                        <a:rPr lang="pt-BR" sz="1400" b="1" dirty="0"/>
                        <a:t>Físico</a:t>
                      </a:r>
                    </a:p>
                  </a:txBody>
                  <a:tcPr>
                    <a:solidFill>
                      <a:schemeClr val="bg1">
                        <a:lumMod val="85000"/>
                      </a:schemeClr>
                    </a:solidFill>
                  </a:tcPr>
                </a:tc>
                <a:extLst>
                  <a:ext uri="{0D108BD9-81ED-4DB2-BD59-A6C34878D82A}">
                    <a16:rowId xmlns:a16="http://schemas.microsoft.com/office/drawing/2014/main" val="1964820049"/>
                  </a:ext>
                </a:extLst>
              </a:tr>
              <a:tr h="462775">
                <a:tc>
                  <a:txBody>
                    <a:bodyPr/>
                    <a:lstStyle/>
                    <a:p>
                      <a:r>
                        <a:rPr lang="pt-BR" sz="1400" dirty="0"/>
                        <a:t>Nome da Entidade</a:t>
                      </a:r>
                    </a:p>
                  </a:txBody>
                  <a:tcPr>
                    <a:solidFill>
                      <a:schemeClr val="bg1"/>
                    </a:solidFill>
                  </a:tcPr>
                </a:tc>
                <a:tc>
                  <a:txBody>
                    <a:bodyPr/>
                    <a:lstStyle/>
                    <a:p>
                      <a:pPr algn="ctr"/>
                      <a:r>
                        <a:rPr lang="pt-BR" sz="1400" b="1" dirty="0"/>
                        <a:t>*</a:t>
                      </a:r>
                    </a:p>
                  </a:txBody>
                  <a:tcPr>
                    <a:solidFill>
                      <a:schemeClr val="bg1"/>
                    </a:solidFill>
                  </a:tcPr>
                </a:tc>
                <a:tc>
                  <a:txBody>
                    <a:bodyPr/>
                    <a:lstStyle/>
                    <a:p>
                      <a:pPr algn="ctr"/>
                      <a:r>
                        <a:rPr lang="pt-BR" sz="1400" dirty="0"/>
                        <a:t>*</a:t>
                      </a:r>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420144136"/>
                  </a:ext>
                </a:extLst>
              </a:tr>
              <a:tr h="478948">
                <a:tc>
                  <a:txBody>
                    <a:bodyPr/>
                    <a:lstStyle/>
                    <a:p>
                      <a:r>
                        <a:rPr lang="pt-BR" sz="1400" dirty="0"/>
                        <a:t>Relacionamento entre entidades</a:t>
                      </a:r>
                    </a:p>
                  </a:txBody>
                  <a:tcPr>
                    <a:solidFill>
                      <a:schemeClr val="bg1"/>
                    </a:solidFill>
                  </a:tcPr>
                </a:tc>
                <a:tc>
                  <a:txBody>
                    <a:bodyPr/>
                    <a:lstStyle/>
                    <a:p>
                      <a:pPr algn="ctr"/>
                      <a:r>
                        <a:rPr lang="pt-BR" sz="1400" dirty="0"/>
                        <a:t>*</a:t>
                      </a:r>
                    </a:p>
                  </a:txBody>
                  <a:tcPr>
                    <a:solidFill>
                      <a:schemeClr val="bg1"/>
                    </a:solidFill>
                  </a:tcPr>
                </a:tc>
                <a:tc>
                  <a:txBody>
                    <a:bodyPr/>
                    <a:lstStyle/>
                    <a:p>
                      <a:pPr algn="ctr"/>
                      <a:r>
                        <a:rPr lang="pt-BR" sz="1400" dirty="0"/>
                        <a:t>*</a:t>
                      </a:r>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228840117"/>
                  </a:ext>
                </a:extLst>
              </a:tr>
              <a:tr h="462775">
                <a:tc>
                  <a:txBody>
                    <a:bodyPr/>
                    <a:lstStyle/>
                    <a:p>
                      <a:r>
                        <a:rPr lang="pt-BR" sz="1400" dirty="0"/>
                        <a:t>Atributos</a:t>
                      </a:r>
                    </a:p>
                  </a:txBody>
                  <a:tcPr>
                    <a:solidFill>
                      <a:schemeClr val="bg1"/>
                    </a:solidFill>
                  </a:tcPr>
                </a:tc>
                <a:tc>
                  <a:txBody>
                    <a:bodyPr/>
                    <a:lstStyle/>
                    <a:p>
                      <a:pPr algn="ctr"/>
                      <a:endParaRPr lang="pt-BR" sz="1400" dirty="0"/>
                    </a:p>
                  </a:txBody>
                  <a:tcPr>
                    <a:solidFill>
                      <a:schemeClr val="bg1"/>
                    </a:solidFill>
                  </a:tcPr>
                </a:tc>
                <a:tc>
                  <a:txBody>
                    <a:bodyPr/>
                    <a:lstStyle/>
                    <a:p>
                      <a:pPr algn="ctr"/>
                      <a:r>
                        <a:rPr lang="pt-BR" sz="1400" dirty="0"/>
                        <a:t>*</a:t>
                      </a:r>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2268418975"/>
                  </a:ext>
                </a:extLst>
              </a:tr>
              <a:tr h="572051">
                <a:tc>
                  <a:txBody>
                    <a:bodyPr/>
                    <a:lstStyle/>
                    <a:p>
                      <a:r>
                        <a:rPr lang="pt-BR" sz="1400" dirty="0"/>
                        <a:t>Chave primária</a:t>
                      </a:r>
                    </a:p>
                  </a:txBody>
                  <a:tcPr>
                    <a:solidFill>
                      <a:schemeClr val="bg1"/>
                    </a:solidFill>
                  </a:tcPr>
                </a:tc>
                <a:tc>
                  <a:txBody>
                    <a:bodyPr/>
                    <a:lstStyle/>
                    <a:p>
                      <a:pPr algn="ctr"/>
                      <a:endParaRPr lang="pt-BR" sz="1400" dirty="0"/>
                    </a:p>
                  </a:txBody>
                  <a:tcPr>
                    <a:solidFill>
                      <a:schemeClr val="bg1"/>
                    </a:solidFill>
                  </a:tcPr>
                </a:tc>
                <a:tc>
                  <a:txBody>
                    <a:bodyPr/>
                    <a:lstStyle/>
                    <a:p>
                      <a:pPr algn="ctr"/>
                      <a:endParaRPr lang="pt-BR" sz="1400" dirty="0"/>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1255649288"/>
                  </a:ext>
                </a:extLst>
              </a:tr>
              <a:tr h="462775">
                <a:tc>
                  <a:txBody>
                    <a:bodyPr/>
                    <a:lstStyle/>
                    <a:p>
                      <a:r>
                        <a:rPr lang="pt-BR" sz="1400" dirty="0"/>
                        <a:t>Chave Estrangeira</a:t>
                      </a:r>
                    </a:p>
                  </a:txBody>
                  <a:tcPr>
                    <a:solidFill>
                      <a:schemeClr val="bg1"/>
                    </a:solidFill>
                  </a:tcPr>
                </a:tc>
                <a:tc>
                  <a:txBody>
                    <a:bodyPr/>
                    <a:lstStyle/>
                    <a:p>
                      <a:pPr algn="ctr"/>
                      <a:endParaRPr lang="pt-BR" sz="1400" dirty="0"/>
                    </a:p>
                  </a:txBody>
                  <a:tcPr>
                    <a:solidFill>
                      <a:schemeClr val="bg1"/>
                    </a:solidFill>
                  </a:tcPr>
                </a:tc>
                <a:tc>
                  <a:txBody>
                    <a:bodyPr/>
                    <a:lstStyle/>
                    <a:p>
                      <a:pPr algn="ctr"/>
                      <a:endParaRPr lang="pt-BR" sz="1400" dirty="0"/>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400" dirty="0"/>
                        <a:t>*</a:t>
                      </a:r>
                    </a:p>
                  </a:txBody>
                  <a:tcPr>
                    <a:solidFill>
                      <a:schemeClr val="bg1"/>
                    </a:solidFill>
                  </a:tcPr>
                </a:tc>
                <a:extLst>
                  <a:ext uri="{0D108BD9-81ED-4DB2-BD59-A6C34878D82A}">
                    <a16:rowId xmlns:a16="http://schemas.microsoft.com/office/drawing/2014/main" val="8094468"/>
                  </a:ext>
                </a:extLst>
              </a:tr>
              <a:tr h="518012">
                <a:tc>
                  <a:txBody>
                    <a:bodyPr/>
                    <a:lstStyle/>
                    <a:p>
                      <a:r>
                        <a:rPr lang="pt-BR" sz="1400" dirty="0"/>
                        <a:t>Tipo das colunas</a:t>
                      </a:r>
                    </a:p>
                  </a:txBody>
                  <a:tcPr>
                    <a:solidFill>
                      <a:schemeClr val="bg1"/>
                    </a:solidFill>
                  </a:tcPr>
                </a:tc>
                <a:tc>
                  <a:txBody>
                    <a:bodyPr/>
                    <a:lstStyle/>
                    <a:p>
                      <a:pPr algn="ctr"/>
                      <a:endParaRPr lang="pt-BR" sz="1400" dirty="0"/>
                    </a:p>
                  </a:txBody>
                  <a:tcPr>
                    <a:solidFill>
                      <a:schemeClr val="bg1"/>
                    </a:solidFill>
                  </a:tcPr>
                </a:tc>
                <a:tc>
                  <a:txBody>
                    <a:bodyPr/>
                    <a:lstStyle/>
                    <a:p>
                      <a:pPr algn="ctr"/>
                      <a:endParaRPr lang="pt-BR" sz="1400" dirty="0"/>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2507540488"/>
                  </a:ext>
                </a:extLst>
              </a:tr>
            </a:tbl>
          </a:graphicData>
        </a:graphic>
      </p:graphicFrame>
    </p:spTree>
    <p:extLst>
      <p:ext uri="{BB962C8B-B14F-4D97-AF65-F5344CB8AC3E}">
        <p14:creationId xmlns:p14="http://schemas.microsoft.com/office/powerpoint/2010/main" val="1991032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0882B-9503-9707-3584-E397907B4534}"/>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71EEED53-9629-7F92-0C7B-D58AA68D733B}"/>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t>O Modelo Conceitual captura a visão de negócio, define o “o que” </a:t>
            </a:r>
          </a:p>
          <a:p>
            <a:pPr algn="just"/>
            <a:endParaRPr lang="pt-BR" sz="2400" dirty="0"/>
          </a:p>
          <a:p>
            <a:pPr algn="just"/>
            <a:r>
              <a:rPr lang="pt-BR" sz="2400" dirty="0"/>
              <a:t>O Modelo Lógico traduz essa visão em estruturas de dados organizadas, independente do SGBD, definindo o "como" em termos de organização de dados.</a:t>
            </a:r>
          </a:p>
          <a:p>
            <a:pPr algn="just"/>
            <a:endParaRPr lang="pt-BR" sz="2400" dirty="0"/>
          </a:p>
          <a:p>
            <a:pPr algn="just"/>
            <a:r>
              <a:rPr lang="pt-BR" sz="2400" dirty="0"/>
              <a:t>O Modelo Físico detalha a implementação dessas estruturas em um SGBD específico, abordando o "como" em termos de tecnologia e desempenho</a:t>
            </a:r>
          </a:p>
        </p:txBody>
      </p:sp>
      <p:sp>
        <p:nvSpPr>
          <p:cNvPr id="18435" name="Text Box 4">
            <a:extLst>
              <a:ext uri="{FF2B5EF4-FFF2-40B4-BE49-F238E27FC236}">
                <a16:creationId xmlns:a16="http://schemas.microsoft.com/office/drawing/2014/main" id="{48215537-4144-BB5C-7D5F-26AFC84B6D3A}"/>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Resumindo</a:t>
            </a:r>
          </a:p>
        </p:txBody>
      </p:sp>
    </p:spTree>
    <p:extLst>
      <p:ext uri="{BB962C8B-B14F-4D97-AF65-F5344CB8AC3E}">
        <p14:creationId xmlns:p14="http://schemas.microsoft.com/office/powerpoint/2010/main" val="47500010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9FC88-22C0-59AA-2703-2C51C97E7E38}"/>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FAC3E646-A892-D38C-78FF-387A64E32FBD}"/>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Em um banco de dados, um relacionamento é a conexão ou associação entre duas (que no contexto de bancos de dados relacionais são representadas por tabelas). Essa conexão é estabelecida quando há uma dependência lógica entre os dados de uma tabela e os dados de outra tabela.</a:t>
            </a:r>
          </a:p>
        </p:txBody>
      </p:sp>
      <p:sp>
        <p:nvSpPr>
          <p:cNvPr id="18435" name="Text Box 4">
            <a:extLst>
              <a:ext uri="{FF2B5EF4-FFF2-40B4-BE49-F238E27FC236}">
                <a16:creationId xmlns:a16="http://schemas.microsoft.com/office/drawing/2014/main" id="{92D80947-0D82-24CF-1C68-D1EBFC289047}"/>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Relacionamentos</a:t>
            </a:r>
          </a:p>
        </p:txBody>
      </p:sp>
    </p:spTree>
    <p:extLst>
      <p:ext uri="{BB962C8B-B14F-4D97-AF65-F5344CB8AC3E}">
        <p14:creationId xmlns:p14="http://schemas.microsoft.com/office/powerpoint/2010/main" val="337086217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FDC20-DCC3-96BC-BB86-74A74BA201AD}"/>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77DD4C2-9B96-E205-4AAA-F4ACB5870C5B}"/>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r>
              <a:rPr lang="pt-BR" sz="3600" dirty="0"/>
              <a:t>Evitar Redundância de Dados</a:t>
            </a:r>
          </a:p>
          <a:p>
            <a:pPr marL="457200" indent="-457200" algn="just">
              <a:buFont typeface="Arial" panose="020B0604020202020204" pitchFamily="34" charset="0"/>
              <a:buChar char="•"/>
            </a:pPr>
            <a:r>
              <a:rPr lang="pt-BR" sz="3600" dirty="0"/>
              <a:t>Manter a Integridade dos Dados</a:t>
            </a:r>
          </a:p>
          <a:p>
            <a:pPr marL="457200" indent="-457200" algn="just">
              <a:buFont typeface="Arial" panose="020B0604020202020204" pitchFamily="34" charset="0"/>
              <a:buChar char="•"/>
            </a:pPr>
            <a:r>
              <a:rPr lang="pt-BR" sz="3600" dirty="0"/>
              <a:t>Representar Conexões do Mundo Real</a:t>
            </a:r>
          </a:p>
          <a:p>
            <a:pPr marL="457200" indent="-457200" algn="just">
              <a:buFont typeface="Arial" panose="020B0604020202020204" pitchFamily="34" charset="0"/>
              <a:buChar char="•"/>
            </a:pPr>
            <a:r>
              <a:rPr lang="pt-BR" sz="3600" dirty="0"/>
              <a:t>Facilitar Consultas e Análises</a:t>
            </a:r>
          </a:p>
        </p:txBody>
      </p:sp>
      <p:sp>
        <p:nvSpPr>
          <p:cNvPr id="18435" name="Text Box 4">
            <a:extLst>
              <a:ext uri="{FF2B5EF4-FFF2-40B4-BE49-F238E27FC236}">
                <a16:creationId xmlns:a16="http://schemas.microsoft.com/office/drawing/2014/main" id="{2B99F3D1-815B-2C46-1EA4-C945255F97BF}"/>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Relacionamentos</a:t>
            </a:r>
          </a:p>
        </p:txBody>
      </p:sp>
    </p:spTree>
    <p:extLst>
      <p:ext uri="{BB962C8B-B14F-4D97-AF65-F5344CB8AC3E}">
        <p14:creationId xmlns:p14="http://schemas.microsoft.com/office/powerpoint/2010/main" val="1765638431"/>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ABA16-F21F-A916-0B2A-FFF86C9E1072}"/>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2ACFC59-D9E8-A1DB-DC52-F9CBB91C7004}"/>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r>
              <a:rPr lang="pt-BR" sz="2800" dirty="0"/>
              <a:t>Chave: é uma coluna ou conjunto de colunas que identificam unicamente </a:t>
            </a:r>
            <a:r>
              <a:rPr lang="pt-BR" sz="2800" dirty="0" err="1"/>
              <a:t>ula</a:t>
            </a:r>
            <a:r>
              <a:rPr lang="pt-BR" sz="2800" dirty="0"/>
              <a:t> linha, devem ser, obrigatoriamente, única e não nula</a:t>
            </a:r>
          </a:p>
          <a:p>
            <a:pPr marL="457200" indent="-457200" algn="just">
              <a:buFont typeface="Arial" panose="020B0604020202020204" pitchFamily="34" charset="0"/>
              <a:buChar char="•"/>
            </a:pPr>
            <a:r>
              <a:rPr lang="pt-BR" sz="2800" dirty="0"/>
              <a:t>Chave estrangeira: é a chave de relação existente na tabela filha que liga com a chave da tabela pai</a:t>
            </a:r>
          </a:p>
        </p:txBody>
      </p:sp>
      <p:sp>
        <p:nvSpPr>
          <p:cNvPr id="18435" name="Text Box 4">
            <a:extLst>
              <a:ext uri="{FF2B5EF4-FFF2-40B4-BE49-F238E27FC236}">
                <a16:creationId xmlns:a16="http://schemas.microsoft.com/office/drawing/2014/main" id="{4AC0C44A-B431-D25A-D553-8500CE7DBE48}"/>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a:t>
            </a:r>
          </a:p>
        </p:txBody>
      </p:sp>
    </p:spTree>
    <p:extLst>
      <p:ext uri="{BB962C8B-B14F-4D97-AF65-F5344CB8AC3E}">
        <p14:creationId xmlns:p14="http://schemas.microsoft.com/office/powerpoint/2010/main" val="2606223928"/>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BCA1E-AD7E-85F6-4935-EF80AE95905C}"/>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8D9B2C7E-605F-0487-896E-EB4EEEA26E5A}"/>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407FF7FE-DE1D-FE79-DE9C-90296E08B3B3}"/>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Tipos (Cardinalidade)</a:t>
            </a:r>
          </a:p>
        </p:txBody>
      </p:sp>
      <p:sp>
        <p:nvSpPr>
          <p:cNvPr id="3" name="CaixaDeTexto 2">
            <a:extLst>
              <a:ext uri="{FF2B5EF4-FFF2-40B4-BE49-F238E27FC236}">
                <a16:creationId xmlns:a16="http://schemas.microsoft.com/office/drawing/2014/main" id="{6EA269C1-79C3-096D-ED06-2DBBFF2B340E}"/>
              </a:ext>
            </a:extLst>
          </p:cNvPr>
          <p:cNvSpPr txBox="1"/>
          <p:nvPr/>
        </p:nvSpPr>
        <p:spPr>
          <a:xfrm>
            <a:off x="877524" y="895248"/>
            <a:ext cx="7240172" cy="3293209"/>
          </a:xfrm>
          <a:prstGeom prst="rect">
            <a:avLst/>
          </a:prstGeom>
          <a:noFill/>
        </p:spPr>
        <p:txBody>
          <a:bodyPr wrap="square">
            <a:spAutoFit/>
          </a:bodyPr>
          <a:lstStyle/>
          <a:p>
            <a:pPr algn="just"/>
            <a:r>
              <a:rPr lang="pt-BR" sz="2400" dirty="0"/>
              <a:t>A cardinalidade de um relacionamento descreve quantos registros em uma tabela podem se relacionar com quantos registros em outra tabela. Os tipos mais comuns são:</a:t>
            </a:r>
          </a:p>
          <a:p>
            <a:pPr algn="just"/>
            <a:endParaRPr lang="pt-BR" sz="2800" dirty="0"/>
          </a:p>
          <a:p>
            <a:pPr marL="342900" indent="-342900" algn="just">
              <a:buFont typeface="Arial" panose="020B0604020202020204" pitchFamily="34" charset="0"/>
              <a:buChar char="•"/>
            </a:pPr>
            <a:r>
              <a:rPr lang="pt-BR" sz="2800" dirty="0"/>
              <a:t>Um para Um (1:1)</a:t>
            </a:r>
          </a:p>
          <a:p>
            <a:pPr marL="342900" indent="-342900" algn="just">
              <a:buFont typeface="Arial" panose="020B0604020202020204" pitchFamily="34" charset="0"/>
              <a:buChar char="•"/>
            </a:pPr>
            <a:r>
              <a:rPr lang="pt-BR" sz="2800" dirty="0"/>
              <a:t>Um para Muitos (1:N ou 1:*)</a:t>
            </a:r>
          </a:p>
          <a:p>
            <a:pPr marL="342900" indent="-342900" algn="just">
              <a:buFont typeface="Arial" panose="020B0604020202020204" pitchFamily="34" charset="0"/>
              <a:buChar char="•"/>
            </a:pPr>
            <a:r>
              <a:rPr lang="pt-BR" sz="2800" dirty="0"/>
              <a:t>Muitos para Muitos (N:N ou :)</a:t>
            </a:r>
          </a:p>
        </p:txBody>
      </p:sp>
    </p:spTree>
    <p:extLst>
      <p:ext uri="{BB962C8B-B14F-4D97-AF65-F5344CB8AC3E}">
        <p14:creationId xmlns:p14="http://schemas.microsoft.com/office/powerpoint/2010/main" val="2969263808"/>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0854B-45A3-B589-EE5F-3B4F5320AAC4}"/>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CB22F6E0-8D4A-0D4A-BA03-46137DB490FE}"/>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A9A023C4-7F5E-DDA1-8C11-47DC4B14C46E}"/>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Um (1:1)</a:t>
            </a:r>
          </a:p>
        </p:txBody>
      </p:sp>
      <p:sp>
        <p:nvSpPr>
          <p:cNvPr id="3" name="CaixaDeTexto 2">
            <a:extLst>
              <a:ext uri="{FF2B5EF4-FFF2-40B4-BE49-F238E27FC236}">
                <a16:creationId xmlns:a16="http://schemas.microsoft.com/office/drawing/2014/main" id="{959E2006-550C-A113-419D-BD71030BBB92}"/>
              </a:ext>
            </a:extLst>
          </p:cNvPr>
          <p:cNvSpPr txBox="1"/>
          <p:nvPr/>
        </p:nvSpPr>
        <p:spPr>
          <a:xfrm>
            <a:off x="877524" y="863590"/>
            <a:ext cx="7732402" cy="3416320"/>
          </a:xfrm>
          <a:prstGeom prst="rect">
            <a:avLst/>
          </a:prstGeom>
          <a:noFill/>
        </p:spPr>
        <p:txBody>
          <a:bodyPr wrap="square">
            <a:spAutoFit/>
          </a:bodyPr>
          <a:lstStyle/>
          <a:p>
            <a:pPr marL="342900" indent="-342900" algn="just">
              <a:buFont typeface="Arial" panose="020B0604020202020204" pitchFamily="34" charset="0"/>
              <a:buChar char="•"/>
            </a:pPr>
            <a:r>
              <a:rPr lang="pt-BR" sz="2400" dirty="0"/>
              <a:t>Um registro na Tabela A pode se relacionar com, no máximo, um registro na Tabela B, e vice-versa.</a:t>
            </a:r>
          </a:p>
          <a:p>
            <a:pPr marL="342900" indent="-342900" algn="just">
              <a:buFont typeface="Arial" panose="020B0604020202020204" pitchFamily="34" charset="0"/>
              <a:buChar char="•"/>
            </a:pPr>
            <a:r>
              <a:rPr lang="pt-BR" sz="2400" dirty="0"/>
              <a:t>É menos comum e geralmente indica que a informação poderia estar na mesma tabela, mas é separada por razões de otimização, segurança, ou se uma parte dos dados é opcional e raramente usada.</a:t>
            </a:r>
          </a:p>
          <a:p>
            <a:pPr algn="just"/>
            <a:r>
              <a:rPr lang="pt-BR" sz="2400" dirty="0"/>
              <a:t>Exemplo: Uma tabela de usuários, e a tabela de perfil contendo as configurações do perfil do usuário</a:t>
            </a:r>
          </a:p>
        </p:txBody>
      </p:sp>
    </p:spTree>
    <p:extLst>
      <p:ext uri="{BB962C8B-B14F-4D97-AF65-F5344CB8AC3E}">
        <p14:creationId xmlns:p14="http://schemas.microsoft.com/office/powerpoint/2010/main" val="284554269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246C5-DDAC-9737-5801-8AA7EAE3013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1D48EEB-D754-C666-832C-D636E40193CD}"/>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56C40B27-CD0F-A30A-EAC1-120E1A96C1AC}"/>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Um (1:1)</a:t>
            </a:r>
          </a:p>
        </p:txBody>
      </p:sp>
      <p:pic>
        <p:nvPicPr>
          <p:cNvPr id="6" name="Imagem 5" descr="Diagrama, Gráfico de caixa estreita&#10;&#10;O conteúdo gerado por IA pode estar incorreto.">
            <a:extLst>
              <a:ext uri="{FF2B5EF4-FFF2-40B4-BE49-F238E27FC236}">
                <a16:creationId xmlns:a16="http://schemas.microsoft.com/office/drawing/2014/main" id="{F370CBFF-518B-167F-1A60-71A006D0D3CE}"/>
              </a:ext>
            </a:extLst>
          </p:cNvPr>
          <p:cNvPicPr>
            <a:picLocks noChangeAspect="1"/>
          </p:cNvPicPr>
          <p:nvPr/>
        </p:nvPicPr>
        <p:blipFill>
          <a:blip r:embed="rId3"/>
          <a:stretch>
            <a:fillRect/>
          </a:stretch>
        </p:blipFill>
        <p:spPr>
          <a:xfrm>
            <a:off x="547671" y="1286933"/>
            <a:ext cx="8062255" cy="2781108"/>
          </a:xfrm>
          <a:prstGeom prst="rect">
            <a:avLst/>
          </a:prstGeom>
        </p:spPr>
      </p:pic>
    </p:spTree>
    <p:extLst>
      <p:ext uri="{BB962C8B-B14F-4D97-AF65-F5344CB8AC3E}">
        <p14:creationId xmlns:p14="http://schemas.microsoft.com/office/powerpoint/2010/main" val="4589173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E43BC-69A1-9BCB-C748-87A7228CC239}"/>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A4F30B3E-7A76-376B-3361-AC7D7B8EC800}"/>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652F3024-6F3A-13A0-4F42-7F33A9628E77}"/>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Muitos (1:N)</a:t>
            </a:r>
          </a:p>
        </p:txBody>
      </p:sp>
      <p:sp>
        <p:nvSpPr>
          <p:cNvPr id="3" name="CaixaDeTexto 2">
            <a:extLst>
              <a:ext uri="{FF2B5EF4-FFF2-40B4-BE49-F238E27FC236}">
                <a16:creationId xmlns:a16="http://schemas.microsoft.com/office/drawing/2014/main" id="{791A2EBB-09BE-30CF-B751-7FB96980AFCB}"/>
              </a:ext>
            </a:extLst>
          </p:cNvPr>
          <p:cNvSpPr txBox="1"/>
          <p:nvPr/>
        </p:nvSpPr>
        <p:spPr>
          <a:xfrm>
            <a:off x="610488" y="755738"/>
            <a:ext cx="8266474" cy="4154984"/>
          </a:xfrm>
          <a:prstGeom prst="rect">
            <a:avLst/>
          </a:prstGeom>
          <a:noFill/>
        </p:spPr>
        <p:txBody>
          <a:bodyPr wrap="square">
            <a:spAutoFit/>
          </a:bodyPr>
          <a:lstStyle/>
          <a:p>
            <a:pPr marL="342900" indent="-342900">
              <a:buFont typeface="Arial" panose="020B0604020202020204" pitchFamily="34" charset="0"/>
              <a:buChar char="•"/>
            </a:pPr>
            <a:r>
              <a:rPr lang="pt-BR" sz="2400" dirty="0"/>
              <a:t>Um registro na Tabela A pode se relacionar com um ou mais registros na Tabela B. No entanto, um registro na Tabela B pode se relacionar com, no máximo, um registro na Tabela A. </a:t>
            </a:r>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r>
              <a:rPr lang="pt-BR" sz="2400" dirty="0"/>
              <a:t>Este é o tipo de relacionamento mais comum.</a:t>
            </a:r>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r>
              <a:rPr lang="pt-BR" sz="2400" dirty="0"/>
              <a:t>Representa hierarquias ou inclusão de itens.</a:t>
            </a:r>
          </a:p>
          <a:p>
            <a:pPr marL="342900" indent="-342900">
              <a:buFont typeface="Arial" panose="020B0604020202020204" pitchFamily="34" charset="0"/>
              <a:buChar char="•"/>
            </a:pPr>
            <a:endParaRPr lang="pt-BR" sz="2400" dirty="0"/>
          </a:p>
          <a:p>
            <a:r>
              <a:rPr lang="pt-BR" sz="2400" dirty="0" err="1"/>
              <a:t>Exemplo:A</a:t>
            </a:r>
            <a:r>
              <a:rPr lang="pt-BR" sz="2400" dirty="0"/>
              <a:t> tabela de categorias e os produtos contidos nela</a:t>
            </a:r>
          </a:p>
        </p:txBody>
      </p:sp>
    </p:spTree>
    <p:extLst>
      <p:ext uri="{BB962C8B-B14F-4D97-AF65-F5344CB8AC3E}">
        <p14:creationId xmlns:p14="http://schemas.microsoft.com/office/powerpoint/2010/main" val="377948605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670E6-C5DB-793A-FDB7-6B1CFE22A738}"/>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9F7FFFCE-A5E2-5ABC-6124-9C7159C2C79B}"/>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D8CBC4D3-5302-E1C1-C914-F9898E0A96CC}"/>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Muitos (1:N)</a:t>
            </a:r>
          </a:p>
        </p:txBody>
      </p:sp>
      <p:pic>
        <p:nvPicPr>
          <p:cNvPr id="4" name="Imagem 3" descr="Diagrama&#10;&#10;O conteúdo gerado por IA pode estar incorreto.">
            <a:extLst>
              <a:ext uri="{FF2B5EF4-FFF2-40B4-BE49-F238E27FC236}">
                <a16:creationId xmlns:a16="http://schemas.microsoft.com/office/drawing/2014/main" id="{2B108CA7-D58C-C4B3-BC79-519E85E3A569}"/>
              </a:ext>
            </a:extLst>
          </p:cNvPr>
          <p:cNvPicPr>
            <a:picLocks noChangeAspect="1"/>
          </p:cNvPicPr>
          <p:nvPr/>
        </p:nvPicPr>
        <p:blipFill>
          <a:blip r:embed="rId3"/>
          <a:stretch>
            <a:fillRect/>
          </a:stretch>
        </p:blipFill>
        <p:spPr>
          <a:xfrm>
            <a:off x="1043645" y="1077130"/>
            <a:ext cx="7135106" cy="3326057"/>
          </a:xfrm>
          <a:prstGeom prst="rect">
            <a:avLst/>
          </a:prstGeom>
        </p:spPr>
      </p:pic>
    </p:spTree>
    <p:extLst>
      <p:ext uri="{BB962C8B-B14F-4D97-AF65-F5344CB8AC3E}">
        <p14:creationId xmlns:p14="http://schemas.microsoft.com/office/powerpoint/2010/main" val="228640462"/>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0F723-BB35-8A1A-1E71-E86C71FD01E2}"/>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0B36A00-9C76-4B1D-5044-44C509679033}"/>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5C8CE332-A2E8-72E8-5AA7-7EFE8C659386}"/>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Muitos para Muitos (N:N)</a:t>
            </a:r>
          </a:p>
        </p:txBody>
      </p:sp>
      <p:sp>
        <p:nvSpPr>
          <p:cNvPr id="3" name="CaixaDeTexto 2">
            <a:extLst>
              <a:ext uri="{FF2B5EF4-FFF2-40B4-BE49-F238E27FC236}">
                <a16:creationId xmlns:a16="http://schemas.microsoft.com/office/drawing/2014/main" id="{76EA40F1-3BE6-8D28-793B-EF95E9A9E52F}"/>
              </a:ext>
            </a:extLst>
          </p:cNvPr>
          <p:cNvSpPr txBox="1"/>
          <p:nvPr/>
        </p:nvSpPr>
        <p:spPr>
          <a:xfrm>
            <a:off x="610488" y="755738"/>
            <a:ext cx="8266474" cy="3477875"/>
          </a:xfrm>
          <a:prstGeom prst="rect">
            <a:avLst/>
          </a:prstGeom>
          <a:noFill/>
        </p:spPr>
        <p:txBody>
          <a:bodyPr wrap="square">
            <a:spAutoFit/>
          </a:bodyPr>
          <a:lstStyle/>
          <a:p>
            <a:pPr marL="342900" indent="-342900" algn="just">
              <a:buFont typeface="Arial" panose="020B0604020202020204" pitchFamily="34" charset="0"/>
              <a:buChar char="•"/>
            </a:pPr>
            <a:r>
              <a:rPr lang="pt-BR" sz="2000" dirty="0"/>
              <a:t>Um registro na Tabela A pode se relacionar com um ou mais registros na Tabela B, E um registro na Tabela B pode se relacionar com um ou mais registros na Tabela A.</a:t>
            </a:r>
          </a:p>
          <a:p>
            <a:pPr marL="342900" indent="-342900" algn="just">
              <a:buFont typeface="Arial" panose="020B0604020202020204" pitchFamily="34" charset="0"/>
              <a:buChar char="•"/>
            </a:pPr>
            <a:r>
              <a:rPr lang="pt-BR" sz="2000" dirty="0"/>
              <a:t>Representa situações onde ambos os lados do relacionamento podem ter múltiplas associações.</a:t>
            </a:r>
          </a:p>
          <a:p>
            <a:pPr algn="just"/>
            <a:r>
              <a:rPr lang="pt-BR" sz="2000" dirty="0"/>
              <a:t>Exemplo: Pedidos e seus </a:t>
            </a:r>
            <a:r>
              <a:rPr lang="pt-BR" sz="2000" dirty="0" err="1"/>
              <a:t>produdos</a:t>
            </a:r>
            <a:r>
              <a:rPr lang="pt-BR" sz="2000" dirty="0"/>
              <a:t>, onde um pedido pode ter muitos produtos e um </a:t>
            </a:r>
            <a:r>
              <a:rPr lang="pt-BR" sz="2000" dirty="0" err="1"/>
              <a:t>podrodu</a:t>
            </a:r>
            <a:r>
              <a:rPr lang="pt-BR" sz="2000" dirty="0"/>
              <a:t> pode ser comprado em muitos pedidos</a:t>
            </a:r>
          </a:p>
          <a:p>
            <a:pPr marL="342900" indent="-342900" algn="just">
              <a:buFont typeface="Arial" panose="020B0604020202020204" pitchFamily="34" charset="0"/>
              <a:buChar char="•"/>
            </a:pPr>
            <a:r>
              <a:rPr lang="pt-BR" sz="2000" dirty="0"/>
              <a:t>Não pode ser implementado diretamente. Requer uma tabela intermediária (também conhecida como tabela de junção, associação ou pivô). Esta tabela intermediária contém as chaves de ambas as tabelas originais, formando uma chave composta</a:t>
            </a:r>
            <a:r>
              <a:rPr lang="pt-BR" dirty="0"/>
              <a:t>.</a:t>
            </a:r>
            <a:endParaRPr lang="pt-BR" sz="2400" dirty="0"/>
          </a:p>
        </p:txBody>
      </p:sp>
    </p:spTree>
    <p:extLst>
      <p:ext uri="{BB962C8B-B14F-4D97-AF65-F5344CB8AC3E}">
        <p14:creationId xmlns:p14="http://schemas.microsoft.com/office/powerpoint/2010/main" val="99176673"/>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BCC75-ECB9-DFF6-3DBD-36B850C697BA}"/>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DDF9328-014A-FC0A-8C42-A427CAD7F12D}"/>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0DEC3CA5-9CBD-71B5-2165-DBBDD98CC8C0}"/>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Muitos (1:N)</a:t>
            </a:r>
          </a:p>
        </p:txBody>
      </p:sp>
      <p:pic>
        <p:nvPicPr>
          <p:cNvPr id="8" name="Imagem 7" descr="Diagrama&#10;&#10;O conteúdo gerado por IA pode estar incorreto.">
            <a:extLst>
              <a:ext uri="{FF2B5EF4-FFF2-40B4-BE49-F238E27FC236}">
                <a16:creationId xmlns:a16="http://schemas.microsoft.com/office/drawing/2014/main" id="{86135453-63C4-D4CA-E84A-6B16AAD10B99}"/>
              </a:ext>
            </a:extLst>
          </p:cNvPr>
          <p:cNvPicPr>
            <a:picLocks noChangeAspect="1"/>
          </p:cNvPicPr>
          <p:nvPr/>
        </p:nvPicPr>
        <p:blipFill>
          <a:blip r:embed="rId3"/>
          <a:stretch>
            <a:fillRect/>
          </a:stretch>
        </p:blipFill>
        <p:spPr>
          <a:xfrm>
            <a:off x="1328737" y="852487"/>
            <a:ext cx="6486525" cy="3438525"/>
          </a:xfrm>
          <a:prstGeom prst="rect">
            <a:avLst/>
          </a:prstGeom>
        </p:spPr>
      </p:pic>
    </p:spTree>
    <p:extLst>
      <p:ext uri="{BB962C8B-B14F-4D97-AF65-F5344CB8AC3E}">
        <p14:creationId xmlns:p14="http://schemas.microsoft.com/office/powerpoint/2010/main" val="3448458752"/>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B5CEE-C562-A744-AAD2-024E22EE418E}"/>
            </a:ext>
          </a:extLst>
        </p:cNvPr>
        <p:cNvGrpSpPr/>
        <p:nvPr/>
      </p:nvGrpSpPr>
      <p:grpSpPr>
        <a:xfrm>
          <a:off x="0" y="0"/>
          <a:ext cx="0" cy="0"/>
          <a:chOff x="0" y="0"/>
          <a:chExt cx="0" cy="0"/>
        </a:xfrm>
      </p:grpSpPr>
      <p:sp>
        <p:nvSpPr>
          <p:cNvPr id="11" name="Text Box 4">
            <a:extLst>
              <a:ext uri="{FF2B5EF4-FFF2-40B4-BE49-F238E27FC236}">
                <a16:creationId xmlns:a16="http://schemas.microsoft.com/office/drawing/2014/main" id="{9A7E5EA8-DCC5-1EBA-8B6E-EF30D45CEF9F}"/>
              </a:ext>
            </a:extLst>
          </p:cNvPr>
          <p:cNvSpPr txBox="1">
            <a:spLocks noChangeArrowheads="1"/>
          </p:cNvSpPr>
          <p:nvPr/>
        </p:nvSpPr>
        <p:spPr bwMode="auto">
          <a:xfrm>
            <a:off x="942259" y="199820"/>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700" b="1" i="1" dirty="0">
                <a:solidFill>
                  <a:srgbClr val="0033CC"/>
                </a:solidFill>
                <a:latin typeface="Verdana" panose="020B0604030504040204" pitchFamily="34" charset="0"/>
              </a:rPr>
              <a:t>VENDAS – </a:t>
            </a:r>
            <a:r>
              <a:rPr lang="en-US" sz="2700" b="1" i="1" dirty="0" err="1">
                <a:solidFill>
                  <a:srgbClr val="0033CC"/>
                </a:solidFill>
                <a:latin typeface="Verdana" panose="020B0604030504040204" pitchFamily="34" charset="0"/>
              </a:rPr>
              <a:t>bd_vendas</a:t>
            </a:r>
            <a:r>
              <a:rPr lang="en-US" sz="2700" b="1" i="1" dirty="0">
                <a:solidFill>
                  <a:srgbClr val="0033CC"/>
                </a:solidFill>
                <a:latin typeface="Verdana" panose="020B0604030504040204" pitchFamily="34" charset="0"/>
              </a:rPr>
              <a:t> – </a:t>
            </a:r>
            <a:r>
              <a:rPr lang="en-US" sz="2400" b="1" i="1" dirty="0" err="1">
                <a:solidFill>
                  <a:srgbClr val="0033CC"/>
                </a:solidFill>
                <a:latin typeface="Verdana" panose="020B0604030504040204" pitchFamily="34" charset="0"/>
              </a:rPr>
              <a:t>Modelo</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Físico</a:t>
            </a:r>
            <a:endParaRPr lang="en-US" sz="2700" b="1" i="1" dirty="0">
              <a:solidFill>
                <a:srgbClr val="0033CC"/>
              </a:solidFill>
              <a:latin typeface="Verdana" panose="020B0604030504040204" pitchFamily="34" charset="0"/>
            </a:endParaRPr>
          </a:p>
        </p:txBody>
      </p:sp>
      <p:sp>
        <p:nvSpPr>
          <p:cNvPr id="4" name="Text Box 4">
            <a:extLst>
              <a:ext uri="{FF2B5EF4-FFF2-40B4-BE49-F238E27FC236}">
                <a16:creationId xmlns:a16="http://schemas.microsoft.com/office/drawing/2014/main" id="{CAB9CA4F-FB40-54AC-B06A-DE3CE2825A98}"/>
              </a:ext>
            </a:extLst>
          </p:cNvPr>
          <p:cNvSpPr txBox="1">
            <a:spLocks noChangeArrowheads="1"/>
          </p:cNvSpPr>
          <p:nvPr/>
        </p:nvSpPr>
        <p:spPr bwMode="auto">
          <a:xfrm>
            <a:off x="2440212" y="751050"/>
            <a:ext cx="54459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000" b="1" i="1" dirty="0" err="1">
                <a:solidFill>
                  <a:srgbClr val="0033CC"/>
                </a:solidFill>
                <a:latin typeface="Verdana" panose="020B0604030504040204" pitchFamily="34" charset="0"/>
              </a:rPr>
              <a:t>Entendendo</a:t>
            </a:r>
            <a:r>
              <a:rPr lang="en-US" sz="2000" b="1" i="1" dirty="0">
                <a:solidFill>
                  <a:srgbClr val="0033CC"/>
                </a:solidFill>
                <a:latin typeface="Verdana" panose="020B0604030504040204" pitchFamily="34" charset="0"/>
              </a:rPr>
              <a:t> o </a:t>
            </a:r>
            <a:r>
              <a:rPr lang="en-US" sz="2000" b="1" i="1" dirty="0" err="1">
                <a:solidFill>
                  <a:srgbClr val="0033CC"/>
                </a:solidFill>
                <a:latin typeface="Verdana" panose="020B0604030504040204" pitchFamily="34" charset="0"/>
              </a:rPr>
              <a:t>relacionamento</a:t>
            </a:r>
            <a:endParaRPr lang="en-US" sz="2000" b="1" i="1" dirty="0">
              <a:solidFill>
                <a:srgbClr val="0033CC"/>
              </a:solidFill>
              <a:latin typeface="Verdana" panose="020B0604030504040204" pitchFamily="34" charset="0"/>
            </a:endParaRPr>
          </a:p>
        </p:txBody>
      </p:sp>
      <p:pic>
        <p:nvPicPr>
          <p:cNvPr id="10" name="Imagem 9" descr="Linha do tempo&#10;&#10;O conteúdo gerado por IA pode estar incorreto.">
            <a:extLst>
              <a:ext uri="{FF2B5EF4-FFF2-40B4-BE49-F238E27FC236}">
                <a16:creationId xmlns:a16="http://schemas.microsoft.com/office/drawing/2014/main" id="{35B983C0-D447-5361-3963-4BBE523CA532}"/>
              </a:ext>
            </a:extLst>
          </p:cNvPr>
          <p:cNvPicPr>
            <a:picLocks noChangeAspect="1"/>
          </p:cNvPicPr>
          <p:nvPr/>
        </p:nvPicPr>
        <p:blipFill>
          <a:blip r:embed="rId3"/>
          <a:stretch>
            <a:fillRect/>
          </a:stretch>
        </p:blipFill>
        <p:spPr>
          <a:xfrm>
            <a:off x="553329" y="1151160"/>
            <a:ext cx="8285871" cy="3705225"/>
          </a:xfrm>
          <a:prstGeom prst="rect">
            <a:avLst/>
          </a:prstGeom>
        </p:spPr>
      </p:pic>
    </p:spTree>
    <p:extLst>
      <p:ext uri="{BB962C8B-B14F-4D97-AF65-F5344CB8AC3E}">
        <p14:creationId xmlns:p14="http://schemas.microsoft.com/office/powerpoint/2010/main" val="15850634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9BF3-2919-B6D7-AB10-44FD1D57FDC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050D5D0C-5FDB-E621-018C-1FA22EA6C090}"/>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7040E70E-678E-970F-1031-24ABFBB2B3AC}"/>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EXERCÍCIO</a:t>
            </a:r>
          </a:p>
        </p:txBody>
      </p:sp>
      <p:sp>
        <p:nvSpPr>
          <p:cNvPr id="3" name="CaixaDeTexto 2">
            <a:extLst>
              <a:ext uri="{FF2B5EF4-FFF2-40B4-BE49-F238E27FC236}">
                <a16:creationId xmlns:a16="http://schemas.microsoft.com/office/drawing/2014/main" id="{91AC9997-E91D-4C22-F1D0-69CF0DAFE713}"/>
              </a:ext>
            </a:extLst>
          </p:cNvPr>
          <p:cNvSpPr txBox="1"/>
          <p:nvPr/>
        </p:nvSpPr>
        <p:spPr>
          <a:xfrm>
            <a:off x="610488" y="755738"/>
            <a:ext cx="8266474" cy="1200329"/>
          </a:xfrm>
          <a:prstGeom prst="rect">
            <a:avLst/>
          </a:prstGeom>
          <a:noFill/>
        </p:spPr>
        <p:txBody>
          <a:bodyPr wrap="square">
            <a:spAutoFit/>
          </a:bodyPr>
          <a:lstStyle/>
          <a:p>
            <a:pPr algn="just"/>
            <a:r>
              <a:rPr lang="pt-BR" sz="2400" dirty="0"/>
              <a:t>A partir do modelo, do dicionário de dados e dos dados fornecidos, criar e carregar a base de dados.</a:t>
            </a:r>
          </a:p>
          <a:p>
            <a:pPr algn="just"/>
            <a:endParaRPr lang="pt-BR" sz="2400" dirty="0"/>
          </a:p>
        </p:txBody>
      </p:sp>
    </p:spTree>
    <p:extLst>
      <p:ext uri="{BB962C8B-B14F-4D97-AF65-F5344CB8AC3E}">
        <p14:creationId xmlns:p14="http://schemas.microsoft.com/office/powerpoint/2010/main" val="345626716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16312-0FD8-C25B-2557-8B8E25512CAD}"/>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60AC3293-AE0E-34AF-8E59-0A380DA7C87B}"/>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D7959349-4E36-829A-E3BA-590AEE588B89}"/>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Dimensional</a:t>
            </a:r>
          </a:p>
        </p:txBody>
      </p:sp>
      <p:sp>
        <p:nvSpPr>
          <p:cNvPr id="3" name="CaixaDeTexto 2">
            <a:extLst>
              <a:ext uri="{FF2B5EF4-FFF2-40B4-BE49-F238E27FC236}">
                <a16:creationId xmlns:a16="http://schemas.microsoft.com/office/drawing/2014/main" id="{8484ECC4-17F5-BEE0-1B20-68B935703AEC}"/>
              </a:ext>
            </a:extLst>
          </p:cNvPr>
          <p:cNvSpPr txBox="1"/>
          <p:nvPr/>
        </p:nvSpPr>
        <p:spPr>
          <a:xfrm>
            <a:off x="610488" y="755738"/>
            <a:ext cx="8266474" cy="3046988"/>
          </a:xfrm>
          <a:prstGeom prst="rect">
            <a:avLst/>
          </a:prstGeom>
          <a:noFill/>
        </p:spPr>
        <p:txBody>
          <a:bodyPr wrap="square">
            <a:spAutoFit/>
          </a:bodyPr>
          <a:lstStyle/>
          <a:p>
            <a:pPr algn="just"/>
            <a:r>
              <a:rPr lang="pt-BR" sz="2400" dirty="0"/>
              <a:t>O modelo dimensional é uma técnica de modelagem de dados usada principalmente em projetos de Data </a:t>
            </a:r>
            <a:r>
              <a:rPr lang="pt-BR" sz="2400" dirty="0" err="1"/>
              <a:t>Warehousing</a:t>
            </a:r>
            <a:r>
              <a:rPr lang="pt-BR" sz="2400" dirty="0"/>
              <a:t> e Business </a:t>
            </a:r>
            <a:r>
              <a:rPr lang="pt-BR" sz="2400" dirty="0" err="1"/>
              <a:t>Intelligence</a:t>
            </a:r>
            <a:r>
              <a:rPr lang="pt-BR" sz="2400" dirty="0"/>
              <a:t> (BI). Ele foi proposto por Ralph </a:t>
            </a:r>
            <a:r>
              <a:rPr lang="pt-BR" sz="2400" dirty="0" err="1"/>
              <a:t>Kimball</a:t>
            </a:r>
            <a:r>
              <a:rPr lang="pt-BR" sz="2400" dirty="0"/>
              <a:t> e é muito utilizado para organizar e estruturar dados visando facilitar consultas analíticas, criação de relatórios e interpretação de grandes volumes de dados históricos.</a:t>
            </a:r>
          </a:p>
          <a:p>
            <a:pPr algn="just"/>
            <a:endParaRPr lang="pt-BR" sz="2400" dirty="0"/>
          </a:p>
        </p:txBody>
      </p:sp>
    </p:spTree>
    <p:extLst>
      <p:ext uri="{BB962C8B-B14F-4D97-AF65-F5344CB8AC3E}">
        <p14:creationId xmlns:p14="http://schemas.microsoft.com/office/powerpoint/2010/main" val="31126135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B433B-91AA-7BF0-F5AD-1F1EBB822796}"/>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3EC577F6-2E96-C3C6-5D91-9ECD0B9308F4}"/>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429F7D84-F9E0-9CE1-18EC-54C3C9EAE8FA}"/>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Dimensional</a:t>
            </a:r>
          </a:p>
        </p:txBody>
      </p:sp>
      <p:sp>
        <p:nvSpPr>
          <p:cNvPr id="3" name="CaixaDeTexto 2">
            <a:extLst>
              <a:ext uri="{FF2B5EF4-FFF2-40B4-BE49-F238E27FC236}">
                <a16:creationId xmlns:a16="http://schemas.microsoft.com/office/drawing/2014/main" id="{C565E505-18ED-CFE5-13BB-FED9D6926AB8}"/>
              </a:ext>
            </a:extLst>
          </p:cNvPr>
          <p:cNvSpPr txBox="1"/>
          <p:nvPr/>
        </p:nvSpPr>
        <p:spPr>
          <a:xfrm>
            <a:off x="610488" y="755738"/>
            <a:ext cx="8266474" cy="4524315"/>
          </a:xfrm>
          <a:prstGeom prst="rect">
            <a:avLst/>
          </a:prstGeom>
          <a:noFill/>
        </p:spPr>
        <p:txBody>
          <a:bodyPr wrap="square">
            <a:spAutoFit/>
          </a:bodyPr>
          <a:lstStyle/>
          <a:p>
            <a:pPr algn="just"/>
            <a:r>
              <a:rPr lang="pt-BR" sz="2400" dirty="0"/>
              <a:t>No modelo dimensional, os dados são organizados de forma que fiquem intuitivos para o usuário final de negócio, geralmente utilizando dois tipos principais de tabelas:</a:t>
            </a:r>
          </a:p>
          <a:p>
            <a:pPr algn="just"/>
            <a:endParaRPr lang="pt-BR" sz="2400" dirty="0"/>
          </a:p>
          <a:p>
            <a:pPr marL="342900" indent="-342900" algn="just">
              <a:buFont typeface="Arial" panose="020B0604020202020204" pitchFamily="34" charset="0"/>
              <a:buChar char="•"/>
            </a:pPr>
            <a:r>
              <a:rPr lang="pt-BR" sz="2400" dirty="0"/>
              <a:t>Tabela Fato: Armazena os dados quantitativos ou métricas do negócio (exemplo: vendas, valores, quantidade).</a:t>
            </a:r>
          </a:p>
          <a:p>
            <a:pPr marL="342900" indent="-342900" algn="just">
              <a:buFont typeface="Arial" panose="020B0604020202020204" pitchFamily="34" charset="0"/>
              <a:buChar char="•"/>
            </a:pPr>
            <a:r>
              <a:rPr lang="pt-BR" sz="2400" dirty="0"/>
              <a:t>Tabelas Dimensão: Guardam os contextos ou descrições das medições, respondendo às perguntas “quem?”, “quando?”, “onde?”, “o quê?” (exemplo: produto, cliente, tempo, região).</a:t>
            </a:r>
          </a:p>
          <a:p>
            <a:pPr algn="just"/>
            <a:endParaRPr lang="pt-BR" sz="2400" dirty="0"/>
          </a:p>
        </p:txBody>
      </p:sp>
    </p:spTree>
    <p:extLst>
      <p:ext uri="{BB962C8B-B14F-4D97-AF65-F5344CB8AC3E}">
        <p14:creationId xmlns:p14="http://schemas.microsoft.com/office/powerpoint/2010/main" val="303305743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C0C04-9EF1-0C3E-D813-61E64BAE3FE5}"/>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AB1BAC0-C630-4B61-8A84-7EE35D0A379C}"/>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61A86379-45DE-2D34-0911-24FA19D27D97}"/>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Dimensional</a:t>
            </a:r>
          </a:p>
        </p:txBody>
      </p:sp>
      <p:sp>
        <p:nvSpPr>
          <p:cNvPr id="3" name="CaixaDeTexto 2">
            <a:extLst>
              <a:ext uri="{FF2B5EF4-FFF2-40B4-BE49-F238E27FC236}">
                <a16:creationId xmlns:a16="http://schemas.microsoft.com/office/drawing/2014/main" id="{092A7F94-229B-316A-013B-2AA36E7CFB9D}"/>
              </a:ext>
            </a:extLst>
          </p:cNvPr>
          <p:cNvSpPr txBox="1"/>
          <p:nvPr/>
        </p:nvSpPr>
        <p:spPr>
          <a:xfrm>
            <a:off x="610488" y="755738"/>
            <a:ext cx="8266474" cy="3416320"/>
          </a:xfrm>
          <a:prstGeom prst="rect">
            <a:avLst/>
          </a:prstGeom>
          <a:noFill/>
        </p:spPr>
        <p:txBody>
          <a:bodyPr wrap="square">
            <a:spAutoFit/>
          </a:bodyPr>
          <a:lstStyle/>
          <a:p>
            <a:pPr algn="just"/>
            <a:r>
              <a:rPr lang="pt-BR" sz="2400" dirty="0"/>
              <a:t>As principais características são</a:t>
            </a:r>
          </a:p>
          <a:p>
            <a:pPr marL="342900" indent="-342900" algn="just">
              <a:buFont typeface="Arial" panose="020B0604020202020204" pitchFamily="34" charset="0"/>
              <a:buChar char="•"/>
            </a:pPr>
            <a:endParaRPr lang="pt-BR" sz="2400" dirty="0"/>
          </a:p>
          <a:p>
            <a:pPr marL="342900" indent="-342900" algn="just">
              <a:buFont typeface="Arial" panose="020B0604020202020204" pitchFamily="34" charset="0"/>
              <a:buChar char="•"/>
            </a:pPr>
            <a:r>
              <a:rPr lang="pt-BR" sz="2400" dirty="0"/>
              <a:t>Foco em facilitar análises e consultas rápidas.</a:t>
            </a:r>
          </a:p>
          <a:p>
            <a:pPr marL="342900" indent="-342900" algn="just">
              <a:buFont typeface="Arial" panose="020B0604020202020204" pitchFamily="34" charset="0"/>
              <a:buChar char="•"/>
            </a:pPr>
            <a:endParaRPr lang="pt-BR" sz="2400" dirty="0"/>
          </a:p>
          <a:p>
            <a:pPr marL="342900" indent="-342900" algn="just">
              <a:buFont typeface="Arial" panose="020B0604020202020204" pitchFamily="34" charset="0"/>
              <a:buChar char="•"/>
            </a:pPr>
            <a:r>
              <a:rPr lang="pt-BR" sz="2400" dirty="0"/>
              <a:t>Estrutura simples, geralmente organizada em estrela (star </a:t>
            </a:r>
            <a:r>
              <a:rPr lang="pt-BR" sz="2400" dirty="0" err="1"/>
              <a:t>schema</a:t>
            </a:r>
            <a:r>
              <a:rPr lang="pt-BR" sz="2400" dirty="0"/>
              <a:t>) ou floco de neve (</a:t>
            </a:r>
            <a:r>
              <a:rPr lang="pt-BR" sz="2400" dirty="0" err="1"/>
              <a:t>snowflake</a:t>
            </a:r>
            <a:r>
              <a:rPr lang="pt-BR" sz="2400" dirty="0"/>
              <a:t> </a:t>
            </a:r>
            <a:r>
              <a:rPr lang="pt-BR" sz="2400" dirty="0" err="1"/>
              <a:t>schema</a:t>
            </a:r>
            <a:r>
              <a:rPr lang="pt-BR" sz="2400" dirty="0"/>
              <a:t>).</a:t>
            </a:r>
          </a:p>
          <a:p>
            <a:pPr marL="342900" indent="-342900" algn="just">
              <a:buFont typeface="Arial" panose="020B0604020202020204" pitchFamily="34" charset="0"/>
              <a:buChar char="•"/>
            </a:pPr>
            <a:endParaRPr lang="pt-BR" sz="2400" dirty="0"/>
          </a:p>
          <a:p>
            <a:pPr marL="342900" indent="-342900" algn="just">
              <a:buFont typeface="Arial" panose="020B0604020202020204" pitchFamily="34" charset="0"/>
              <a:buChar char="•"/>
            </a:pPr>
            <a:r>
              <a:rPr lang="pt-BR" sz="2400" dirty="0"/>
              <a:t>Otimizado para leitura de dados, não para operações transacionais.</a:t>
            </a:r>
          </a:p>
        </p:txBody>
      </p:sp>
    </p:spTree>
    <p:extLst>
      <p:ext uri="{BB962C8B-B14F-4D97-AF65-F5344CB8AC3E}">
        <p14:creationId xmlns:p14="http://schemas.microsoft.com/office/powerpoint/2010/main" val="3489849207"/>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D051F-0A6D-BEE6-FDB0-D81252C55E5B}"/>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89FC778C-3501-AA6D-BA1C-82732AB48667}"/>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934B7245-0F33-F700-0928-C6751AA6568A}"/>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Dimensional</a:t>
            </a:r>
          </a:p>
        </p:txBody>
      </p:sp>
      <p:sp>
        <p:nvSpPr>
          <p:cNvPr id="3" name="CaixaDeTexto 2">
            <a:extLst>
              <a:ext uri="{FF2B5EF4-FFF2-40B4-BE49-F238E27FC236}">
                <a16:creationId xmlns:a16="http://schemas.microsoft.com/office/drawing/2014/main" id="{C2ABC715-FE1C-58A1-BA7A-42580D17A1EC}"/>
              </a:ext>
            </a:extLst>
          </p:cNvPr>
          <p:cNvSpPr txBox="1"/>
          <p:nvPr/>
        </p:nvSpPr>
        <p:spPr>
          <a:xfrm>
            <a:off x="610488" y="755738"/>
            <a:ext cx="8266474" cy="3908762"/>
          </a:xfrm>
          <a:prstGeom prst="rect">
            <a:avLst/>
          </a:prstGeom>
          <a:noFill/>
        </p:spPr>
        <p:txBody>
          <a:bodyPr wrap="square">
            <a:spAutoFit/>
          </a:bodyPr>
          <a:lstStyle/>
          <a:p>
            <a:pPr algn="just"/>
            <a:r>
              <a:rPr lang="pt-BR" sz="2000" dirty="0"/>
              <a:t>O modelo dimensional serve para organizar dados de uma maneira que seja eficiente, clara e intuitiva para análises, dashboards e relatórios gerenciais. Seu uso principal é:</a:t>
            </a:r>
          </a:p>
          <a:p>
            <a:pPr algn="just"/>
            <a:endParaRPr lang="pt-BR" sz="2000" dirty="0"/>
          </a:p>
          <a:p>
            <a:pPr marL="342900" indent="-342900" algn="just">
              <a:buFont typeface="Arial" panose="020B0604020202020204" pitchFamily="34" charset="0"/>
              <a:buChar char="•"/>
            </a:pPr>
            <a:r>
              <a:rPr lang="pt-BR" sz="2000" dirty="0"/>
              <a:t>Apoio à tomada de decisão: Facilita gerar relatórios e indicadores-chave de negócio (KPIs).</a:t>
            </a:r>
          </a:p>
          <a:p>
            <a:pPr marL="342900" indent="-342900" algn="just">
              <a:buFont typeface="Arial" panose="020B0604020202020204" pitchFamily="34" charset="0"/>
              <a:buChar char="•"/>
            </a:pPr>
            <a:r>
              <a:rPr lang="pt-BR" sz="2000" dirty="0"/>
              <a:t>Velocidade de consulta: Melhora o tempo de resposta de consultas analíticas complexas.</a:t>
            </a:r>
          </a:p>
          <a:p>
            <a:pPr marL="342900" indent="-342900" algn="just">
              <a:buFont typeface="Arial" panose="020B0604020202020204" pitchFamily="34" charset="0"/>
              <a:buChar char="•"/>
            </a:pPr>
            <a:r>
              <a:rPr lang="pt-BR" sz="2000" dirty="0"/>
              <a:t>Histórico de informações: Permite armazenar e consultar grandes volumes de dados históricos.</a:t>
            </a:r>
          </a:p>
          <a:p>
            <a:pPr marL="342900" indent="-342900" algn="just">
              <a:buFont typeface="Arial" panose="020B0604020202020204" pitchFamily="34" charset="0"/>
              <a:buChar char="•"/>
            </a:pPr>
            <a:r>
              <a:rPr lang="pt-BR" sz="2000" dirty="0"/>
              <a:t>Simplicidade: Ajuda usuários de negócios a entender e acessar dados sem conhecimento técnico profundo.</a:t>
            </a:r>
          </a:p>
        </p:txBody>
      </p:sp>
    </p:spTree>
    <p:extLst>
      <p:ext uri="{BB962C8B-B14F-4D97-AF65-F5344CB8AC3E}">
        <p14:creationId xmlns:p14="http://schemas.microsoft.com/office/powerpoint/2010/main" val="3977737242"/>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045B59B-615E-4718-A150-42DE5D03E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6CF29CD-38B8-4924-BA11-6D6051748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p:cNvSpPr>
            <a:spLocks noChangeArrowheads="1"/>
          </p:cNvSpPr>
          <p:nvPr/>
        </p:nvSpPr>
        <p:spPr bwMode="auto">
          <a:xfrm>
            <a:off x="530258" y="3376747"/>
            <a:ext cx="8074057" cy="1361508"/>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fontScale="55000" lnSpcReduction="20000"/>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a:solidFill>
                  <a:srgbClr val="FFFFFF"/>
                </a:solidFill>
                <a:latin typeface="+mj-lt"/>
                <a:ea typeface="+mj-ea"/>
                <a:cs typeface="+mj-cs"/>
              </a:rPr>
              <a:t>DDL – Data Definition Language</a:t>
            </a:r>
          </a:p>
          <a:p>
            <a:pPr algn="ctr">
              <a:lnSpc>
                <a:spcPct val="90000"/>
              </a:lnSpc>
              <a:spcBef>
                <a:spcPct val="0"/>
              </a:spcBef>
              <a:spcAft>
                <a:spcPts val="600"/>
              </a:spcAft>
            </a:pPr>
            <a:r>
              <a:rPr lang="en-US" altLang="pt-BR" sz="3800" kern="1200" dirty="0">
                <a:solidFill>
                  <a:srgbClr val="FFFFFF"/>
                </a:solidFill>
                <a:latin typeface="+mj-lt"/>
                <a:ea typeface="+mj-ea"/>
                <a:cs typeface="+mj-cs"/>
              </a:rPr>
              <a:t>CREATE , ALTER e DROP</a:t>
            </a:r>
          </a:p>
          <a:p>
            <a:pPr algn="ctr">
              <a:lnSpc>
                <a:spcPct val="90000"/>
              </a:lnSpc>
              <a:spcBef>
                <a:spcPct val="0"/>
              </a:spcBef>
              <a:spcAft>
                <a:spcPts val="600"/>
              </a:spcAft>
            </a:pPr>
            <a:r>
              <a:rPr lang="en-US" altLang="pt-BR" sz="3800" kern="1200" dirty="0" err="1">
                <a:solidFill>
                  <a:srgbClr val="FFFFFF"/>
                </a:solidFill>
                <a:latin typeface="+mj-lt"/>
                <a:ea typeface="+mj-ea"/>
                <a:cs typeface="+mj-cs"/>
              </a:rPr>
              <a:t>Linguagem</a:t>
            </a:r>
            <a:r>
              <a:rPr lang="en-US" altLang="pt-BR" sz="3800" kern="1200" dirty="0">
                <a:solidFill>
                  <a:srgbClr val="FFFFFF"/>
                </a:solidFill>
                <a:latin typeface="+mj-lt"/>
                <a:ea typeface="+mj-ea"/>
                <a:cs typeface="+mj-cs"/>
              </a:rPr>
              <a:t> de </a:t>
            </a:r>
            <a:r>
              <a:rPr lang="en-US" altLang="pt-BR" sz="3800" kern="1200" dirty="0" err="1">
                <a:solidFill>
                  <a:srgbClr val="FFFFFF"/>
                </a:solidFill>
                <a:latin typeface="+mj-lt"/>
                <a:ea typeface="+mj-ea"/>
                <a:cs typeface="+mj-cs"/>
              </a:rPr>
              <a:t>Definição</a:t>
            </a:r>
            <a:r>
              <a:rPr lang="en-US" altLang="pt-BR" sz="3800" kern="1200" dirty="0">
                <a:solidFill>
                  <a:srgbClr val="FFFFFF"/>
                </a:solidFill>
                <a:latin typeface="+mj-lt"/>
                <a:ea typeface="+mj-ea"/>
                <a:cs typeface="+mj-cs"/>
              </a:rPr>
              <a:t> de </a:t>
            </a:r>
            <a:r>
              <a:rPr lang="en-US" altLang="pt-BR" sz="3800" kern="1200" dirty="0" err="1">
                <a:solidFill>
                  <a:srgbClr val="FFFFFF"/>
                </a:solidFill>
                <a:latin typeface="+mj-lt"/>
                <a:ea typeface="+mj-ea"/>
                <a:cs typeface="+mj-cs"/>
              </a:rPr>
              <a:t>Estruturas</a:t>
            </a:r>
            <a:r>
              <a:rPr lang="en-US" altLang="pt-BR" sz="3800" kern="1200" dirty="0">
                <a:solidFill>
                  <a:srgbClr val="FFFFFF"/>
                </a:solidFill>
                <a:latin typeface="+mj-lt"/>
                <a:ea typeface="+mj-ea"/>
                <a:cs typeface="+mj-cs"/>
              </a:rPr>
              <a:t> de Dado</a:t>
            </a:r>
          </a:p>
        </p:txBody>
      </p:sp>
      <p:pic>
        <p:nvPicPr>
          <p:cNvPr id="6" name="Imagem 5" descr="Uma imagem contendo objeto, relógio, computador, monitor&#10;&#10;Descrição gerada automaticamente">
            <a:extLst>
              <a:ext uri="{FF2B5EF4-FFF2-40B4-BE49-F238E27FC236}">
                <a16:creationId xmlns:a16="http://schemas.microsoft.com/office/drawing/2014/main" id="{3A980074-1406-4228-BB3B-661B0F630ED5}"/>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3063768493"/>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DD2E304A-503B-9E2A-F84C-78A0AFDE9370}"/>
              </a:ext>
            </a:extLst>
          </p:cNvPr>
          <p:cNvSpPr txBox="1">
            <a:spLocks noChangeArrowheads="1"/>
          </p:cNvSpPr>
          <p:nvPr/>
        </p:nvSpPr>
        <p:spPr bwMode="auto">
          <a:xfrm>
            <a:off x="982720" y="125344"/>
            <a:ext cx="8161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400" b="1" i="1" dirty="0" err="1">
                <a:solidFill>
                  <a:srgbClr val="0033CC"/>
                </a:solidFill>
                <a:latin typeface="Verdana" panose="020B0604030504040204" pitchFamily="34" charset="0"/>
              </a:rPr>
              <a:t>Sintaxe</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básica</a:t>
            </a:r>
            <a:endParaRPr lang="en-US" sz="2400" b="1" i="1" dirty="0">
              <a:solidFill>
                <a:srgbClr val="0033CC"/>
              </a:solidFill>
              <a:latin typeface="Verdana" panose="020B0604030504040204" pitchFamily="34" charset="0"/>
            </a:endParaRPr>
          </a:p>
        </p:txBody>
      </p:sp>
      <p:sp>
        <p:nvSpPr>
          <p:cNvPr id="10" name="CaixaDeTexto 9">
            <a:extLst>
              <a:ext uri="{FF2B5EF4-FFF2-40B4-BE49-F238E27FC236}">
                <a16:creationId xmlns:a16="http://schemas.microsoft.com/office/drawing/2014/main" id="{98EBA321-55DB-47BB-EF55-048744959C5A}"/>
              </a:ext>
            </a:extLst>
          </p:cNvPr>
          <p:cNvSpPr txBox="1"/>
          <p:nvPr/>
        </p:nvSpPr>
        <p:spPr>
          <a:xfrm>
            <a:off x="982720" y="818757"/>
            <a:ext cx="7645465" cy="2308324"/>
          </a:xfrm>
          <a:prstGeom prst="rect">
            <a:avLst/>
          </a:prstGeom>
          <a:noFill/>
        </p:spPr>
        <p:txBody>
          <a:bodyPr wrap="square">
            <a:spAutoFit/>
          </a:bodyPr>
          <a:lstStyle/>
          <a:p>
            <a:r>
              <a:rPr lang="en-US" sz="1600" dirty="0">
                <a:solidFill>
                  <a:schemeClr val="tx1"/>
                </a:solidFill>
                <a:latin typeface="Verdana" panose="020B0604030504040204" pitchFamily="34" charset="0"/>
              </a:rPr>
              <a:t>Todos </a:t>
            </a:r>
            <a:r>
              <a:rPr lang="en-US" sz="1600" dirty="0" err="1">
                <a:solidFill>
                  <a:schemeClr val="tx1"/>
                </a:solidFill>
                <a:latin typeface="Verdana" panose="020B0604030504040204" pitchFamily="34" charset="0"/>
              </a:rPr>
              <a:t>os</a:t>
            </a:r>
            <a:r>
              <a:rPr lang="en-US" sz="1600" dirty="0">
                <a:solidFill>
                  <a:schemeClr val="tx1"/>
                </a:solidFill>
                <a:latin typeface="Verdana" panose="020B0604030504040204" pitchFamily="34" charset="0"/>
              </a:rPr>
              <a:t> commandos da DDL </a:t>
            </a:r>
            <a:r>
              <a:rPr lang="en-US" sz="1600" dirty="0" err="1">
                <a:solidFill>
                  <a:schemeClr val="tx1"/>
                </a:solidFill>
                <a:latin typeface="Verdana" panose="020B0604030504040204" pitchFamily="34" charset="0"/>
              </a:rPr>
              <a:t>tem</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uma</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mesma</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sitaxe</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básica</a:t>
            </a:r>
            <a:r>
              <a:rPr lang="en-US" sz="1600" dirty="0">
                <a:solidFill>
                  <a:schemeClr val="tx1"/>
                </a:solidFill>
                <a:latin typeface="Verdana" panose="020B0604030504040204" pitchFamily="34" charset="0"/>
              </a:rPr>
              <a:t>:</a:t>
            </a:r>
          </a:p>
          <a:p>
            <a:endParaRPr lang="en-US" sz="1600" dirty="0">
              <a:solidFill>
                <a:schemeClr val="tx1"/>
              </a:solidFill>
              <a:latin typeface="Verdana" panose="020B0604030504040204" pitchFamily="34" charset="0"/>
            </a:endParaRPr>
          </a:p>
          <a:p>
            <a:r>
              <a:rPr lang="en-US" sz="1600" b="1" dirty="0">
                <a:solidFill>
                  <a:schemeClr val="tx1"/>
                </a:solidFill>
                <a:latin typeface="Verdana" panose="020B0604030504040204" pitchFamily="34" charset="0"/>
              </a:rPr>
              <a:t>&lt;commando&gt; &lt;</a:t>
            </a:r>
            <a:r>
              <a:rPr lang="en-US" sz="1600" b="1" dirty="0" err="1">
                <a:solidFill>
                  <a:schemeClr val="tx1"/>
                </a:solidFill>
                <a:latin typeface="Verdana" panose="020B0604030504040204" pitchFamily="34" charset="0"/>
              </a:rPr>
              <a:t>objeto</a:t>
            </a:r>
            <a:r>
              <a:rPr lang="en-US" sz="1600" b="1" dirty="0">
                <a:solidFill>
                  <a:schemeClr val="tx1"/>
                </a:solidFill>
                <a:latin typeface="Verdana" panose="020B0604030504040204" pitchFamily="34" charset="0"/>
              </a:rPr>
              <a:t>&gt; &lt;</a:t>
            </a:r>
            <a:r>
              <a:rPr lang="en-US" sz="1600" b="1" dirty="0" err="1">
                <a:solidFill>
                  <a:schemeClr val="tx1"/>
                </a:solidFill>
                <a:latin typeface="Verdana" panose="020B0604030504040204" pitchFamily="34" charset="0"/>
              </a:rPr>
              <a:t>nomedoobjeto</a:t>
            </a:r>
            <a:r>
              <a:rPr lang="en-US" sz="1600" b="1" dirty="0">
                <a:solidFill>
                  <a:schemeClr val="tx1"/>
                </a:solidFill>
                <a:latin typeface="Verdana" panose="020B0604030504040204" pitchFamily="34" charset="0"/>
              </a:rPr>
              <a:t>&gt; [</a:t>
            </a:r>
            <a:r>
              <a:rPr lang="en-US" sz="1600" b="1" dirty="0" err="1">
                <a:solidFill>
                  <a:schemeClr val="tx1"/>
                </a:solidFill>
                <a:latin typeface="Verdana" panose="020B0604030504040204" pitchFamily="34" charset="0"/>
              </a:rPr>
              <a:t>parâmetros</a:t>
            </a:r>
            <a:r>
              <a:rPr lang="en-US" sz="1600" b="1" dirty="0">
                <a:solidFill>
                  <a:schemeClr val="tx1"/>
                </a:solidFill>
                <a:latin typeface="Verdana" panose="020B0604030504040204" pitchFamily="34" charset="0"/>
              </a:rPr>
              <a:t>]</a:t>
            </a:r>
          </a:p>
          <a:p>
            <a:endParaRPr lang="en-US" sz="1600" dirty="0">
              <a:solidFill>
                <a:schemeClr val="tx1"/>
              </a:solidFill>
              <a:latin typeface="Verdana" panose="020B0604030504040204" pitchFamily="34" charset="0"/>
            </a:endParaRPr>
          </a:p>
          <a:p>
            <a:r>
              <a:rPr lang="en-US" sz="1600" dirty="0">
                <a:solidFill>
                  <a:schemeClr val="tx1"/>
                </a:solidFill>
                <a:latin typeface="Verdana" panose="020B0604030504040204" pitchFamily="34" charset="0"/>
              </a:rPr>
              <a:t>Estes commando </a:t>
            </a:r>
            <a:r>
              <a:rPr lang="en-US" sz="1600" dirty="0" err="1">
                <a:solidFill>
                  <a:schemeClr val="tx1"/>
                </a:solidFill>
                <a:latin typeface="Verdana" panose="020B0604030504040204" pitchFamily="34" charset="0"/>
              </a:rPr>
              <a:t>não</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estão</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relacionados</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aos</a:t>
            </a:r>
            <a:r>
              <a:rPr lang="en-US" sz="1600" dirty="0">
                <a:solidFill>
                  <a:schemeClr val="tx1"/>
                </a:solidFill>
                <a:latin typeface="Verdana" panose="020B0604030504040204" pitchFamily="34" charset="0"/>
              </a:rPr>
              <a:t> dados mas as </a:t>
            </a:r>
            <a:r>
              <a:rPr lang="en-US" sz="1600" dirty="0" err="1">
                <a:solidFill>
                  <a:schemeClr val="tx1"/>
                </a:solidFill>
                <a:latin typeface="Verdana" panose="020B0604030504040204" pitchFamily="34" charset="0"/>
              </a:rPr>
              <a:t>estruturas</a:t>
            </a:r>
            <a:r>
              <a:rPr lang="en-US" sz="1600" dirty="0">
                <a:solidFill>
                  <a:schemeClr val="tx1"/>
                </a:solidFill>
                <a:latin typeface="Verdana" panose="020B0604030504040204" pitchFamily="34" charset="0"/>
              </a:rPr>
              <a:t> e </a:t>
            </a:r>
            <a:r>
              <a:rPr lang="en-US" sz="1600" dirty="0" err="1">
                <a:solidFill>
                  <a:schemeClr val="tx1"/>
                </a:solidFill>
                <a:latin typeface="Verdana" panose="020B0604030504040204" pitchFamily="34" charset="0"/>
              </a:rPr>
              <a:t>objetos</a:t>
            </a:r>
            <a:r>
              <a:rPr lang="en-US" sz="1600" dirty="0">
                <a:solidFill>
                  <a:schemeClr val="tx1"/>
                </a:solidFill>
                <a:latin typeface="Verdana" panose="020B0604030504040204" pitchFamily="34" charset="0"/>
              </a:rPr>
              <a:t> do banco do SGBD.</a:t>
            </a:r>
          </a:p>
          <a:p>
            <a:endParaRPr lang="en-US" sz="1600" dirty="0">
              <a:solidFill>
                <a:schemeClr val="tx1"/>
              </a:solidFill>
              <a:latin typeface="Verdana" panose="020B0604030504040204" pitchFamily="34" charset="0"/>
            </a:endParaRPr>
          </a:p>
          <a:p>
            <a:r>
              <a:rPr lang="en-US" sz="1600" dirty="0">
                <a:solidFill>
                  <a:schemeClr val="tx1"/>
                </a:solidFill>
                <a:latin typeface="Verdana" panose="020B0604030504040204" pitchFamily="34" charset="0"/>
              </a:rPr>
              <a:t>São </a:t>
            </a:r>
            <a:r>
              <a:rPr lang="en-US" sz="1600" dirty="0" err="1">
                <a:solidFill>
                  <a:schemeClr val="tx1"/>
                </a:solidFill>
                <a:latin typeface="Verdana" panose="020B0604030504040204" pitchFamily="34" charset="0"/>
              </a:rPr>
              <a:t>os</a:t>
            </a:r>
            <a:r>
              <a:rPr lang="en-US" sz="1600" dirty="0">
                <a:solidFill>
                  <a:schemeClr val="tx1"/>
                </a:solidFill>
                <a:latin typeface="Verdana" panose="020B0604030504040204" pitchFamily="34" charset="0"/>
              </a:rPr>
              <a:t> commandos </a:t>
            </a:r>
            <a:r>
              <a:rPr lang="en-US" sz="1600" dirty="0" err="1">
                <a:solidFill>
                  <a:schemeClr val="tx1"/>
                </a:solidFill>
                <a:latin typeface="Verdana" panose="020B0604030504040204" pitchFamily="34" charset="0"/>
              </a:rPr>
              <a:t>responsáveis</a:t>
            </a:r>
            <a:r>
              <a:rPr lang="en-US" sz="1600" dirty="0">
                <a:solidFill>
                  <a:schemeClr val="tx1"/>
                </a:solidFill>
                <a:latin typeface="Verdana" panose="020B0604030504040204" pitchFamily="34" charset="0"/>
              </a:rPr>
              <a:t> pela </a:t>
            </a:r>
            <a:r>
              <a:rPr lang="en-US" sz="1600" dirty="0" err="1">
                <a:solidFill>
                  <a:schemeClr val="tx1"/>
                </a:solidFill>
                <a:latin typeface="Verdana" panose="020B0604030504040204" pitchFamily="34" charset="0"/>
              </a:rPr>
              <a:t>criação</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alteração</a:t>
            </a:r>
            <a:r>
              <a:rPr lang="en-US" sz="1600" dirty="0">
                <a:solidFill>
                  <a:schemeClr val="tx1"/>
                </a:solidFill>
                <a:latin typeface="Verdana" panose="020B0604030504040204" pitchFamily="34" charset="0"/>
              </a:rPr>
              <a:t> e </a:t>
            </a:r>
            <a:r>
              <a:rPr lang="en-US" sz="1600" dirty="0" err="1">
                <a:solidFill>
                  <a:schemeClr val="tx1"/>
                </a:solidFill>
                <a:latin typeface="Verdana" panose="020B0604030504040204" pitchFamily="34" charset="0"/>
              </a:rPr>
              <a:t>exclusão</a:t>
            </a:r>
            <a:r>
              <a:rPr lang="en-US" sz="1600" dirty="0">
                <a:solidFill>
                  <a:schemeClr val="tx1"/>
                </a:solidFill>
                <a:latin typeface="Verdana" panose="020B0604030504040204" pitchFamily="34" charset="0"/>
              </a:rPr>
              <a:t> de </a:t>
            </a:r>
            <a:r>
              <a:rPr lang="en-US" sz="1600" dirty="0" err="1">
                <a:solidFill>
                  <a:schemeClr val="tx1"/>
                </a:solidFill>
                <a:latin typeface="Verdana" panose="020B0604030504040204" pitchFamily="34" charset="0"/>
              </a:rPr>
              <a:t>todas</a:t>
            </a:r>
            <a:r>
              <a:rPr lang="en-US" sz="1600" dirty="0">
                <a:solidFill>
                  <a:schemeClr val="tx1"/>
                </a:solidFill>
                <a:latin typeface="Verdana" panose="020B0604030504040204" pitchFamily="34" charset="0"/>
              </a:rPr>
              <a:t> as </a:t>
            </a:r>
            <a:r>
              <a:rPr lang="en-US" sz="1600" dirty="0" err="1">
                <a:solidFill>
                  <a:schemeClr val="tx1"/>
                </a:solidFill>
                <a:latin typeface="Verdana" panose="020B0604030504040204" pitchFamily="34" charset="0"/>
              </a:rPr>
              <a:t>estruturas</a:t>
            </a:r>
            <a:r>
              <a:rPr lang="en-US" sz="1600" dirty="0">
                <a:solidFill>
                  <a:schemeClr val="tx1"/>
                </a:solidFill>
                <a:latin typeface="Verdana" panose="020B0604030504040204" pitchFamily="34" charset="0"/>
              </a:rPr>
              <a:t> e </a:t>
            </a:r>
            <a:r>
              <a:rPr lang="en-US" sz="1600" dirty="0" err="1">
                <a:solidFill>
                  <a:schemeClr val="tx1"/>
                </a:solidFill>
                <a:latin typeface="Verdana" panose="020B0604030504040204" pitchFamily="34" charset="0"/>
              </a:rPr>
              <a:t>objetos</a:t>
            </a:r>
            <a:endParaRPr lang="pt-BR" sz="1600" dirty="0">
              <a:solidFill>
                <a:schemeClr val="tx1"/>
              </a:solidFill>
            </a:endParaRPr>
          </a:p>
        </p:txBody>
      </p:sp>
    </p:spTree>
    <p:extLst>
      <p:ext uri="{BB962C8B-B14F-4D97-AF65-F5344CB8AC3E}">
        <p14:creationId xmlns:p14="http://schemas.microsoft.com/office/powerpoint/2010/main" val="1889888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1F495-0CD0-CEEF-27C0-33D27136DBC7}"/>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F89BFF7E-21F3-FDE5-9D1D-F5A47EA92AB5}"/>
              </a:ext>
            </a:extLst>
          </p:cNvPr>
          <p:cNvSpPr txBox="1">
            <a:spLocks noChangeArrowheads="1"/>
          </p:cNvSpPr>
          <p:nvPr/>
        </p:nvSpPr>
        <p:spPr bwMode="auto">
          <a:xfrm>
            <a:off x="982720" y="125344"/>
            <a:ext cx="8161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400" b="1" i="1" dirty="0" err="1">
                <a:solidFill>
                  <a:srgbClr val="0033CC"/>
                </a:solidFill>
                <a:latin typeface="Verdana" panose="020B0604030504040204" pitchFamily="34" charset="0"/>
              </a:rPr>
              <a:t>Criando</a:t>
            </a:r>
            <a:r>
              <a:rPr lang="en-US" sz="2400" b="1" i="1" dirty="0">
                <a:solidFill>
                  <a:srgbClr val="0033CC"/>
                </a:solidFill>
                <a:latin typeface="Verdana" panose="020B0604030504040204" pitchFamily="34" charset="0"/>
              </a:rPr>
              <a:t> e </a:t>
            </a:r>
            <a:r>
              <a:rPr lang="en-US" sz="2400" b="1" i="1" dirty="0" err="1">
                <a:solidFill>
                  <a:srgbClr val="0033CC"/>
                </a:solidFill>
                <a:latin typeface="Verdana" panose="020B0604030504040204" pitchFamily="34" charset="0"/>
              </a:rPr>
              <a:t>Eliminando</a:t>
            </a:r>
            <a:r>
              <a:rPr lang="en-US" sz="2400" b="1" i="1" dirty="0">
                <a:solidFill>
                  <a:srgbClr val="0033CC"/>
                </a:solidFill>
                <a:latin typeface="Verdana" panose="020B0604030504040204" pitchFamily="34" charset="0"/>
              </a:rPr>
              <a:t> um banco no </a:t>
            </a:r>
            <a:r>
              <a:rPr lang="en-US" sz="2400" b="1" i="1" dirty="0" err="1">
                <a:solidFill>
                  <a:srgbClr val="0033CC"/>
                </a:solidFill>
                <a:latin typeface="Verdana" panose="020B0604030504040204" pitchFamily="34" charset="0"/>
              </a:rPr>
              <a:t>MySql</a:t>
            </a:r>
            <a:r>
              <a:rPr lang="en-US" sz="2400" b="1" i="1" dirty="0">
                <a:solidFill>
                  <a:srgbClr val="0033CC"/>
                </a:solidFill>
                <a:latin typeface="Verdana" panose="020B0604030504040204" pitchFamily="34" charset="0"/>
              </a:rPr>
              <a:t> </a:t>
            </a:r>
          </a:p>
        </p:txBody>
      </p:sp>
      <p:sp>
        <p:nvSpPr>
          <p:cNvPr id="7" name="CaixaDeTexto 6">
            <a:extLst>
              <a:ext uri="{FF2B5EF4-FFF2-40B4-BE49-F238E27FC236}">
                <a16:creationId xmlns:a16="http://schemas.microsoft.com/office/drawing/2014/main" id="{87DEFE0C-20AC-F66C-DA0D-A3B0E16EEEF0}"/>
              </a:ext>
            </a:extLst>
          </p:cNvPr>
          <p:cNvSpPr txBox="1"/>
          <p:nvPr/>
        </p:nvSpPr>
        <p:spPr>
          <a:xfrm>
            <a:off x="349642" y="1124298"/>
            <a:ext cx="8856678" cy="307777"/>
          </a:xfrm>
          <a:prstGeom prst="rect">
            <a:avLst/>
          </a:prstGeom>
          <a:noFill/>
        </p:spPr>
        <p:txBody>
          <a:bodyPr wrap="square">
            <a:spAutoFit/>
          </a:bodyPr>
          <a:lstStyle/>
          <a:p>
            <a:pPr algn="l"/>
            <a:r>
              <a:rPr lang="pt-BR" b="1" dirty="0">
                <a:solidFill>
                  <a:srgbClr val="0033CC"/>
                </a:solidFill>
                <a:latin typeface="Verdana" panose="020B0604030504040204" pitchFamily="34" charset="0"/>
              </a:rPr>
              <a:t>CREATE DATABASE [IF NOT EXISTS] </a:t>
            </a:r>
            <a:r>
              <a:rPr lang="pt-BR" b="1" dirty="0" err="1">
                <a:solidFill>
                  <a:srgbClr val="FF0000"/>
                </a:solidFill>
                <a:latin typeface="Verdana" panose="020B0604030504040204" pitchFamily="34" charset="0"/>
              </a:rPr>
              <a:t>nome_do_banco</a:t>
            </a:r>
            <a:endParaRPr lang="pt-BR" b="1" dirty="0">
              <a:solidFill>
                <a:srgbClr val="FF0000"/>
              </a:solidFill>
              <a:latin typeface="Verdana" panose="020B0604030504040204" pitchFamily="34" charset="0"/>
            </a:endParaRPr>
          </a:p>
        </p:txBody>
      </p:sp>
      <p:sp>
        <p:nvSpPr>
          <p:cNvPr id="8" name="CaixaDeTexto 7">
            <a:extLst>
              <a:ext uri="{FF2B5EF4-FFF2-40B4-BE49-F238E27FC236}">
                <a16:creationId xmlns:a16="http://schemas.microsoft.com/office/drawing/2014/main" id="{8A640BFA-02B2-E82C-12EC-B07F2EE86752}"/>
              </a:ext>
            </a:extLst>
          </p:cNvPr>
          <p:cNvSpPr txBox="1"/>
          <p:nvPr/>
        </p:nvSpPr>
        <p:spPr>
          <a:xfrm>
            <a:off x="349642" y="2938418"/>
            <a:ext cx="6941549" cy="307777"/>
          </a:xfrm>
          <a:prstGeom prst="rect">
            <a:avLst/>
          </a:prstGeom>
          <a:noFill/>
        </p:spPr>
        <p:txBody>
          <a:bodyPr wrap="square">
            <a:spAutoFit/>
          </a:bodyPr>
          <a:lstStyle/>
          <a:p>
            <a:pPr algn="l"/>
            <a:r>
              <a:rPr lang="en-US" b="1" dirty="0">
                <a:solidFill>
                  <a:srgbClr val="0033CC"/>
                </a:solidFill>
                <a:latin typeface="Verdana" panose="020B0604030504040204" pitchFamily="34" charset="0"/>
              </a:rPr>
              <a:t>DROP DATABASE [IF EXISTS] </a:t>
            </a:r>
            <a:r>
              <a:rPr lang="en-US" b="1" dirty="0" err="1">
                <a:solidFill>
                  <a:srgbClr val="FF0000"/>
                </a:solidFill>
                <a:latin typeface="Verdana" panose="020B0604030504040204" pitchFamily="34" charset="0"/>
              </a:rPr>
              <a:t>nome_do_banco</a:t>
            </a:r>
            <a:endParaRPr lang="pt-BR" b="1" dirty="0">
              <a:solidFill>
                <a:srgbClr val="FF0000"/>
              </a:solidFill>
              <a:latin typeface="Verdana" panose="020B0604030504040204" pitchFamily="34" charset="0"/>
            </a:endParaRPr>
          </a:p>
        </p:txBody>
      </p:sp>
      <p:sp>
        <p:nvSpPr>
          <p:cNvPr id="10" name="CaixaDeTexto 9">
            <a:extLst>
              <a:ext uri="{FF2B5EF4-FFF2-40B4-BE49-F238E27FC236}">
                <a16:creationId xmlns:a16="http://schemas.microsoft.com/office/drawing/2014/main" id="{849E8C2E-22C4-2EC6-4C16-7EFEDBCC0F89}"/>
              </a:ext>
            </a:extLst>
          </p:cNvPr>
          <p:cNvSpPr txBox="1"/>
          <p:nvPr/>
        </p:nvSpPr>
        <p:spPr>
          <a:xfrm>
            <a:off x="276546" y="818757"/>
            <a:ext cx="4692024" cy="338554"/>
          </a:xfrm>
          <a:prstGeom prst="rect">
            <a:avLst/>
          </a:prstGeom>
          <a:noFill/>
        </p:spPr>
        <p:txBody>
          <a:bodyPr wrap="square">
            <a:spAutoFit/>
          </a:bodyPr>
          <a:lstStyle/>
          <a:p>
            <a:r>
              <a:rPr lang="en-US" sz="1600" b="1" dirty="0" err="1">
                <a:solidFill>
                  <a:schemeClr val="tx1"/>
                </a:solidFill>
                <a:latin typeface="Verdana" panose="020B0604030504040204" pitchFamily="34" charset="0"/>
              </a:rPr>
              <a:t>Criando</a:t>
            </a:r>
            <a:r>
              <a:rPr lang="en-US" sz="1600" b="1" dirty="0">
                <a:solidFill>
                  <a:schemeClr val="tx1"/>
                </a:solidFill>
                <a:latin typeface="Verdana" panose="020B0604030504040204" pitchFamily="34" charset="0"/>
              </a:rPr>
              <a:t> um Banco de Dados</a:t>
            </a:r>
            <a:endParaRPr lang="pt-BR" sz="1600" dirty="0">
              <a:solidFill>
                <a:schemeClr val="tx1"/>
              </a:solidFill>
            </a:endParaRPr>
          </a:p>
        </p:txBody>
      </p:sp>
      <p:sp>
        <p:nvSpPr>
          <p:cNvPr id="12" name="CaixaDeTexto 11">
            <a:extLst>
              <a:ext uri="{FF2B5EF4-FFF2-40B4-BE49-F238E27FC236}">
                <a16:creationId xmlns:a16="http://schemas.microsoft.com/office/drawing/2014/main" id="{C4CCDFF3-4C44-EE5D-21F9-5A6EB50688DC}"/>
              </a:ext>
            </a:extLst>
          </p:cNvPr>
          <p:cNvSpPr txBox="1"/>
          <p:nvPr/>
        </p:nvSpPr>
        <p:spPr>
          <a:xfrm>
            <a:off x="276546" y="2521554"/>
            <a:ext cx="4692024" cy="338554"/>
          </a:xfrm>
          <a:prstGeom prst="rect">
            <a:avLst/>
          </a:prstGeom>
          <a:noFill/>
        </p:spPr>
        <p:txBody>
          <a:bodyPr wrap="square">
            <a:spAutoFit/>
          </a:bodyPr>
          <a:lstStyle/>
          <a:p>
            <a:r>
              <a:rPr lang="en-US" sz="1600" b="1" dirty="0" err="1">
                <a:solidFill>
                  <a:schemeClr val="tx1"/>
                </a:solidFill>
                <a:latin typeface="Verdana" panose="020B0604030504040204" pitchFamily="34" charset="0"/>
              </a:rPr>
              <a:t>Eliminando</a:t>
            </a:r>
            <a:r>
              <a:rPr lang="en-US" sz="1600" b="1" dirty="0">
                <a:solidFill>
                  <a:schemeClr val="tx1"/>
                </a:solidFill>
                <a:latin typeface="Verdana" panose="020B0604030504040204" pitchFamily="34" charset="0"/>
              </a:rPr>
              <a:t> um  Banco de Dados</a:t>
            </a:r>
            <a:endParaRPr lang="pt-BR" sz="1600" dirty="0">
              <a:solidFill>
                <a:schemeClr val="tx1"/>
              </a:solidFill>
            </a:endParaRPr>
          </a:p>
        </p:txBody>
      </p:sp>
      <p:grpSp>
        <p:nvGrpSpPr>
          <p:cNvPr id="14" name="Agrupar 13">
            <a:extLst>
              <a:ext uri="{FF2B5EF4-FFF2-40B4-BE49-F238E27FC236}">
                <a16:creationId xmlns:a16="http://schemas.microsoft.com/office/drawing/2014/main" id="{3729324D-1DB5-8744-AEF6-E5BF5033C2E1}"/>
              </a:ext>
            </a:extLst>
          </p:cNvPr>
          <p:cNvGrpSpPr/>
          <p:nvPr/>
        </p:nvGrpSpPr>
        <p:grpSpPr>
          <a:xfrm>
            <a:off x="6144149" y="988035"/>
            <a:ext cx="2789607" cy="1217048"/>
            <a:chOff x="416085" y="3719404"/>
            <a:chExt cx="16944108" cy="640269"/>
          </a:xfrm>
        </p:grpSpPr>
        <p:pic>
          <p:nvPicPr>
            <p:cNvPr id="15" name="Imagem 14">
              <a:extLst>
                <a:ext uri="{FF2B5EF4-FFF2-40B4-BE49-F238E27FC236}">
                  <a16:creationId xmlns:a16="http://schemas.microsoft.com/office/drawing/2014/main" id="{9DF8D42D-3E26-2E65-F5CD-0027A04F99FC}"/>
                </a:ext>
              </a:extLst>
            </p:cNvPr>
            <p:cNvPicPr>
              <a:picLocks noChangeAspect="1"/>
            </p:cNvPicPr>
            <p:nvPr/>
          </p:nvPicPr>
          <p:blipFill>
            <a:blip r:embed="rId2"/>
            <a:stretch>
              <a:fillRect/>
            </a:stretch>
          </p:blipFill>
          <p:spPr>
            <a:xfrm>
              <a:off x="416085" y="3742527"/>
              <a:ext cx="16944108" cy="6171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6" name="CaixaDeTexto 15">
              <a:extLst>
                <a:ext uri="{FF2B5EF4-FFF2-40B4-BE49-F238E27FC236}">
                  <a16:creationId xmlns:a16="http://schemas.microsoft.com/office/drawing/2014/main" id="{3917F82C-0F2F-5049-6DA7-91271C22CBEA}"/>
                </a:ext>
              </a:extLst>
            </p:cNvPr>
            <p:cNvSpPr txBox="1"/>
            <p:nvPr/>
          </p:nvSpPr>
          <p:spPr>
            <a:xfrm>
              <a:off x="3466210" y="3719404"/>
              <a:ext cx="13893983" cy="550165"/>
            </a:xfrm>
            <a:prstGeom prst="rect">
              <a:avLst/>
            </a:prstGeom>
            <a:noFill/>
            <a:scene3d>
              <a:camera prst="orthographicFront">
                <a:rot lat="21299999" lon="0" rev="0"/>
              </a:camera>
              <a:lightRig rig="flood" dir="t"/>
            </a:scene3d>
            <a:sp3d prstMaterial="flat">
              <a:bevelT/>
            </a:sp3d>
          </p:spPr>
          <p:txBody>
            <a:bodyPr wrap="square" rtlCol="0">
              <a:spAutoFit/>
            </a:bodyPr>
            <a:lstStyle/>
            <a:p>
              <a:pPr lvl="4" eaLnBrk="0" hangingPunct="0"/>
              <a:r>
                <a:rPr lang="pt-BR" sz="1200" dirty="0">
                  <a:latin typeface="Times" panose="02020603060405020304" pitchFamily="18" charset="0"/>
                </a:rPr>
                <a:t>#</a:t>
              </a:r>
              <a:r>
                <a:rPr lang="pt-BR" sz="1200" dirty="0">
                  <a:solidFill>
                    <a:srgbClr val="FF0000"/>
                  </a:solidFill>
                  <a:latin typeface="Times" panose="02020603060405020304" pitchFamily="18" charset="0"/>
                </a:rPr>
                <a:t>dica</a:t>
              </a:r>
              <a:r>
                <a:rPr lang="pt-BR" sz="1200" dirty="0">
                  <a:latin typeface="Times" panose="02020603060405020304" pitchFamily="18" charset="0"/>
                </a:rPr>
                <a:t>: o nome do banco de dados poderá ter até 64 caracteres. Apesar de ser permitido utilizar todos ao caracteres exceto ‘/’ ou ‘.’, é uma boa pratica não utilizar caracteres especiais.</a:t>
              </a:r>
            </a:p>
          </p:txBody>
        </p:sp>
      </p:grpSp>
      <p:sp>
        <p:nvSpPr>
          <p:cNvPr id="18" name="CaixaDeTexto 17">
            <a:extLst>
              <a:ext uri="{FF2B5EF4-FFF2-40B4-BE49-F238E27FC236}">
                <a16:creationId xmlns:a16="http://schemas.microsoft.com/office/drawing/2014/main" id="{E5A9A1C4-42F6-1FE3-AE8C-99B0FCA71E5A}"/>
              </a:ext>
            </a:extLst>
          </p:cNvPr>
          <p:cNvSpPr txBox="1"/>
          <p:nvPr/>
        </p:nvSpPr>
        <p:spPr>
          <a:xfrm>
            <a:off x="349642" y="1427202"/>
            <a:ext cx="4697426" cy="338554"/>
          </a:xfrm>
          <a:prstGeom prst="rect">
            <a:avLst/>
          </a:prstGeom>
          <a:noFill/>
        </p:spPr>
        <p:txBody>
          <a:bodyPr wrap="square">
            <a:spAutoFit/>
          </a:bodyPr>
          <a:lstStyle/>
          <a:p>
            <a:r>
              <a:rPr lang="en-US" sz="1600" b="1" dirty="0" err="1">
                <a:solidFill>
                  <a:schemeClr val="tx1"/>
                </a:solidFill>
                <a:latin typeface="Verdana" panose="020B0604030504040204" pitchFamily="34" charset="0"/>
              </a:rPr>
              <a:t>Exemplo</a:t>
            </a:r>
            <a:r>
              <a:rPr lang="en-US" sz="1400" b="1" dirty="0">
                <a:solidFill>
                  <a:schemeClr val="tx1"/>
                </a:solidFill>
                <a:latin typeface="Verdana" panose="020B0604030504040204" pitchFamily="34" charset="0"/>
              </a:rPr>
              <a:t>:</a:t>
            </a:r>
            <a:endParaRPr lang="pt-BR" sz="1400" dirty="0">
              <a:solidFill>
                <a:schemeClr val="tx1"/>
              </a:solidFill>
            </a:endParaRPr>
          </a:p>
        </p:txBody>
      </p:sp>
      <p:sp>
        <p:nvSpPr>
          <p:cNvPr id="20" name="CaixaDeTexto 19">
            <a:extLst>
              <a:ext uri="{FF2B5EF4-FFF2-40B4-BE49-F238E27FC236}">
                <a16:creationId xmlns:a16="http://schemas.microsoft.com/office/drawing/2014/main" id="{DFC98862-4970-31C1-F6A4-11722924D415}"/>
              </a:ext>
            </a:extLst>
          </p:cNvPr>
          <p:cNvSpPr txBox="1"/>
          <p:nvPr/>
        </p:nvSpPr>
        <p:spPr>
          <a:xfrm>
            <a:off x="349642" y="3680648"/>
            <a:ext cx="6331957" cy="584775"/>
          </a:xfrm>
          <a:prstGeom prst="rect">
            <a:avLst/>
          </a:prstGeom>
          <a:noFill/>
        </p:spPr>
        <p:txBody>
          <a:bodyPr wrap="square">
            <a:spAutoFit/>
          </a:bodyPr>
          <a:lstStyle/>
          <a:p>
            <a:pPr>
              <a:tabLst>
                <a:tab pos="177800" algn="l"/>
              </a:tabLst>
            </a:pPr>
            <a:r>
              <a:rPr lang="pt-BR" sz="1600" b="0" dirty="0">
                <a:solidFill>
                  <a:schemeClr val="tx1"/>
                </a:solidFill>
                <a:effectLst/>
                <a:latin typeface="Consolas" panose="020B0609020204030204" pitchFamily="49" charset="0"/>
              </a:rPr>
              <a:t> </a:t>
            </a:r>
            <a:r>
              <a:rPr lang="pt-BR" sz="1600" b="1" dirty="0">
                <a:solidFill>
                  <a:schemeClr val="tx1"/>
                </a:solidFill>
                <a:effectLst/>
                <a:latin typeface="Consolas" panose="020B0609020204030204" pitchFamily="49" charset="0"/>
              </a:rPr>
              <a:t>DROP DATABASE IF  EXISTS </a:t>
            </a:r>
            <a:r>
              <a:rPr lang="pt-BR" sz="1600" b="1" dirty="0" err="1">
                <a:solidFill>
                  <a:schemeClr val="tx1"/>
                </a:solidFill>
                <a:effectLst/>
                <a:latin typeface="Consolas" panose="020B0609020204030204" pitchFamily="49" charset="0"/>
              </a:rPr>
              <a:t>bd_treinarecife</a:t>
            </a:r>
            <a:r>
              <a:rPr lang="pt-BR" sz="1600" b="1" dirty="0">
                <a:solidFill>
                  <a:schemeClr val="tx1"/>
                </a:solidFill>
                <a:effectLst/>
                <a:latin typeface="Consolas" panose="020B0609020204030204" pitchFamily="49" charset="0"/>
              </a:rPr>
              <a:t>;</a:t>
            </a:r>
          </a:p>
          <a:p>
            <a:pPr>
              <a:tabLst>
                <a:tab pos="177800" algn="l"/>
              </a:tabLst>
            </a:pPr>
            <a:r>
              <a:rPr lang="pt-BR" sz="1600" b="1">
                <a:solidFill>
                  <a:schemeClr val="tx1"/>
                </a:solidFill>
                <a:latin typeface="Consolas" panose="020B0609020204030204" pitchFamily="49" charset="0"/>
              </a:rPr>
              <a:t> DROP </a:t>
            </a:r>
            <a:r>
              <a:rPr lang="pt-BR" sz="1600" b="1" dirty="0">
                <a:solidFill>
                  <a:schemeClr val="tx1"/>
                </a:solidFill>
                <a:latin typeface="Consolas" panose="020B0609020204030204" pitchFamily="49" charset="0"/>
              </a:rPr>
              <a:t>DATABASE </a:t>
            </a:r>
            <a:r>
              <a:rPr lang="pt-BR" sz="1600" b="1" dirty="0" err="1">
                <a:solidFill>
                  <a:schemeClr val="tx1"/>
                </a:solidFill>
                <a:latin typeface="Consolas" panose="020B0609020204030204" pitchFamily="49" charset="0"/>
              </a:rPr>
              <a:t>bd_treinarecife</a:t>
            </a:r>
            <a:r>
              <a:rPr lang="pt-BR" sz="1600" b="1" dirty="0">
                <a:solidFill>
                  <a:schemeClr val="tx1"/>
                </a:solidFill>
                <a:latin typeface="Consolas" panose="020B0609020204030204" pitchFamily="49" charset="0"/>
              </a:rPr>
              <a:t>;</a:t>
            </a:r>
            <a:endParaRPr lang="pt-BR" sz="1600" b="1" dirty="0">
              <a:solidFill>
                <a:schemeClr val="tx1"/>
              </a:solidFill>
              <a:effectLst/>
              <a:latin typeface="Consolas" panose="020B0609020204030204" pitchFamily="49" charset="0"/>
            </a:endParaRPr>
          </a:p>
        </p:txBody>
      </p:sp>
      <p:sp>
        <p:nvSpPr>
          <p:cNvPr id="6" name="CaixaDeTexto 5">
            <a:extLst>
              <a:ext uri="{FF2B5EF4-FFF2-40B4-BE49-F238E27FC236}">
                <a16:creationId xmlns:a16="http://schemas.microsoft.com/office/drawing/2014/main" id="{E5981B94-84F1-9016-6CCB-0678A8C0546B}"/>
              </a:ext>
            </a:extLst>
          </p:cNvPr>
          <p:cNvSpPr txBox="1"/>
          <p:nvPr/>
        </p:nvSpPr>
        <p:spPr>
          <a:xfrm>
            <a:off x="428664" y="1818016"/>
            <a:ext cx="6331957" cy="584775"/>
          </a:xfrm>
          <a:prstGeom prst="rect">
            <a:avLst/>
          </a:prstGeom>
          <a:noFill/>
        </p:spPr>
        <p:txBody>
          <a:bodyPr wrap="square">
            <a:spAutoFit/>
          </a:bodyPr>
          <a:lstStyle/>
          <a:p>
            <a:pPr defTabSz="898525">
              <a:tabLst>
                <a:tab pos="88900" algn="l"/>
              </a:tabLst>
            </a:pPr>
            <a:r>
              <a:rPr lang="pt-BR" sz="1600" b="1" dirty="0">
                <a:solidFill>
                  <a:schemeClr val="tx1"/>
                </a:solidFill>
                <a:effectLst/>
                <a:latin typeface="Consolas" panose="020B0609020204030204" pitchFamily="49" charset="0"/>
              </a:rPr>
              <a:t>CREATE DATABASE IF NOT EXISTS </a:t>
            </a:r>
            <a:r>
              <a:rPr lang="pt-BR" sz="1600" b="1" dirty="0" err="1">
                <a:solidFill>
                  <a:schemeClr val="tx1"/>
                </a:solidFill>
                <a:effectLst/>
                <a:latin typeface="Consolas" panose="020B0609020204030204" pitchFamily="49" charset="0"/>
              </a:rPr>
              <a:t>bd_treinarecife</a:t>
            </a:r>
            <a:r>
              <a:rPr lang="pt-BR" sz="1600" b="1" dirty="0">
                <a:solidFill>
                  <a:schemeClr val="tx1"/>
                </a:solidFill>
                <a:effectLst/>
                <a:latin typeface="Consolas" panose="020B0609020204030204" pitchFamily="49" charset="0"/>
              </a:rPr>
              <a:t>;</a:t>
            </a:r>
          </a:p>
          <a:p>
            <a:pPr defTabSz="898525">
              <a:tabLst>
                <a:tab pos="88900" algn="l"/>
              </a:tabLst>
            </a:pPr>
            <a:r>
              <a:rPr lang="pt-BR" sz="1600" b="1" dirty="0">
                <a:solidFill>
                  <a:schemeClr val="tx1"/>
                </a:solidFill>
                <a:latin typeface="Consolas" panose="020B0609020204030204" pitchFamily="49" charset="0"/>
              </a:rPr>
              <a:t>CREATE DATABASE </a:t>
            </a:r>
            <a:r>
              <a:rPr lang="pt-BR" sz="1600" b="1" dirty="0" err="1">
                <a:solidFill>
                  <a:schemeClr val="tx1"/>
                </a:solidFill>
                <a:latin typeface="Consolas" panose="020B0609020204030204" pitchFamily="49" charset="0"/>
              </a:rPr>
              <a:t>bd_treinarecife</a:t>
            </a:r>
            <a:r>
              <a:rPr lang="pt-BR" sz="1600" b="1" dirty="0">
                <a:solidFill>
                  <a:schemeClr val="tx1"/>
                </a:solidFill>
                <a:latin typeface="Consolas" panose="020B0609020204030204" pitchFamily="49" charset="0"/>
              </a:rPr>
              <a:t>;</a:t>
            </a:r>
          </a:p>
        </p:txBody>
      </p:sp>
      <p:sp>
        <p:nvSpPr>
          <p:cNvPr id="9" name="CaixaDeTexto 8">
            <a:extLst>
              <a:ext uri="{FF2B5EF4-FFF2-40B4-BE49-F238E27FC236}">
                <a16:creationId xmlns:a16="http://schemas.microsoft.com/office/drawing/2014/main" id="{49DA0A6D-F62A-AF78-9A2C-70616ED27099}"/>
              </a:ext>
            </a:extLst>
          </p:cNvPr>
          <p:cNvSpPr txBox="1"/>
          <p:nvPr/>
        </p:nvSpPr>
        <p:spPr>
          <a:xfrm>
            <a:off x="349642" y="3299848"/>
            <a:ext cx="4697426" cy="338554"/>
          </a:xfrm>
          <a:prstGeom prst="rect">
            <a:avLst/>
          </a:prstGeom>
          <a:noFill/>
        </p:spPr>
        <p:txBody>
          <a:bodyPr wrap="square">
            <a:spAutoFit/>
          </a:bodyPr>
          <a:lstStyle/>
          <a:p>
            <a:r>
              <a:rPr lang="en-US" sz="1600" b="1" dirty="0" err="1">
                <a:solidFill>
                  <a:schemeClr val="tx1"/>
                </a:solidFill>
                <a:latin typeface="Verdana" panose="020B0604030504040204" pitchFamily="34" charset="0"/>
              </a:rPr>
              <a:t>Exemplo</a:t>
            </a:r>
            <a:r>
              <a:rPr lang="en-US" sz="1400" b="1" dirty="0">
                <a:solidFill>
                  <a:schemeClr val="tx1"/>
                </a:solidFill>
                <a:latin typeface="Verdana" panose="020B0604030504040204" pitchFamily="34" charset="0"/>
              </a:rPr>
              <a:t>:</a:t>
            </a:r>
            <a:endParaRPr lang="pt-BR" sz="1400" dirty="0">
              <a:solidFill>
                <a:schemeClr val="tx1"/>
              </a:solidFill>
            </a:endParaRPr>
          </a:p>
        </p:txBody>
      </p:sp>
    </p:spTree>
    <p:extLst>
      <p:ext uri="{BB962C8B-B14F-4D97-AF65-F5344CB8AC3E}">
        <p14:creationId xmlns:p14="http://schemas.microsoft.com/office/powerpoint/2010/main" val="81114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20"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aixaDeTexto 14">
            <a:extLst>
              <a:ext uri="{FF2B5EF4-FFF2-40B4-BE49-F238E27FC236}">
                <a16:creationId xmlns:a16="http://schemas.microsoft.com/office/drawing/2014/main" id="{C3264064-903A-3F97-EB6A-80991F864613}"/>
              </a:ext>
            </a:extLst>
          </p:cNvPr>
          <p:cNvSpPr txBox="1"/>
          <p:nvPr/>
        </p:nvSpPr>
        <p:spPr>
          <a:xfrm>
            <a:off x="43649" y="923164"/>
            <a:ext cx="9100351" cy="2062103"/>
          </a:xfrm>
          <a:prstGeom prst="rect">
            <a:avLst/>
          </a:prstGeom>
          <a:noFill/>
        </p:spPr>
        <p:txBody>
          <a:bodyPr wrap="square">
            <a:spAutoFit/>
          </a:bodyPr>
          <a:lstStyle/>
          <a:p>
            <a:pPr algn="l"/>
            <a:r>
              <a:rPr lang="pt-BR" sz="1600" b="1" dirty="0">
                <a:solidFill>
                  <a:srgbClr val="0033CC"/>
                </a:solidFill>
                <a:latin typeface="Arial" panose="020B0604020202020204" pitchFamily="34" charset="0"/>
                <a:cs typeface="Arial" panose="020B0604020202020204" pitchFamily="34" charset="0"/>
              </a:rPr>
              <a:t>CREATE TABLE [IF NOT EXISTS] </a:t>
            </a:r>
            <a:r>
              <a:rPr lang="pt-BR" sz="1600" b="1" dirty="0" err="1">
                <a:solidFill>
                  <a:srgbClr val="FF0000"/>
                </a:solidFill>
                <a:latin typeface="Arial" panose="020B0604020202020204" pitchFamily="34" charset="0"/>
                <a:cs typeface="Arial" panose="020B0604020202020204" pitchFamily="34" charset="0"/>
              </a:rPr>
              <a:t>nome_tabela</a:t>
            </a:r>
            <a:r>
              <a:rPr lang="pt-BR" sz="1600" b="1" dirty="0">
                <a:solidFill>
                  <a:srgbClr val="FF0000"/>
                </a:solidFill>
                <a:latin typeface="Arial" panose="020B0604020202020204" pitchFamily="34" charset="0"/>
                <a:cs typeface="Arial" panose="020B0604020202020204" pitchFamily="34" charset="0"/>
              </a:rPr>
              <a:t> </a:t>
            </a:r>
            <a:r>
              <a:rPr lang="pt-BR" sz="1600" b="1" dirty="0">
                <a:solidFill>
                  <a:schemeClr val="tx1"/>
                </a:solidFill>
                <a:latin typeface="Arial" panose="020B0604020202020204" pitchFamily="34" charset="0"/>
                <a:cs typeface="Arial" panose="020B0604020202020204" pitchFamily="34" charset="0"/>
              </a:rPr>
              <a:t>(</a:t>
            </a:r>
          </a:p>
          <a:p>
            <a:r>
              <a:rPr lang="pt-BR" sz="1600" b="1" dirty="0">
                <a:solidFill>
                  <a:srgbClr val="0033CC"/>
                </a:solidFill>
                <a:latin typeface="Arial" panose="020B0604020202020204" pitchFamily="34" charset="0"/>
                <a:cs typeface="Arial" panose="020B0604020202020204" pitchFamily="34" charset="0"/>
              </a:rPr>
              <a:t>   </a:t>
            </a:r>
            <a:r>
              <a:rPr lang="pt-BR" sz="1600" b="1" dirty="0">
                <a:solidFill>
                  <a:schemeClr val="tx1"/>
                </a:solidFill>
                <a:latin typeface="Arial" panose="020B0604020202020204" pitchFamily="34" charset="0"/>
                <a:cs typeface="Arial" panose="020B0604020202020204" pitchFamily="34" charset="0"/>
              </a:rPr>
              <a:t>nome_coluna</a:t>
            </a:r>
            <a:r>
              <a:rPr lang="pt-BR" sz="1600" b="1" dirty="0">
                <a:solidFill>
                  <a:srgbClr val="FF0000"/>
                </a:solidFill>
                <a:latin typeface="Arial" panose="020B0604020202020204" pitchFamily="34" charset="0"/>
                <a:cs typeface="Arial" panose="020B0604020202020204" pitchFamily="34" charset="0"/>
              </a:rPr>
              <a:t>1</a:t>
            </a:r>
            <a:r>
              <a:rPr lang="pt-BR" sz="1600" b="1" dirty="0">
                <a:solidFill>
                  <a:schemeClr val="tx1"/>
                </a:solidFill>
                <a:latin typeface="Arial" panose="020B0604020202020204" pitchFamily="34" charset="0"/>
                <a:cs typeface="Arial" panose="020B0604020202020204" pitchFamily="34" charset="0"/>
              </a:rPr>
              <a:t> tipo [</a:t>
            </a:r>
            <a:r>
              <a:rPr lang="pt-BR" sz="1600" b="1" dirty="0" err="1">
                <a:solidFill>
                  <a:schemeClr val="tx1"/>
                </a:solidFill>
                <a:latin typeface="Arial" panose="020B0604020202020204" pitchFamily="34" charset="0"/>
                <a:cs typeface="Arial" panose="020B0604020202020204" pitchFamily="34" charset="0"/>
              </a:rPr>
              <a:t>signed</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unsigned</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not</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null</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null</a:t>
            </a:r>
            <a:r>
              <a:rPr lang="pt-BR" sz="1600" b="1" dirty="0">
                <a:solidFill>
                  <a:schemeClr val="tx1"/>
                </a:solidFill>
                <a:latin typeface="Arial" panose="020B0604020202020204" pitchFamily="34" charset="0"/>
                <a:cs typeface="Arial" panose="020B0604020202020204" pitchFamily="34" charset="0"/>
              </a:rPr>
              <a:t>] [default  </a:t>
            </a:r>
            <a:r>
              <a:rPr lang="pt-BR" sz="1600" b="1" dirty="0">
                <a:solidFill>
                  <a:srgbClr val="FF0000"/>
                </a:solidFill>
                <a:latin typeface="Arial" panose="020B0604020202020204" pitchFamily="34" charset="0"/>
                <a:cs typeface="Arial" panose="020B0604020202020204" pitchFamily="34" charset="0"/>
              </a:rPr>
              <a:t>valor</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auto_increment</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comment</a:t>
            </a:r>
            <a:r>
              <a:rPr lang="pt-BR" sz="1600" b="1" dirty="0">
                <a:solidFill>
                  <a:schemeClr val="tx1"/>
                </a:solidFill>
                <a:latin typeface="Arial" panose="020B0604020202020204" pitchFamily="34" charset="0"/>
                <a:cs typeface="Arial" panose="020B0604020202020204" pitchFamily="34" charset="0"/>
              </a:rPr>
              <a:t> </a:t>
            </a:r>
            <a:r>
              <a:rPr lang="pt-BR" sz="1600" b="1" dirty="0">
                <a:solidFill>
                  <a:srgbClr val="FF0000"/>
                </a:solidFill>
                <a:latin typeface="Arial" panose="020B0604020202020204" pitchFamily="34" charset="0"/>
                <a:cs typeface="Arial" panose="020B0604020202020204" pitchFamily="34" charset="0"/>
              </a:rPr>
              <a:t>‘texto’</a:t>
            </a:r>
            <a:r>
              <a:rPr lang="pt-BR" sz="1600" b="1" dirty="0">
                <a:solidFill>
                  <a:schemeClr val="tx1"/>
                </a:solidFill>
                <a:latin typeface="Arial" panose="020B0604020202020204" pitchFamily="34" charset="0"/>
                <a:cs typeface="Arial" panose="020B0604020202020204" pitchFamily="34" charset="0"/>
              </a:rPr>
              <a:t>] ,</a:t>
            </a:r>
          </a:p>
          <a:p>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nome_coluna</a:t>
            </a:r>
            <a:r>
              <a:rPr lang="pt-BR" sz="1600" b="1" dirty="0" err="1">
                <a:solidFill>
                  <a:srgbClr val="FF0000"/>
                </a:solidFill>
                <a:latin typeface="Arial" panose="020B0604020202020204" pitchFamily="34" charset="0"/>
                <a:cs typeface="Arial" panose="020B0604020202020204" pitchFamily="34" charset="0"/>
              </a:rPr>
              <a:t>N</a:t>
            </a:r>
            <a:r>
              <a:rPr lang="pt-BR" sz="1600" b="1" dirty="0">
                <a:solidFill>
                  <a:schemeClr val="tx1"/>
                </a:solidFill>
                <a:latin typeface="Arial" panose="020B0604020202020204" pitchFamily="34" charset="0"/>
                <a:cs typeface="Arial" panose="020B0604020202020204" pitchFamily="34" charset="0"/>
              </a:rPr>
              <a:t> tipo [</a:t>
            </a:r>
            <a:r>
              <a:rPr lang="pt-BR" sz="1600" b="1" dirty="0" err="1">
                <a:solidFill>
                  <a:schemeClr val="tx1"/>
                </a:solidFill>
                <a:latin typeface="Arial" panose="020B0604020202020204" pitchFamily="34" charset="0"/>
                <a:cs typeface="Arial" panose="020B0604020202020204" pitchFamily="34" charset="0"/>
              </a:rPr>
              <a:t>signed</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unsigned</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not</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null</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null</a:t>
            </a:r>
            <a:r>
              <a:rPr lang="pt-BR" sz="1600" b="1" dirty="0">
                <a:solidFill>
                  <a:schemeClr val="tx1"/>
                </a:solidFill>
                <a:latin typeface="Arial" panose="020B0604020202020204" pitchFamily="34" charset="0"/>
                <a:cs typeface="Arial" panose="020B0604020202020204" pitchFamily="34" charset="0"/>
              </a:rPr>
              <a:t>] [default  </a:t>
            </a:r>
            <a:r>
              <a:rPr lang="pt-BR" sz="1600" b="1" dirty="0">
                <a:solidFill>
                  <a:srgbClr val="FF0000"/>
                </a:solidFill>
                <a:latin typeface="Arial" panose="020B0604020202020204" pitchFamily="34" charset="0"/>
                <a:cs typeface="Arial" panose="020B0604020202020204" pitchFamily="34" charset="0"/>
              </a:rPr>
              <a:t>valor</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comment</a:t>
            </a:r>
            <a:r>
              <a:rPr lang="pt-BR" sz="1600" b="1" dirty="0">
                <a:solidFill>
                  <a:schemeClr val="tx1"/>
                </a:solidFill>
                <a:latin typeface="Arial" panose="020B0604020202020204" pitchFamily="34" charset="0"/>
                <a:cs typeface="Arial" panose="020B0604020202020204" pitchFamily="34" charset="0"/>
              </a:rPr>
              <a:t> </a:t>
            </a:r>
            <a:r>
              <a:rPr lang="pt-BR" sz="1600" b="1" dirty="0">
                <a:solidFill>
                  <a:srgbClr val="FF0000"/>
                </a:solidFill>
                <a:latin typeface="Arial" panose="020B0604020202020204" pitchFamily="34" charset="0"/>
                <a:cs typeface="Arial" panose="020B0604020202020204" pitchFamily="34" charset="0"/>
              </a:rPr>
              <a:t>‘texto’] </a:t>
            </a:r>
            <a:r>
              <a:rPr lang="pt-BR" sz="1600" b="1" dirty="0">
                <a:solidFill>
                  <a:srgbClr val="0033CC"/>
                </a:solidFill>
                <a:latin typeface="Arial" panose="020B0604020202020204" pitchFamily="34" charset="0"/>
                <a:cs typeface="Arial" panose="020B0604020202020204" pitchFamily="34" charset="0"/>
              </a:rPr>
              <a:t>,</a:t>
            </a:r>
          </a:p>
          <a:p>
            <a:r>
              <a:rPr lang="pt-BR" sz="1600" b="1" dirty="0">
                <a:solidFill>
                  <a:srgbClr val="0033CC"/>
                </a:solidFill>
                <a:latin typeface="Arial" panose="020B0604020202020204" pitchFamily="34" charset="0"/>
                <a:cs typeface="Arial" panose="020B0604020202020204" pitchFamily="34" charset="0"/>
              </a:rPr>
              <a:t>   PRIMARY KEY (</a:t>
            </a:r>
            <a:r>
              <a:rPr lang="pt-BR" sz="1600" b="1" dirty="0">
                <a:solidFill>
                  <a:schemeClr val="tx1"/>
                </a:solidFill>
                <a:latin typeface="Arial" panose="020B0604020202020204" pitchFamily="34" charset="0"/>
                <a:cs typeface="Arial" panose="020B0604020202020204" pitchFamily="34" charset="0"/>
              </a:rPr>
              <a:t>coluna1, coluna2, ...</a:t>
            </a:r>
            <a:r>
              <a:rPr lang="pt-BR" sz="1600" b="1" dirty="0">
                <a:solidFill>
                  <a:srgbClr val="0033CC"/>
                </a:solidFill>
                <a:latin typeface="Arial" panose="020B0604020202020204" pitchFamily="34" charset="0"/>
                <a:cs typeface="Arial" panose="020B0604020202020204" pitchFamily="34" charset="0"/>
              </a:rPr>
              <a:t>),</a:t>
            </a:r>
          </a:p>
          <a:p>
            <a:r>
              <a:rPr lang="pt-BR" sz="1600" b="1" dirty="0">
                <a:solidFill>
                  <a:srgbClr val="0033CC"/>
                </a:solidFill>
                <a:latin typeface="Arial" panose="020B0604020202020204" pitchFamily="34" charset="0"/>
                <a:cs typeface="Arial" panose="020B0604020202020204" pitchFamily="34" charset="0"/>
              </a:rPr>
              <a:t>   FOREING KEY (</a:t>
            </a:r>
            <a:r>
              <a:rPr lang="pt-BR" sz="1600" b="1" dirty="0">
                <a:solidFill>
                  <a:schemeClr val="tx1"/>
                </a:solidFill>
                <a:latin typeface="Arial" panose="020B0604020202020204" pitchFamily="34" charset="0"/>
                <a:cs typeface="Arial" panose="020B0604020202020204" pitchFamily="34" charset="0"/>
              </a:rPr>
              <a:t>coluna</a:t>
            </a:r>
            <a:r>
              <a:rPr lang="pt-BR" sz="1600" b="1" dirty="0">
                <a:solidFill>
                  <a:srgbClr val="0033CC"/>
                </a:solidFill>
                <a:latin typeface="Arial" panose="020B0604020202020204" pitchFamily="34" charset="0"/>
                <a:cs typeface="Arial" panose="020B0604020202020204" pitchFamily="34" charset="0"/>
              </a:rPr>
              <a:t>) REFERENCES </a:t>
            </a:r>
            <a:r>
              <a:rPr lang="pt-BR" sz="1600" b="1" dirty="0" err="1">
                <a:solidFill>
                  <a:schemeClr val="tx1"/>
                </a:solidFill>
                <a:latin typeface="Arial" panose="020B0604020202020204" pitchFamily="34" charset="0"/>
                <a:cs typeface="Arial" panose="020B0604020202020204" pitchFamily="34" charset="0"/>
              </a:rPr>
              <a:t>nometabelapai</a:t>
            </a:r>
            <a:r>
              <a:rPr lang="pt-BR" sz="1600" b="1" dirty="0">
                <a:solidFill>
                  <a:schemeClr val="tx1"/>
                </a:solidFill>
                <a:latin typeface="Arial" panose="020B0604020202020204" pitchFamily="34" charset="0"/>
                <a:cs typeface="Arial" panose="020B0604020202020204" pitchFamily="34" charset="0"/>
              </a:rPr>
              <a:t>(</a:t>
            </a:r>
            <a:r>
              <a:rPr lang="pt-BR" sz="1600" b="1" dirty="0" err="1">
                <a:solidFill>
                  <a:schemeClr val="tx1"/>
                </a:solidFill>
                <a:latin typeface="Arial" panose="020B0604020202020204" pitchFamily="34" charset="0"/>
                <a:cs typeface="Arial" panose="020B0604020202020204" pitchFamily="34" charset="0"/>
              </a:rPr>
              <a:t>colunatabelapai</a:t>
            </a:r>
            <a:r>
              <a:rPr lang="pt-BR" sz="1600" b="1" dirty="0">
                <a:solidFill>
                  <a:srgbClr val="0033CC"/>
                </a:solidFill>
                <a:latin typeface="Arial" panose="020B0604020202020204" pitchFamily="34" charset="0"/>
                <a:cs typeface="Arial" panose="020B0604020202020204" pitchFamily="34" charset="0"/>
              </a:rPr>
              <a:t>).</a:t>
            </a:r>
          </a:p>
          <a:p>
            <a:r>
              <a:rPr lang="pt-BR" sz="1600" b="1" dirty="0">
                <a:solidFill>
                  <a:srgbClr val="0033CC"/>
                </a:solidFill>
                <a:latin typeface="Arial" panose="020B0604020202020204" pitchFamily="34" charset="0"/>
                <a:cs typeface="Arial" panose="020B0604020202020204" pitchFamily="34" charset="0"/>
              </a:rPr>
              <a:t>  CHECK (</a:t>
            </a:r>
            <a:r>
              <a:rPr lang="pt-BR" sz="1600" b="1" dirty="0">
                <a:solidFill>
                  <a:schemeClr val="tx1"/>
                </a:solidFill>
                <a:latin typeface="Arial" panose="020B0604020202020204" pitchFamily="34" charset="0"/>
                <a:cs typeface="Arial" panose="020B0604020202020204" pitchFamily="34" charset="0"/>
              </a:rPr>
              <a:t>condição</a:t>
            </a:r>
            <a:r>
              <a:rPr lang="pt-BR" sz="1600" b="1" dirty="0">
                <a:solidFill>
                  <a:srgbClr val="0033CC"/>
                </a:solidFill>
                <a:latin typeface="Arial" panose="020B0604020202020204" pitchFamily="34" charset="0"/>
                <a:cs typeface="Arial" panose="020B0604020202020204" pitchFamily="34" charset="0"/>
              </a:rPr>
              <a:t>)</a:t>
            </a:r>
          </a:p>
          <a:p>
            <a:pPr algn="l"/>
            <a:r>
              <a:rPr lang="pt-BR" sz="1600" b="1" dirty="0">
                <a:solidFill>
                  <a:schemeClr val="tx1"/>
                </a:solidFill>
                <a:latin typeface="Arial" panose="020B0604020202020204" pitchFamily="34" charset="0"/>
                <a:cs typeface="Arial" panose="020B0604020202020204" pitchFamily="34" charset="0"/>
              </a:rPr>
              <a:t>)</a:t>
            </a:r>
            <a:r>
              <a:rPr lang="pt-BR" sz="1600" b="1" dirty="0">
                <a:solidFill>
                  <a:srgbClr val="0033CC"/>
                </a:solidFill>
                <a:latin typeface="Arial" panose="020B0604020202020204" pitchFamily="34" charset="0"/>
                <a:cs typeface="Arial" panose="020B0604020202020204" pitchFamily="34" charset="0"/>
              </a:rPr>
              <a:t>;-</a:t>
            </a:r>
          </a:p>
        </p:txBody>
      </p:sp>
      <p:sp>
        <p:nvSpPr>
          <p:cNvPr id="19" name="CaixaDeTexto 18">
            <a:extLst>
              <a:ext uri="{FF2B5EF4-FFF2-40B4-BE49-F238E27FC236}">
                <a16:creationId xmlns:a16="http://schemas.microsoft.com/office/drawing/2014/main" id="{77B808F5-74EA-7D02-40E6-7C09F9A7D442}"/>
              </a:ext>
            </a:extLst>
          </p:cNvPr>
          <p:cNvSpPr txBox="1"/>
          <p:nvPr/>
        </p:nvSpPr>
        <p:spPr>
          <a:xfrm>
            <a:off x="950131" y="144011"/>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Criando</a:t>
            </a:r>
            <a:r>
              <a:rPr lang="en-US" sz="2400" b="1" i="1" dirty="0">
                <a:solidFill>
                  <a:srgbClr val="0033CC"/>
                </a:solidFill>
                <a:latin typeface="Verdana" panose="020B0604030504040204" pitchFamily="34" charset="0"/>
              </a:rPr>
              <a:t> e </a:t>
            </a:r>
            <a:r>
              <a:rPr lang="en-US" sz="2400" b="1" i="1" dirty="0" err="1">
                <a:solidFill>
                  <a:srgbClr val="0033CC"/>
                </a:solidFill>
                <a:latin typeface="Verdana" panose="020B0604030504040204" pitchFamily="34" charset="0"/>
              </a:rPr>
              <a:t>Eliminando</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uma</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Tabela</a:t>
            </a:r>
            <a:endParaRPr lang="pt-BR" sz="2400" b="1" i="1" dirty="0">
              <a:solidFill>
                <a:srgbClr val="0033CC"/>
              </a:solidFill>
              <a:latin typeface="Verdana" panose="020B0604030504040204" pitchFamily="34" charset="0"/>
            </a:endParaRPr>
          </a:p>
        </p:txBody>
      </p:sp>
      <p:sp>
        <p:nvSpPr>
          <p:cNvPr id="24" name="CaixaDeTexto 23">
            <a:extLst>
              <a:ext uri="{FF2B5EF4-FFF2-40B4-BE49-F238E27FC236}">
                <a16:creationId xmlns:a16="http://schemas.microsoft.com/office/drawing/2014/main" id="{2BC2ECF3-C9FD-D73C-6CBB-5D8A6E6803EA}"/>
              </a:ext>
            </a:extLst>
          </p:cNvPr>
          <p:cNvSpPr txBox="1"/>
          <p:nvPr/>
        </p:nvSpPr>
        <p:spPr>
          <a:xfrm>
            <a:off x="510366" y="3231488"/>
            <a:ext cx="8589985" cy="1323439"/>
          </a:xfrm>
          <a:prstGeom prst="rect">
            <a:avLst/>
          </a:prstGeom>
          <a:noFill/>
        </p:spPr>
        <p:txBody>
          <a:bodyPr wrap="square">
            <a:spAutoFit/>
          </a:bodyPr>
          <a:lstStyle/>
          <a:p>
            <a:pPr lvl="1"/>
            <a:r>
              <a:rPr lang="en-US" sz="1600" b="1" dirty="0">
                <a:solidFill>
                  <a:schemeClr val="tx1"/>
                </a:solidFill>
                <a:latin typeface="Arial" panose="020B0604020202020204" pitchFamily="34" charset="0"/>
                <a:cs typeface="Arial" panose="020B0604020202020204" pitchFamily="34" charset="0"/>
              </a:rPr>
              <a:t>Ex: CREATE TABLE IF NOT EXISTS </a:t>
            </a:r>
            <a:r>
              <a:rPr lang="en-US" sz="1600" b="1" dirty="0" err="1">
                <a:solidFill>
                  <a:schemeClr val="tx1"/>
                </a:solidFill>
                <a:latin typeface="Arial" panose="020B0604020202020204" pitchFamily="34" charset="0"/>
                <a:cs typeface="Arial" panose="020B0604020202020204" pitchFamily="34" charset="0"/>
              </a:rPr>
              <a:t>aluno</a:t>
            </a:r>
            <a:r>
              <a:rPr lang="en-US" sz="1600" b="1" dirty="0">
                <a:solidFill>
                  <a:schemeClr val="tx1"/>
                </a:solidFill>
                <a:latin typeface="Arial" panose="020B0604020202020204" pitchFamily="34" charset="0"/>
                <a:cs typeface="Arial" panose="020B0604020202020204" pitchFamily="34" charset="0"/>
              </a:rPr>
              <a:t> (</a:t>
            </a:r>
          </a:p>
          <a:p>
            <a:pPr lvl="1"/>
            <a:r>
              <a:rPr lang="en-US" sz="1600" dirty="0">
                <a:solidFill>
                  <a:schemeClr val="tx1"/>
                </a:solidFill>
                <a:latin typeface="Arial" panose="020B0604020202020204" pitchFamily="34" charset="0"/>
                <a:cs typeface="Arial" panose="020B0604020202020204" pitchFamily="34" charset="0"/>
              </a:rPr>
              <a:t>       </a:t>
            </a:r>
            <a:r>
              <a:rPr lang="en-US" sz="1600" b="1" dirty="0">
                <a:solidFill>
                  <a:schemeClr val="tx1"/>
                </a:solidFill>
                <a:latin typeface="Arial" panose="020B0604020202020204" pitchFamily="34" charset="0"/>
                <a:cs typeface="Arial" panose="020B0604020202020204" pitchFamily="34" charset="0"/>
              </a:rPr>
              <a:t>CPF</a:t>
            </a:r>
            <a:r>
              <a:rPr lang="en-US" sz="1600" dirty="0">
                <a:solidFill>
                  <a:schemeClr val="tx1"/>
                </a:solidFill>
                <a:latin typeface="Arial" panose="020B0604020202020204" pitchFamily="34" charset="0"/>
                <a:cs typeface="Arial" panose="020B0604020202020204" pitchFamily="34" charset="0"/>
              </a:rPr>
              <a:t>  INT(11) UNSIGNED NOT NULL COMMENT ‘CPF </a:t>
            </a:r>
            <a:r>
              <a:rPr lang="en-US" sz="1600" dirty="0" err="1">
                <a:solidFill>
                  <a:schemeClr val="tx1"/>
                </a:solidFill>
                <a:latin typeface="Arial" panose="020B0604020202020204" pitchFamily="34" charset="0"/>
                <a:cs typeface="Arial" panose="020B0604020202020204" pitchFamily="34" charset="0"/>
              </a:rPr>
              <a:t>aluno</a:t>
            </a:r>
            <a:r>
              <a:rPr lang="en-US" sz="1600" dirty="0">
                <a:solidFill>
                  <a:schemeClr val="tx1"/>
                </a:solidFill>
                <a:latin typeface="Arial" panose="020B0604020202020204" pitchFamily="34" charset="0"/>
                <a:cs typeface="Arial" panose="020B0604020202020204" pitchFamily="34" charset="0"/>
              </a:rPr>
              <a:t>’,</a:t>
            </a:r>
          </a:p>
          <a:p>
            <a:pPr lvl="1"/>
            <a:r>
              <a:rPr lang="en-US" sz="1600" dirty="0">
                <a:solidFill>
                  <a:schemeClr val="tx1"/>
                </a:solidFill>
                <a:latin typeface="Arial" panose="020B0604020202020204" pitchFamily="34" charset="0"/>
                <a:cs typeface="Arial" panose="020B0604020202020204" pitchFamily="34" charset="0"/>
              </a:rPr>
              <a:t>       </a:t>
            </a:r>
            <a:r>
              <a:rPr lang="en-US" sz="1600" b="1" dirty="0">
                <a:solidFill>
                  <a:schemeClr val="tx1"/>
                </a:solidFill>
                <a:latin typeface="Arial" panose="020B0604020202020204" pitchFamily="34" charset="0"/>
                <a:cs typeface="Arial" panose="020B0604020202020204" pitchFamily="34" charset="0"/>
              </a:rPr>
              <a:t>NOME</a:t>
            </a:r>
            <a:r>
              <a:rPr lang="en-US" sz="1600" dirty="0">
                <a:solidFill>
                  <a:schemeClr val="tx1"/>
                </a:solidFill>
                <a:latin typeface="Arial" panose="020B0604020202020204" pitchFamily="34" charset="0"/>
                <a:cs typeface="Arial" panose="020B0604020202020204" pitchFamily="34" charset="0"/>
              </a:rPr>
              <a:t> VARCHAR(40) NOT NULL  COMMENT ‘Nome </a:t>
            </a:r>
            <a:r>
              <a:rPr lang="en-US" sz="1600" dirty="0" err="1">
                <a:solidFill>
                  <a:schemeClr val="tx1"/>
                </a:solidFill>
                <a:latin typeface="Arial" panose="020B0604020202020204" pitchFamily="34" charset="0"/>
                <a:cs typeface="Arial" panose="020B0604020202020204" pitchFamily="34" charset="0"/>
              </a:rPr>
              <a:t>aluno</a:t>
            </a:r>
            <a:r>
              <a:rPr lang="en-US" sz="1600" dirty="0">
                <a:solidFill>
                  <a:schemeClr val="tx1"/>
                </a:solidFill>
                <a:latin typeface="Arial" panose="020B0604020202020204" pitchFamily="34" charset="0"/>
                <a:cs typeface="Arial" panose="020B0604020202020204" pitchFamily="34" charset="0"/>
              </a:rPr>
              <a:t>’, </a:t>
            </a:r>
          </a:p>
          <a:p>
            <a:pPr lvl="1"/>
            <a:r>
              <a:rPr lang="en-US" sz="1600" dirty="0">
                <a:solidFill>
                  <a:schemeClr val="tx1"/>
                </a:solidFill>
                <a:latin typeface="Arial" panose="020B0604020202020204" pitchFamily="34" charset="0"/>
                <a:cs typeface="Arial" panose="020B0604020202020204" pitchFamily="34" charset="0"/>
              </a:rPr>
              <a:t>       </a:t>
            </a:r>
            <a:r>
              <a:rPr lang="en-US" sz="1600" b="1" dirty="0">
                <a:solidFill>
                  <a:schemeClr val="tx1"/>
                </a:solidFill>
                <a:latin typeface="Arial" panose="020B0604020202020204" pitchFamily="34" charset="0"/>
                <a:cs typeface="Arial" panose="020B0604020202020204" pitchFamily="34" charset="0"/>
              </a:rPr>
              <a:t>UF</a:t>
            </a:r>
            <a:r>
              <a:rPr lang="en-US" sz="1600" dirty="0">
                <a:solidFill>
                  <a:schemeClr val="tx1"/>
                </a:solidFill>
                <a:latin typeface="Arial" panose="020B0604020202020204" pitchFamily="34" charset="0"/>
                <a:cs typeface="Arial" panose="020B0604020202020204" pitchFamily="34" charset="0"/>
              </a:rPr>
              <a:t>   VARCHAR(2) NOT NULL DEFAULT ‘PE’,</a:t>
            </a:r>
          </a:p>
          <a:p>
            <a:pPr lvl="1"/>
            <a:r>
              <a:rPr lang="en-US" sz="1600" dirty="0">
                <a:solidFill>
                  <a:schemeClr val="tx1"/>
                </a:solidFill>
                <a:latin typeface="Arial" panose="020B0604020202020204" pitchFamily="34" charset="0"/>
                <a:cs typeface="Arial" panose="020B0604020202020204" pitchFamily="34" charset="0"/>
              </a:rPr>
              <a:t>     </a:t>
            </a:r>
            <a:r>
              <a:rPr lang="en-US" sz="1600" b="1" dirty="0">
                <a:solidFill>
                  <a:schemeClr val="tx1"/>
                </a:solidFill>
                <a:latin typeface="Arial" panose="020B0604020202020204" pitchFamily="34" charset="0"/>
                <a:cs typeface="Arial" panose="020B0604020202020204" pitchFamily="34" charset="0"/>
              </a:rPr>
              <a:t>PRIMARY KEY </a:t>
            </a:r>
            <a:r>
              <a:rPr lang="en-US" sz="1600" dirty="0">
                <a:solidFill>
                  <a:schemeClr val="tx1"/>
                </a:solidFill>
                <a:latin typeface="Arial" panose="020B0604020202020204" pitchFamily="34" charset="0"/>
                <a:cs typeface="Arial" panose="020B0604020202020204" pitchFamily="34" charset="0"/>
              </a:rPr>
              <a:t>(CPF)</a:t>
            </a:r>
            <a:r>
              <a:rPr lang="en-US" sz="1600" b="1" dirty="0">
                <a:solidFill>
                  <a:schemeClr val="tx1"/>
                </a:solidFill>
                <a:latin typeface="Arial" panose="020B0604020202020204" pitchFamily="34" charset="0"/>
                <a:cs typeface="Arial" panose="020B0604020202020204" pitchFamily="34" charset="0"/>
              </a:rPr>
              <a:t>)</a:t>
            </a:r>
            <a:r>
              <a:rPr lang="en-US" sz="1600" dirty="0">
                <a:solidFill>
                  <a:schemeClr val="tx1"/>
                </a:solidFill>
                <a:latin typeface="Arial" panose="020B0604020202020204" pitchFamily="34" charset="0"/>
                <a:cs typeface="Arial" panose="020B0604020202020204" pitchFamily="34" charset="0"/>
              </a:rPr>
              <a:t>;</a:t>
            </a:r>
            <a:endParaRPr lang="pt-BR" sz="1600" dirty="0">
              <a:latin typeface="Arial" panose="020B0604020202020204" pitchFamily="34" charset="0"/>
              <a:cs typeface="Arial" panose="020B0604020202020204" pitchFamily="34" charset="0"/>
            </a:endParaRPr>
          </a:p>
        </p:txBody>
      </p:sp>
      <p:sp>
        <p:nvSpPr>
          <p:cNvPr id="11" name="CaixaDeTexto 10">
            <a:extLst>
              <a:ext uri="{FF2B5EF4-FFF2-40B4-BE49-F238E27FC236}">
                <a16:creationId xmlns:a16="http://schemas.microsoft.com/office/drawing/2014/main" id="{EFD7DB20-82DB-A441-44BA-134A931D687E}"/>
              </a:ext>
            </a:extLst>
          </p:cNvPr>
          <p:cNvSpPr txBox="1"/>
          <p:nvPr/>
        </p:nvSpPr>
        <p:spPr>
          <a:xfrm>
            <a:off x="825499" y="693533"/>
            <a:ext cx="3764111" cy="307777"/>
          </a:xfrm>
          <a:prstGeom prst="rect">
            <a:avLst/>
          </a:prstGeom>
          <a:noFill/>
        </p:spPr>
        <p:txBody>
          <a:bodyPr wrap="square">
            <a:spAutoFit/>
          </a:bodyPr>
          <a:lstStyle/>
          <a:p>
            <a:r>
              <a:rPr lang="en-US" b="1" dirty="0" err="1">
                <a:solidFill>
                  <a:schemeClr val="tx1"/>
                </a:solidFill>
                <a:latin typeface="Verdana" panose="020B0604030504040204" pitchFamily="34" charset="0"/>
              </a:rPr>
              <a:t>Criando</a:t>
            </a:r>
            <a:r>
              <a:rPr lang="en-US" b="1" dirty="0">
                <a:solidFill>
                  <a:schemeClr val="tx1"/>
                </a:solidFill>
                <a:latin typeface="Verdana" panose="020B0604030504040204" pitchFamily="34" charset="0"/>
              </a:rPr>
              <a:t>  </a:t>
            </a:r>
            <a:r>
              <a:rPr lang="en-US" b="1" dirty="0" err="1">
                <a:solidFill>
                  <a:schemeClr val="tx1"/>
                </a:solidFill>
                <a:latin typeface="Verdana" panose="020B0604030504040204" pitchFamily="34" charset="0"/>
              </a:rPr>
              <a:t>uma</a:t>
            </a:r>
            <a:r>
              <a:rPr lang="en-US" b="1" dirty="0">
                <a:solidFill>
                  <a:schemeClr val="tx1"/>
                </a:solidFill>
                <a:latin typeface="Verdana" panose="020B0604030504040204" pitchFamily="34" charset="0"/>
              </a:rPr>
              <a:t>  </a:t>
            </a:r>
            <a:r>
              <a:rPr lang="en-US" b="1" dirty="0" err="1">
                <a:solidFill>
                  <a:schemeClr val="tx1"/>
                </a:solidFill>
                <a:latin typeface="Verdana" panose="020B0604030504040204" pitchFamily="34" charset="0"/>
              </a:rPr>
              <a:t>Tabela</a:t>
            </a:r>
            <a:endParaRPr lang="pt-BR" dirty="0">
              <a:solidFill>
                <a:schemeClr val="tx1"/>
              </a:solidFill>
            </a:endParaRPr>
          </a:p>
        </p:txBody>
      </p:sp>
    </p:spTree>
    <p:extLst>
      <p:ext uri="{BB962C8B-B14F-4D97-AF65-F5344CB8AC3E}">
        <p14:creationId xmlns:p14="http://schemas.microsoft.com/office/powerpoint/2010/main" val="3246695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2868AAB7-2EB8-D5D7-B490-08A5543E8CCB}"/>
              </a:ext>
            </a:extLst>
          </p:cNvPr>
          <p:cNvSpPr txBox="1">
            <a:spLocks noChangeArrowheads="1"/>
          </p:cNvSpPr>
          <p:nvPr/>
        </p:nvSpPr>
        <p:spPr bwMode="auto">
          <a:xfrm>
            <a:off x="982720" y="12534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700" b="1" i="1" dirty="0">
                <a:solidFill>
                  <a:srgbClr val="0033CC"/>
                </a:solidFill>
                <a:latin typeface="Verdana" panose="020B0604030504040204" pitchFamily="34" charset="0"/>
              </a:rPr>
              <a:t>Tipo de Dados </a:t>
            </a:r>
            <a:r>
              <a:rPr lang="en-US" sz="2700" b="1" i="1" dirty="0" err="1">
                <a:solidFill>
                  <a:srgbClr val="0033CC"/>
                </a:solidFill>
                <a:latin typeface="Verdana" panose="020B0604030504040204" pitchFamily="34" charset="0"/>
              </a:rPr>
              <a:t>mais</a:t>
            </a:r>
            <a:r>
              <a:rPr lang="en-US" sz="2700" b="1" i="1" dirty="0">
                <a:solidFill>
                  <a:srgbClr val="0033CC"/>
                </a:solidFill>
                <a:latin typeface="Verdana" panose="020B0604030504040204" pitchFamily="34" charset="0"/>
              </a:rPr>
              <a:t> </a:t>
            </a:r>
            <a:r>
              <a:rPr lang="en-US" sz="2700" b="1" i="1" dirty="0" err="1">
                <a:solidFill>
                  <a:srgbClr val="0033CC"/>
                </a:solidFill>
                <a:latin typeface="Verdana" panose="020B0604030504040204" pitchFamily="34" charset="0"/>
              </a:rPr>
              <a:t>comuns</a:t>
            </a:r>
            <a:r>
              <a:rPr lang="en-US" sz="2700" b="1" i="1" dirty="0">
                <a:solidFill>
                  <a:srgbClr val="0033CC"/>
                </a:solidFill>
                <a:latin typeface="Verdana" panose="020B0604030504040204" pitchFamily="34" charset="0"/>
              </a:rPr>
              <a:t> do </a:t>
            </a:r>
            <a:r>
              <a:rPr lang="en-US" sz="2700" b="1" i="1" dirty="0" err="1">
                <a:solidFill>
                  <a:srgbClr val="0033CC"/>
                </a:solidFill>
                <a:latin typeface="Verdana" panose="020B0604030504040204" pitchFamily="34" charset="0"/>
              </a:rPr>
              <a:t>MySql</a:t>
            </a:r>
            <a:endParaRPr lang="en-US" sz="2700" b="1" i="1" dirty="0">
              <a:solidFill>
                <a:srgbClr val="0033CC"/>
              </a:solidFill>
              <a:latin typeface="Verdana" panose="020B0604030504040204" pitchFamily="34" charset="0"/>
            </a:endParaRPr>
          </a:p>
        </p:txBody>
      </p:sp>
      <p:graphicFrame>
        <p:nvGraphicFramePr>
          <p:cNvPr id="2" name="Tabela 3">
            <a:extLst>
              <a:ext uri="{FF2B5EF4-FFF2-40B4-BE49-F238E27FC236}">
                <a16:creationId xmlns:a16="http://schemas.microsoft.com/office/drawing/2014/main" id="{FE702758-B6DA-E488-366A-645181E5E7A5}"/>
              </a:ext>
            </a:extLst>
          </p:cNvPr>
          <p:cNvGraphicFramePr>
            <a:graphicFrameLocks noGrp="1"/>
          </p:cNvGraphicFramePr>
          <p:nvPr>
            <p:extLst>
              <p:ext uri="{D42A27DB-BD31-4B8C-83A1-F6EECF244321}">
                <p14:modId xmlns:p14="http://schemas.microsoft.com/office/powerpoint/2010/main" val="920527225"/>
              </p:ext>
            </p:extLst>
          </p:nvPr>
        </p:nvGraphicFramePr>
        <p:xfrm>
          <a:off x="195365" y="769467"/>
          <a:ext cx="8519757" cy="3852024"/>
        </p:xfrm>
        <a:graphic>
          <a:graphicData uri="http://schemas.openxmlformats.org/drawingml/2006/table">
            <a:tbl>
              <a:tblPr firstRow="1" bandRow="1">
                <a:tableStyleId>{18E0EB87-6F86-4DAB-AA45-32A1FB75C8D8}</a:tableStyleId>
              </a:tblPr>
              <a:tblGrid>
                <a:gridCol w="1386759">
                  <a:extLst>
                    <a:ext uri="{9D8B030D-6E8A-4147-A177-3AD203B41FA5}">
                      <a16:colId xmlns:a16="http://schemas.microsoft.com/office/drawing/2014/main" val="1783002973"/>
                    </a:ext>
                  </a:extLst>
                </a:gridCol>
                <a:gridCol w="7132998">
                  <a:extLst>
                    <a:ext uri="{9D8B030D-6E8A-4147-A177-3AD203B41FA5}">
                      <a16:colId xmlns:a16="http://schemas.microsoft.com/office/drawing/2014/main" val="1145197222"/>
                    </a:ext>
                  </a:extLst>
                </a:gridCol>
              </a:tblGrid>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Tipo</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err="1">
                          <a:solidFill>
                            <a:schemeClr val="tx1"/>
                          </a:solidFill>
                          <a:latin typeface="Verdana" panose="020B0604030504040204" pitchFamily="34" charset="0"/>
                          <a:ea typeface="Verdana" panose="020B0604030504040204" pitchFamily="34" charset="0"/>
                        </a:rPr>
                        <a:t>Strings</a:t>
                      </a:r>
                      <a:r>
                        <a:rPr lang="pt-BR" sz="1200" b="1" dirty="0">
                          <a:solidFill>
                            <a:schemeClr val="tx1"/>
                          </a:solidFill>
                          <a:latin typeface="Verdana" panose="020B0604030504040204" pitchFamily="34" charset="0"/>
                          <a:ea typeface="Verdana" panose="020B0604030504040204" pitchFamily="34" charset="0"/>
                        </a:rPr>
                        <a:t> – Alfanumérico</a:t>
                      </a:r>
                    </a:p>
                  </a:txBody>
                  <a:tcPr>
                    <a:solidFill>
                      <a:schemeClr val="bg2"/>
                    </a:solidFill>
                  </a:tcPr>
                </a:tc>
                <a:extLst>
                  <a:ext uri="{0D108BD9-81ED-4DB2-BD59-A6C34878D82A}">
                    <a16:rowId xmlns:a16="http://schemas.microsoft.com/office/drawing/2014/main" val="2313886908"/>
                  </a:ext>
                </a:extLst>
              </a:tr>
              <a:tr h="267733">
                <a:tc>
                  <a:txBody>
                    <a:bodyPr/>
                    <a:lstStyle/>
                    <a:p>
                      <a:r>
                        <a:rPr lang="pt-BR" sz="1200" b="0" i="0" dirty="0">
                          <a:solidFill>
                            <a:srgbClr val="000000"/>
                          </a:solidFill>
                          <a:effectLst/>
                          <a:latin typeface="Verdana" panose="020B0604030504040204" pitchFamily="34" charset="0"/>
                          <a:ea typeface="Verdana" panose="020B0604030504040204" pitchFamily="34" charset="0"/>
                        </a:rPr>
                        <a:t>CHAR(</a:t>
                      </a:r>
                      <a:r>
                        <a:rPr lang="pt-BR" sz="1200" b="0" i="0" dirty="0" err="1">
                          <a:solidFill>
                            <a:srgbClr val="000000"/>
                          </a:solidFill>
                          <a:effectLst/>
                          <a:latin typeface="Verdana" panose="020B0604030504040204" pitchFamily="34" charset="0"/>
                          <a:ea typeface="Verdana" panose="020B0604030504040204" pitchFamily="34" charset="0"/>
                        </a:rPr>
                        <a:t>tam</a:t>
                      </a:r>
                      <a:r>
                        <a:rPr lang="pt-BR" sz="1200" b="0" i="0" dirty="0">
                          <a:solidFill>
                            <a:srgbClr val="000000"/>
                          </a:solidFill>
                          <a:effectLst/>
                          <a:latin typeface="Verdana" panose="020B0604030504040204" pitchFamily="34" charset="0"/>
                          <a:ea typeface="Verdana" panose="020B0604030504040204" pitchFamily="34" charset="0"/>
                        </a:rPr>
                        <a:t>) </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dirty="0" err="1">
                          <a:solidFill>
                            <a:srgbClr val="000000"/>
                          </a:solidFill>
                          <a:effectLst/>
                          <a:latin typeface="Verdana" panose="020B0604030504040204" pitchFamily="34" charset="0"/>
                          <a:ea typeface="Verdana" panose="020B0604030504040204" pitchFamily="34" charset="0"/>
                        </a:rPr>
                        <a:t>String</a:t>
                      </a:r>
                      <a:r>
                        <a:rPr lang="pt-BR" sz="1200" b="0" i="0" dirty="0">
                          <a:solidFill>
                            <a:srgbClr val="000000"/>
                          </a:solidFill>
                          <a:effectLst/>
                          <a:latin typeface="Verdana" panose="020B0604030504040204" pitchFamily="34" charset="0"/>
                          <a:ea typeface="Verdana" panose="020B0604030504040204" pitchFamily="34" charset="0"/>
                        </a:rPr>
                        <a:t> que ocupa tamanho fixo entre 0 e 255 caracteres</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1804201748"/>
                  </a:ext>
                </a:extLst>
              </a:tr>
              <a:tr h="281095">
                <a:tc>
                  <a:txBody>
                    <a:bodyPr/>
                    <a:lstStyle/>
                    <a:p>
                      <a:r>
                        <a:rPr lang="pt-BR" sz="1200" b="0" i="0" dirty="0">
                          <a:solidFill>
                            <a:srgbClr val="000000"/>
                          </a:solidFill>
                          <a:effectLst/>
                          <a:latin typeface="Verdana" panose="020B0604030504040204" pitchFamily="34" charset="0"/>
                          <a:ea typeface="Verdana" panose="020B0604030504040204" pitchFamily="34" charset="0"/>
                        </a:rPr>
                        <a:t>VARCHAR(</a:t>
                      </a:r>
                      <a:r>
                        <a:rPr lang="pt-BR" sz="1200" b="0" i="0" dirty="0" err="1">
                          <a:solidFill>
                            <a:srgbClr val="000000"/>
                          </a:solidFill>
                          <a:effectLst/>
                          <a:latin typeface="Verdana" panose="020B0604030504040204" pitchFamily="34" charset="0"/>
                          <a:ea typeface="Verdana" panose="020B0604030504040204" pitchFamily="34" charset="0"/>
                        </a:rPr>
                        <a:t>tam</a:t>
                      </a:r>
                      <a:r>
                        <a:rPr lang="pt-BR" sz="1200" b="0" i="0" dirty="0">
                          <a:solidFill>
                            <a:srgbClr val="000000"/>
                          </a:solidFill>
                          <a:effectLst/>
                          <a:latin typeface="Verdana" panose="020B0604030504040204" pitchFamily="34" charset="0"/>
                          <a:ea typeface="Verdana" panose="020B0604030504040204" pitchFamily="34" charset="0"/>
                        </a:rPr>
                        <a:t>) </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dirty="0" err="1">
                          <a:solidFill>
                            <a:srgbClr val="000000"/>
                          </a:solidFill>
                          <a:effectLst/>
                          <a:latin typeface="Verdana" panose="020B0604030504040204" pitchFamily="34" charset="0"/>
                          <a:ea typeface="Verdana" panose="020B0604030504040204" pitchFamily="34" charset="0"/>
                        </a:rPr>
                        <a:t>String</a:t>
                      </a:r>
                      <a:r>
                        <a:rPr lang="pt-BR" sz="1200" b="0" i="0" dirty="0">
                          <a:solidFill>
                            <a:srgbClr val="000000"/>
                          </a:solidFill>
                          <a:effectLst/>
                          <a:latin typeface="Verdana" panose="020B0604030504040204" pitchFamily="34" charset="0"/>
                          <a:ea typeface="Verdana" panose="020B0604030504040204" pitchFamily="34" charset="0"/>
                        </a:rPr>
                        <a:t> de tamanho variável, até 65535 caracteres</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1911276053"/>
                  </a:ext>
                </a:extLst>
              </a:tr>
              <a:tr h="2376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Tipo</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Numérico  – Inteiro / Decimal</a:t>
                      </a:r>
                    </a:p>
                  </a:txBody>
                  <a:tcPr>
                    <a:solidFill>
                      <a:schemeClr val="bg2"/>
                    </a:solidFill>
                  </a:tcPr>
                </a:tc>
                <a:extLst>
                  <a:ext uri="{0D108BD9-81ED-4DB2-BD59-A6C34878D82A}">
                    <a16:rowId xmlns:a16="http://schemas.microsoft.com/office/drawing/2014/main" val="1616787477"/>
                  </a:ext>
                </a:extLst>
              </a:tr>
              <a:tr h="275558">
                <a:tc>
                  <a:txBody>
                    <a:bodyPr/>
                    <a:lstStyle/>
                    <a:p>
                      <a:r>
                        <a:rPr lang="pt-BR" sz="1200" b="0" i="0" dirty="0">
                          <a:solidFill>
                            <a:srgbClr val="000000"/>
                          </a:solidFill>
                          <a:effectLst/>
                          <a:latin typeface="Verdana" panose="020B0604030504040204" pitchFamily="34" charset="0"/>
                          <a:ea typeface="Verdana" panose="020B0604030504040204" pitchFamily="34" charset="0"/>
                        </a:rPr>
                        <a:t>INT(</a:t>
                      </a:r>
                      <a:r>
                        <a:rPr lang="pt-BR" sz="1200" b="0" i="0" dirty="0" err="1">
                          <a:solidFill>
                            <a:srgbClr val="000000"/>
                          </a:solidFill>
                          <a:effectLst/>
                          <a:latin typeface="Verdana" panose="020B0604030504040204" pitchFamily="34" charset="0"/>
                          <a:ea typeface="Verdana" panose="020B0604030504040204" pitchFamily="34" charset="0"/>
                        </a:rPr>
                        <a:t>tam</a:t>
                      </a:r>
                      <a:r>
                        <a:rPr lang="pt-BR" sz="1200" b="0" i="0" dirty="0">
                          <a:solidFill>
                            <a:srgbClr val="000000"/>
                          </a:solidFill>
                          <a:effectLst/>
                          <a:latin typeface="Verdana" panose="020B0604030504040204" pitchFamily="34" charset="0"/>
                          <a:ea typeface="Verdana" panose="020B0604030504040204" pitchFamily="34" charset="0"/>
                        </a:rPr>
                        <a:t>) </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en-US" sz="1200" b="0" i="0" kern="1200" dirty="0">
                          <a:solidFill>
                            <a:srgbClr val="000000"/>
                          </a:solidFill>
                          <a:effectLst/>
                          <a:latin typeface="Verdana" panose="020B0604030504040204" pitchFamily="34" charset="0"/>
                          <a:ea typeface="Verdana" panose="020B0604030504040204" pitchFamily="34" charset="0"/>
                          <a:cs typeface="Arial"/>
                        </a:rPr>
                        <a:t>SIGNED: -2.147.483.648 e 2.147.483.647  |  UNSIGNED: 0 a 4.294.967.295</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1058250854"/>
                  </a:ext>
                </a:extLst>
              </a:tr>
              <a:tr h="457200">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DECIMAL(</a:t>
                      </a:r>
                      <a:r>
                        <a:rPr lang="pt-BR" sz="1200" b="0" i="0" kern="1200" dirty="0" err="1">
                          <a:solidFill>
                            <a:srgbClr val="000000"/>
                          </a:solidFill>
                          <a:effectLst/>
                          <a:latin typeface="Verdana" panose="020B0604030504040204" pitchFamily="34" charset="0"/>
                          <a:ea typeface="Verdana" panose="020B0604030504040204" pitchFamily="34" charset="0"/>
                          <a:cs typeface="Arial"/>
                        </a:rPr>
                        <a:t>m,d</a:t>
                      </a:r>
                      <a:r>
                        <a:rPr lang="pt-BR" sz="1200" b="0" i="0" kern="1200" dirty="0">
                          <a:solidFill>
                            <a:srgbClr val="000000"/>
                          </a:solidFill>
                          <a:effectLst/>
                          <a:latin typeface="Verdana" panose="020B0604030504040204" pitchFamily="34" charset="0"/>
                          <a:ea typeface="Verdana" panose="020B0604030504040204" pitchFamily="34" charset="0"/>
                          <a:cs typeface="Arial"/>
                        </a:rPr>
                        <a:t>)</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Ponto decimal com “m“ dígitos no total (precisão) e “d” casas decimais (escala); o padrão é 10,0; “m” vai até 65 e “d” até 30. </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899449324"/>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Tipo</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Data / Hora</a:t>
                      </a:r>
                    </a:p>
                  </a:txBody>
                  <a:tcPr>
                    <a:solidFill>
                      <a:schemeClr val="bg2"/>
                    </a:solidFill>
                  </a:tcPr>
                </a:tc>
                <a:extLst>
                  <a:ext uri="{0D108BD9-81ED-4DB2-BD59-A6C34878D82A}">
                    <a16:rowId xmlns:a16="http://schemas.microsoft.com/office/drawing/2014/main" val="462213924"/>
                  </a:ext>
                </a:extLst>
              </a:tr>
              <a:tr h="267404">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DATE</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kern="1200">
                          <a:solidFill>
                            <a:srgbClr val="000000"/>
                          </a:solidFill>
                          <a:effectLst/>
                          <a:latin typeface="Verdana" panose="020B0604030504040204" pitchFamily="34" charset="0"/>
                          <a:ea typeface="Verdana" panose="020B0604030504040204" pitchFamily="34" charset="0"/>
                          <a:cs typeface="Arial"/>
                        </a:rPr>
                        <a:t>Uma data de 01/01/1000 a 31/12/9999, no formato YYYY-MM-DD</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996515733"/>
                  </a:ext>
                </a:extLst>
              </a:tr>
              <a:tr h="457200">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DATETIME</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Uma combinação de data e hora de 01/01/1000 00:00:00 a 31/12/9999 23:59:59, no formato YYYY-MM-DD HH:MM:SS</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4258713607"/>
                  </a:ext>
                </a:extLst>
              </a:tr>
              <a:tr h="2778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rgbClr val="000000"/>
                          </a:solidFill>
                          <a:effectLst/>
                          <a:latin typeface="Verdana" panose="020B0604030504040204" pitchFamily="34" charset="0"/>
                          <a:ea typeface="Verdana" panose="020B0604030504040204" pitchFamily="34" charset="0"/>
                          <a:cs typeface="Arial"/>
                        </a:rPr>
                        <a:t>TIME</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rgbClr val="000000"/>
                          </a:solidFill>
                          <a:effectLst/>
                          <a:latin typeface="Verdana" panose="020B0604030504040204" pitchFamily="34" charset="0"/>
                          <a:ea typeface="Verdana" panose="020B0604030504040204" pitchFamily="34" charset="0"/>
                          <a:cs typeface="Arial"/>
                        </a:rPr>
                        <a:t>Hora apenas, no formato HH:MM:SS</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3920219932"/>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Tipo</a:t>
                      </a:r>
                    </a:p>
                  </a:txBody>
                  <a:tcPr>
                    <a:solidFill>
                      <a:schemeClr val="bg2"/>
                    </a:solidFill>
                  </a:tcPr>
                </a:tc>
                <a:tc>
                  <a:txBody>
                    <a:bodyPr/>
                    <a:lstStyle/>
                    <a:p>
                      <a:r>
                        <a:rPr lang="pt-BR" sz="1200" b="1" dirty="0">
                          <a:solidFill>
                            <a:schemeClr val="tx1"/>
                          </a:solidFill>
                          <a:latin typeface="Verdana" panose="020B0604030504040204" pitchFamily="34" charset="0"/>
                          <a:ea typeface="Verdana" panose="020B0604030504040204" pitchFamily="34" charset="0"/>
                        </a:rPr>
                        <a:t>Lógico</a:t>
                      </a:r>
                      <a:endParaRPr lang="pt-BR" dirty="0"/>
                    </a:p>
                  </a:txBody>
                  <a:tcPr>
                    <a:solidFill>
                      <a:schemeClr val="bg2"/>
                    </a:solidFill>
                  </a:tcPr>
                </a:tc>
                <a:extLst>
                  <a:ext uri="{0D108BD9-81ED-4DB2-BD59-A6C34878D82A}">
                    <a16:rowId xmlns:a16="http://schemas.microsoft.com/office/drawing/2014/main" val="866746233"/>
                  </a:ext>
                </a:extLst>
              </a:tr>
              <a:tr h="370840">
                <a:tc>
                  <a:txBody>
                    <a:bodyPr/>
                    <a:lstStyle/>
                    <a:p>
                      <a:r>
                        <a:rPr lang="pt-BR" sz="1200" b="0" i="0" dirty="0">
                          <a:solidFill>
                            <a:srgbClr val="000000"/>
                          </a:solidFill>
                          <a:effectLst/>
                          <a:latin typeface="Verdana" panose="020B0604030504040204" pitchFamily="34" charset="0"/>
                          <a:ea typeface="Verdana" panose="020B0604030504040204" pitchFamily="34" charset="0"/>
                        </a:rPr>
                        <a:t>BOOLEAN</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BOOLEAN – Valores binários 0(FALSE) / 1(TRUE); Na verdade, é um alias para o tipo TINYINT(1) – Pequeno Inteiro(</a:t>
                      </a:r>
                      <a:r>
                        <a:rPr lang="pt-BR" sz="1200" b="0" i="0" kern="1200" dirty="0" err="1">
                          <a:solidFill>
                            <a:srgbClr val="000000"/>
                          </a:solidFill>
                          <a:effectLst/>
                          <a:latin typeface="Verdana" panose="020B0604030504040204" pitchFamily="34" charset="0"/>
                          <a:ea typeface="Verdana" panose="020B0604030504040204" pitchFamily="34" charset="0"/>
                          <a:cs typeface="Arial"/>
                        </a:rPr>
                        <a:t>Minusculo</a:t>
                      </a:r>
                      <a:r>
                        <a:rPr lang="pt-BR" sz="1200" b="0" i="0" kern="1200" dirty="0">
                          <a:solidFill>
                            <a:srgbClr val="000000"/>
                          </a:solidFill>
                          <a:effectLst/>
                          <a:latin typeface="Verdana" panose="020B0604030504040204" pitchFamily="34" charset="0"/>
                          <a:ea typeface="Verdana" panose="020B0604030504040204" pitchFamily="34" charset="0"/>
                          <a:cs typeface="Arial"/>
                        </a:rPr>
                        <a:t>)</a:t>
                      </a:r>
                      <a:endParaRPr lang="pt-BR" sz="10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1486857494"/>
                  </a:ext>
                </a:extLst>
              </a:tr>
            </a:tbl>
          </a:graphicData>
        </a:graphic>
      </p:graphicFrame>
      <p:grpSp>
        <p:nvGrpSpPr>
          <p:cNvPr id="6" name="Agrupar 5">
            <a:extLst>
              <a:ext uri="{FF2B5EF4-FFF2-40B4-BE49-F238E27FC236}">
                <a16:creationId xmlns:a16="http://schemas.microsoft.com/office/drawing/2014/main" id="{B7311E2E-8C1A-6FC5-5268-4A492C4F4114}"/>
              </a:ext>
            </a:extLst>
          </p:cNvPr>
          <p:cNvGrpSpPr/>
          <p:nvPr/>
        </p:nvGrpSpPr>
        <p:grpSpPr>
          <a:xfrm>
            <a:off x="6600188" y="769467"/>
            <a:ext cx="2212038" cy="600164"/>
            <a:chOff x="416085" y="3736914"/>
            <a:chExt cx="21059180" cy="644062"/>
          </a:xfrm>
        </p:grpSpPr>
        <p:pic>
          <p:nvPicPr>
            <p:cNvPr id="7" name="Imagem 6">
              <a:extLst>
                <a:ext uri="{FF2B5EF4-FFF2-40B4-BE49-F238E27FC236}">
                  <a16:creationId xmlns:a16="http://schemas.microsoft.com/office/drawing/2014/main" id="{74B5FDA7-CCEB-1D32-6D4F-7253C4211BBA}"/>
                </a:ext>
              </a:extLst>
            </p:cNvPr>
            <p:cNvPicPr>
              <a:picLocks noChangeAspect="1"/>
            </p:cNvPicPr>
            <p:nvPr/>
          </p:nvPicPr>
          <p:blipFill>
            <a:blip r:embed="rId2"/>
            <a:stretch>
              <a:fillRect/>
            </a:stretch>
          </p:blipFill>
          <p:spPr>
            <a:xfrm>
              <a:off x="416085" y="3747666"/>
              <a:ext cx="21059180" cy="6171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8" name="CaixaDeTexto 7">
              <a:extLst>
                <a:ext uri="{FF2B5EF4-FFF2-40B4-BE49-F238E27FC236}">
                  <a16:creationId xmlns:a16="http://schemas.microsoft.com/office/drawing/2014/main" id="{BA3755BD-43D7-5AD7-1319-A1DD82527708}"/>
                </a:ext>
              </a:extLst>
            </p:cNvPr>
            <p:cNvSpPr txBox="1"/>
            <p:nvPr/>
          </p:nvSpPr>
          <p:spPr>
            <a:xfrm>
              <a:off x="3466205" y="3736914"/>
              <a:ext cx="17623870" cy="644062"/>
            </a:xfrm>
            <a:prstGeom prst="rect">
              <a:avLst/>
            </a:prstGeom>
            <a:noFill/>
            <a:scene3d>
              <a:camera prst="orthographicFront">
                <a:rot lat="21299999" lon="0" rev="0"/>
              </a:camera>
              <a:lightRig rig="flood" dir="t"/>
            </a:scene3d>
            <a:sp3d prstMaterial="flat">
              <a:bevelT/>
            </a:sp3d>
          </p:spPr>
          <p:txBody>
            <a:bodyPr wrap="square" rtlCol="0">
              <a:spAutoFit/>
            </a:bodyPr>
            <a:lstStyle/>
            <a:p>
              <a:pPr lvl="4" eaLnBrk="0" hangingPunct="0"/>
              <a:r>
                <a:rPr lang="pt-BR" sz="1050" dirty="0">
                  <a:latin typeface="Times" panose="02020603060405020304" pitchFamily="18" charset="0"/>
                </a:rPr>
                <a:t>#</a:t>
              </a:r>
              <a:r>
                <a:rPr lang="pt-BR" sz="1050" dirty="0">
                  <a:solidFill>
                    <a:srgbClr val="FF0000"/>
                  </a:solidFill>
                  <a:latin typeface="Times" panose="02020603060405020304" pitchFamily="18" charset="0"/>
                </a:rPr>
                <a:t>dica</a:t>
              </a:r>
              <a:r>
                <a:rPr lang="pt-BR" sz="1050" dirty="0">
                  <a:latin typeface="Times" panose="02020603060405020304" pitchFamily="18" charset="0"/>
                </a:rPr>
                <a:t>: </a:t>
              </a:r>
              <a:r>
                <a:rPr lang="pt-BR" sz="1100" dirty="0">
                  <a:latin typeface="Times" panose="02020603060405020304" pitchFamily="18" charset="0"/>
                </a:rPr>
                <a:t>Usamos </a:t>
              </a:r>
              <a:r>
                <a:rPr lang="pt-BR" sz="1100" b="0" i="0" dirty="0">
                  <a:solidFill>
                    <a:srgbClr val="373737"/>
                  </a:solidFill>
                  <a:effectLst/>
                  <a:latin typeface="Roboto" panose="02000000000000000000" pitchFamily="2" charset="0"/>
                </a:rPr>
                <a:t>CHAR</a:t>
              </a:r>
              <a:r>
                <a:rPr lang="pt-BR" sz="1100" dirty="0">
                  <a:latin typeface="Times" panose="02020603060405020304" pitchFamily="18" charset="0"/>
                </a:rPr>
                <a:t> quando as colunas tem o mesmo tamanho. </a:t>
              </a:r>
              <a:r>
                <a:rPr lang="pt-BR" sz="1100" dirty="0" err="1">
                  <a:latin typeface="Times" panose="02020603060405020304" pitchFamily="18" charset="0"/>
                </a:rPr>
                <a:t>Ex</a:t>
              </a:r>
              <a:r>
                <a:rPr lang="pt-BR" sz="1100" dirty="0">
                  <a:latin typeface="Times" panose="02020603060405020304" pitchFamily="18" charset="0"/>
                </a:rPr>
                <a:t>: UF, SIGLA</a:t>
              </a:r>
              <a:endParaRPr lang="pt-BR" sz="1050" dirty="0">
                <a:latin typeface="Times" panose="02020603060405020304" pitchFamily="18" charset="0"/>
              </a:endParaRPr>
            </a:p>
          </p:txBody>
        </p:sp>
      </p:grpSp>
    </p:spTree>
    <p:extLst>
      <p:ext uri="{BB962C8B-B14F-4D97-AF65-F5344CB8AC3E}">
        <p14:creationId xmlns:p14="http://schemas.microsoft.com/office/powerpoint/2010/main" val="4306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a:extLst>
              <a:ext uri="{FF2B5EF4-FFF2-40B4-BE49-F238E27FC236}">
                <a16:creationId xmlns:a16="http://schemas.microsoft.com/office/drawing/2014/main" id="{77B808F5-74EA-7D02-40E6-7C09F9A7D442}"/>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Relacionando</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Tabelas</a:t>
            </a:r>
            <a:r>
              <a:rPr lang="en-US" sz="2400" b="1" i="1" dirty="0">
                <a:solidFill>
                  <a:srgbClr val="0033CC"/>
                </a:solidFill>
                <a:latin typeface="Verdana" panose="020B0604030504040204" pitchFamily="34" charset="0"/>
              </a:rPr>
              <a:t> – Foreign key</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2E2426E7-9B57-FF1C-5220-6575235C59CD}"/>
              </a:ext>
            </a:extLst>
          </p:cNvPr>
          <p:cNvSpPr txBox="1"/>
          <p:nvPr/>
        </p:nvSpPr>
        <p:spPr>
          <a:xfrm>
            <a:off x="896686" y="828722"/>
            <a:ext cx="7880549" cy="2862322"/>
          </a:xfrm>
          <a:prstGeom prst="rect">
            <a:avLst/>
          </a:prstGeom>
          <a:noFill/>
        </p:spPr>
        <p:txBody>
          <a:bodyPr wrap="square">
            <a:spAutoFit/>
          </a:bodyPr>
          <a:lstStyle/>
          <a:p>
            <a:pPr algn="just"/>
            <a:r>
              <a:rPr lang="pt-BR" sz="2000" dirty="0">
                <a:latin typeface="Arial" panose="020B0604020202020204" pitchFamily="34" charset="0"/>
                <a:cs typeface="Arial" panose="020B0604020202020204" pitchFamily="34" charset="0"/>
              </a:rPr>
              <a:t>Apesar dos relacionamentos poderem ser criados já dentro do comando CREATE, a boa prática sugere que eles </a:t>
            </a:r>
            <a:r>
              <a:rPr lang="pt-BR" sz="2000" dirty="0" err="1">
                <a:latin typeface="Arial" panose="020B0604020202020204" pitchFamily="34" charset="0"/>
                <a:cs typeface="Arial" panose="020B0604020202020204" pitchFamily="34" charset="0"/>
              </a:rPr>
              <a:t>jejam</a:t>
            </a:r>
            <a:r>
              <a:rPr lang="pt-BR" sz="2000" dirty="0">
                <a:latin typeface="Arial" panose="020B0604020202020204" pitchFamily="34" charset="0"/>
                <a:cs typeface="Arial" panose="020B0604020202020204" pitchFamily="34" charset="0"/>
              </a:rPr>
              <a:t> criados através de comandos ALTER, desta forma evita a necessidade de se criar as tabelas em uma ordem específica</a:t>
            </a:r>
          </a:p>
          <a:p>
            <a:endParaRPr lang="pt-BR" sz="2000" dirty="0">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ALTER TABLE [IF NOT EXISTS] </a:t>
            </a:r>
            <a:r>
              <a:rPr lang="pt-BR" sz="2000" b="1" dirty="0" err="1">
                <a:solidFill>
                  <a:srgbClr val="FF0000"/>
                </a:solidFill>
                <a:latin typeface="Arial" panose="020B0604020202020204" pitchFamily="34" charset="0"/>
                <a:cs typeface="Arial" panose="020B0604020202020204" pitchFamily="34" charset="0"/>
              </a:rPr>
              <a:t>nome_tabela</a:t>
            </a:r>
            <a:r>
              <a:rPr lang="pt-BR" sz="2000" b="1" dirty="0">
                <a:solidFill>
                  <a:srgbClr val="FF0000"/>
                </a:solidFill>
                <a:latin typeface="Arial" panose="020B0604020202020204" pitchFamily="34" charset="0"/>
                <a:cs typeface="Arial" panose="020B0604020202020204" pitchFamily="34" charset="0"/>
              </a:rPr>
              <a:t> </a:t>
            </a:r>
            <a:endParaRPr lang="pt-BR" sz="2000" b="1"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ADD CONSTRAINT </a:t>
            </a:r>
            <a:r>
              <a:rPr lang="pt-BR" sz="2000" b="1" dirty="0">
                <a:solidFill>
                  <a:srgbClr val="FF0000"/>
                </a:solidFill>
                <a:latin typeface="Arial" panose="020B0604020202020204" pitchFamily="34" charset="0"/>
                <a:cs typeface="Arial" panose="020B0604020202020204" pitchFamily="34" charset="0"/>
              </a:rPr>
              <a:t>[</a:t>
            </a:r>
            <a:r>
              <a:rPr lang="pt-BR" sz="2000" b="1" dirty="0" err="1">
                <a:solidFill>
                  <a:srgbClr val="FF0000"/>
                </a:solidFill>
                <a:latin typeface="Arial" panose="020B0604020202020204" pitchFamily="34" charset="0"/>
                <a:cs typeface="Arial" panose="020B0604020202020204" pitchFamily="34" charset="0"/>
              </a:rPr>
              <a:t>nome_da_constraint</a:t>
            </a:r>
            <a:r>
              <a:rPr lang="pt-BR" sz="2000" b="1" dirty="0">
                <a:solidFill>
                  <a:srgbClr val="FF0000"/>
                </a:solidFill>
                <a:latin typeface="Arial" panose="020B0604020202020204" pitchFamily="34" charset="0"/>
                <a:cs typeface="Arial" panose="020B0604020202020204" pitchFamily="34" charset="0"/>
              </a:rPr>
              <a:t>]</a:t>
            </a:r>
            <a:r>
              <a:rPr lang="pt-BR" sz="2000" b="1" dirty="0">
                <a:solidFill>
                  <a:srgbClr val="0033CC"/>
                </a:solidFill>
                <a:latin typeface="Arial" panose="020B0604020202020204" pitchFamily="34" charset="0"/>
                <a:cs typeface="Arial" panose="020B0604020202020204" pitchFamily="34" charset="0"/>
              </a:rPr>
              <a:t> FOREIGN KEY (</a:t>
            </a:r>
            <a:r>
              <a:rPr lang="pt-BR" sz="2000" b="1" dirty="0">
                <a:solidFill>
                  <a:srgbClr val="FF0000"/>
                </a:solidFill>
                <a:latin typeface="Arial" panose="020B0604020202020204" pitchFamily="34" charset="0"/>
                <a:cs typeface="Arial" panose="020B0604020202020204" pitchFamily="34" charset="0"/>
              </a:rPr>
              <a:t>coluna1,coluna2...</a:t>
            </a:r>
            <a:r>
              <a:rPr lang="pt-BR" sz="2000" b="1" dirty="0">
                <a:solidFill>
                  <a:srgbClr val="0033CC"/>
                </a:solidFill>
                <a:latin typeface="Arial" panose="020B0604020202020204" pitchFamily="34" charset="0"/>
                <a:cs typeface="Arial" panose="020B0604020202020204" pitchFamily="34" charset="0"/>
              </a:rPr>
              <a:t>) REFERENCES </a:t>
            </a:r>
            <a:r>
              <a:rPr lang="pt-BR" sz="2000" b="1" dirty="0" err="1">
                <a:solidFill>
                  <a:srgbClr val="FF0000"/>
                </a:solidFill>
                <a:latin typeface="Arial" panose="020B0604020202020204" pitchFamily="34" charset="0"/>
                <a:cs typeface="Arial" panose="020B0604020202020204" pitchFamily="34" charset="0"/>
              </a:rPr>
              <a:t>nome_da_tabela_pai</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coluna1,coluna2,...</a:t>
            </a:r>
            <a:r>
              <a:rPr lang="pt-BR" sz="2000" b="1" dirty="0">
                <a:solidFill>
                  <a:srgbClr val="0033CC"/>
                </a:solidFill>
                <a:latin typeface="Arial" panose="020B0604020202020204" pitchFamily="34" charset="0"/>
                <a:cs typeface="Arial" panose="020B0604020202020204" pitchFamily="34" charset="0"/>
              </a:rPr>
              <a:t>)]</a:t>
            </a:r>
            <a:endParaRPr lang="pt-B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172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32C2B7-9C6C-4EB8-669E-844AA2371EB4}"/>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831795D4-6CEA-61C5-9FD4-8B457E7E8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08619F4-121C-AEBD-A52C-28E03A757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a:extLst>
              <a:ext uri="{FF2B5EF4-FFF2-40B4-BE49-F238E27FC236}">
                <a16:creationId xmlns:a16="http://schemas.microsoft.com/office/drawing/2014/main" id="{A70511B0-3666-C19A-DC50-A7DCA9451766}"/>
              </a:ext>
            </a:extLst>
          </p:cNvPr>
          <p:cNvSpPr>
            <a:spLocks noChangeArrowheads="1"/>
          </p:cNvSpPr>
          <p:nvPr/>
        </p:nvSpPr>
        <p:spPr bwMode="auto">
          <a:xfrm>
            <a:off x="530258" y="3376747"/>
            <a:ext cx="8074057" cy="1361508"/>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fontScale="55000" lnSpcReduction="20000"/>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a:solidFill>
                  <a:srgbClr val="FFFFFF"/>
                </a:solidFill>
                <a:latin typeface="+mj-lt"/>
                <a:ea typeface="+mj-ea"/>
                <a:cs typeface="+mj-cs"/>
              </a:rPr>
              <a:t>DCL – Data Control Language</a:t>
            </a:r>
          </a:p>
          <a:p>
            <a:pPr algn="ctr">
              <a:lnSpc>
                <a:spcPct val="90000"/>
              </a:lnSpc>
              <a:spcBef>
                <a:spcPct val="0"/>
              </a:spcBef>
              <a:spcAft>
                <a:spcPts val="600"/>
              </a:spcAft>
            </a:pPr>
            <a:r>
              <a:rPr lang="en-US" altLang="pt-BR" sz="3800" kern="1200" dirty="0">
                <a:solidFill>
                  <a:srgbClr val="FFFFFF"/>
                </a:solidFill>
                <a:latin typeface="+mj-lt"/>
                <a:ea typeface="+mj-ea"/>
                <a:cs typeface="+mj-cs"/>
              </a:rPr>
              <a:t>GRANT, REVOKE</a:t>
            </a:r>
          </a:p>
          <a:p>
            <a:pPr algn="ctr">
              <a:lnSpc>
                <a:spcPct val="90000"/>
              </a:lnSpc>
              <a:spcBef>
                <a:spcPct val="0"/>
              </a:spcBef>
              <a:spcAft>
                <a:spcPts val="600"/>
              </a:spcAft>
            </a:pPr>
            <a:r>
              <a:rPr lang="en-US" altLang="pt-BR" sz="3800" kern="1200" dirty="0" err="1">
                <a:solidFill>
                  <a:srgbClr val="FFFFFF"/>
                </a:solidFill>
                <a:latin typeface="+mj-lt"/>
                <a:ea typeface="+mj-ea"/>
                <a:cs typeface="+mj-cs"/>
              </a:rPr>
              <a:t>Linguagem</a:t>
            </a:r>
            <a:r>
              <a:rPr lang="en-US" altLang="pt-BR" sz="3800" kern="1200" dirty="0">
                <a:solidFill>
                  <a:srgbClr val="FFFFFF"/>
                </a:solidFill>
                <a:latin typeface="+mj-lt"/>
                <a:ea typeface="+mj-ea"/>
                <a:cs typeface="+mj-cs"/>
              </a:rPr>
              <a:t> de Controle de </a:t>
            </a:r>
            <a:r>
              <a:rPr lang="en-US" altLang="pt-BR" sz="3800" kern="1200" dirty="0" err="1">
                <a:solidFill>
                  <a:srgbClr val="FFFFFF"/>
                </a:solidFill>
                <a:latin typeface="+mj-lt"/>
                <a:ea typeface="+mj-ea"/>
                <a:cs typeface="+mj-cs"/>
              </a:rPr>
              <a:t>Acesso</a:t>
            </a:r>
            <a:endParaRPr lang="en-US" altLang="pt-BR" sz="3800" kern="1200" dirty="0">
              <a:solidFill>
                <a:srgbClr val="FFFFFF"/>
              </a:solidFill>
              <a:latin typeface="+mj-lt"/>
              <a:ea typeface="+mj-ea"/>
              <a:cs typeface="+mj-cs"/>
            </a:endParaRPr>
          </a:p>
        </p:txBody>
      </p:sp>
      <p:pic>
        <p:nvPicPr>
          <p:cNvPr id="6" name="Imagem 5" descr="Uma imagem contendo objeto, relógio, computador, monitor&#10;&#10;Descrição gerada automaticamente">
            <a:extLst>
              <a:ext uri="{FF2B5EF4-FFF2-40B4-BE49-F238E27FC236}">
                <a16:creationId xmlns:a16="http://schemas.microsoft.com/office/drawing/2014/main" id="{5BAA050B-4786-FBEF-AB24-1A642ECB525A}"/>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2098685061"/>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288F-6BE9-E2B4-9764-E75D9C529ED2}"/>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68A2A6D5-211D-6E93-CE3D-765138C5758B}"/>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Contole</a:t>
            </a:r>
            <a:r>
              <a:rPr lang="en-US" sz="2400" b="1" i="1" dirty="0">
                <a:solidFill>
                  <a:srgbClr val="0033CC"/>
                </a:solidFill>
                <a:latin typeface="Verdana" panose="020B0604030504040204" pitchFamily="34" charset="0"/>
              </a:rPr>
              <a:t> de </a:t>
            </a:r>
            <a:r>
              <a:rPr lang="en-US" sz="2400" b="1" i="1" dirty="0" err="1">
                <a:solidFill>
                  <a:srgbClr val="0033CC"/>
                </a:solidFill>
                <a:latin typeface="Verdana" panose="020B0604030504040204" pitchFamily="34" charset="0"/>
              </a:rPr>
              <a:t>Acesso</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618AC192-1F21-EDAD-61A2-0080F9C3FB63}"/>
              </a:ext>
            </a:extLst>
          </p:cNvPr>
          <p:cNvSpPr txBox="1"/>
          <p:nvPr/>
        </p:nvSpPr>
        <p:spPr>
          <a:xfrm>
            <a:off x="896686" y="828722"/>
            <a:ext cx="7880549" cy="3477875"/>
          </a:xfrm>
          <a:prstGeom prst="rect">
            <a:avLst/>
          </a:prstGeom>
          <a:noFill/>
        </p:spPr>
        <p:txBody>
          <a:bodyPr wrap="square">
            <a:spAutoFit/>
          </a:bodyPr>
          <a:lstStyle/>
          <a:p>
            <a:pPr algn="just"/>
            <a:r>
              <a:rPr lang="pt-BR" sz="2000" dirty="0">
                <a:latin typeface="Arial" panose="020B0604020202020204" pitchFamily="34" charset="0"/>
                <a:cs typeface="Arial" panose="020B0604020202020204" pitchFamily="34" charset="0"/>
              </a:rPr>
              <a:t>Uma das </a:t>
            </a:r>
            <a:r>
              <a:rPr lang="pt-BR" sz="2000" dirty="0" err="1">
                <a:latin typeface="Arial" panose="020B0604020202020204" pitchFamily="34" charset="0"/>
                <a:cs typeface="Arial" panose="020B0604020202020204" pitchFamily="34" charset="0"/>
              </a:rPr>
              <a:t>peincipais</a:t>
            </a:r>
            <a:r>
              <a:rPr lang="pt-BR" sz="2000" dirty="0">
                <a:latin typeface="Arial" panose="020B0604020202020204" pitchFamily="34" charset="0"/>
                <a:cs typeface="Arial" panose="020B0604020202020204" pitchFamily="34" charset="0"/>
              </a:rPr>
              <a:t> vantagens de se utilizar um SGBD é o controle rígido de acesso, no seu padrão apenas o criador de um objeto tem acesso a este objeto, qualquer outro usuário precisa receber uma </a:t>
            </a:r>
            <a:r>
              <a:rPr lang="pt-BR" sz="2000" dirty="0" err="1">
                <a:latin typeface="Arial" panose="020B0604020202020204" pitchFamily="34" charset="0"/>
                <a:cs typeface="Arial" panose="020B0604020202020204" pitchFamily="34" charset="0"/>
              </a:rPr>
              <a:t>pemissão</a:t>
            </a:r>
            <a:r>
              <a:rPr lang="pt-BR" sz="2000" dirty="0">
                <a:latin typeface="Arial" panose="020B0604020202020204" pitchFamily="34" charset="0"/>
                <a:cs typeface="Arial" panose="020B0604020202020204" pitchFamily="34" charset="0"/>
              </a:rPr>
              <a:t> de acesso.</a:t>
            </a:r>
          </a:p>
          <a:p>
            <a:endParaRPr lang="pt-BR" sz="2000" dirty="0">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GRANT </a:t>
            </a:r>
            <a:r>
              <a:rPr lang="pt-BR" sz="2000" b="1" dirty="0" err="1">
                <a:solidFill>
                  <a:srgbClr val="FF0000"/>
                </a:solidFill>
                <a:latin typeface="Arial" panose="020B0604020202020204" pitchFamily="34" charset="0"/>
                <a:cs typeface="Arial" panose="020B0604020202020204" pitchFamily="34" charset="0"/>
              </a:rPr>
              <a:t>parmissão_que_vai_fornecer</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33CC"/>
                </a:solidFill>
                <a:latin typeface="Arial" panose="020B0604020202020204" pitchFamily="34" charset="0"/>
                <a:cs typeface="Arial" panose="020B0604020202020204" pitchFamily="34" charset="0"/>
              </a:rPr>
              <a:t>ON  </a:t>
            </a:r>
            <a:r>
              <a:rPr lang="pt-BR" sz="2000" b="1" dirty="0">
                <a:solidFill>
                  <a:srgbClr val="FF0000"/>
                </a:solidFill>
                <a:latin typeface="Arial" panose="020B0604020202020204" pitchFamily="34" charset="0"/>
                <a:cs typeface="Arial" panose="020B0604020202020204" pitchFamily="34" charset="0"/>
              </a:rPr>
              <a:t>objeto</a:t>
            </a:r>
            <a:r>
              <a:rPr lang="pt-BR" sz="2000" b="1" dirty="0">
                <a:solidFill>
                  <a:srgbClr val="0033CC"/>
                </a:solidFill>
                <a:latin typeface="Arial" panose="020B0604020202020204" pitchFamily="34" charset="0"/>
                <a:cs typeface="Arial" panose="020B0604020202020204" pitchFamily="34" charset="0"/>
              </a:rPr>
              <a:t> TO </a:t>
            </a:r>
            <a:r>
              <a:rPr lang="pt-BR" sz="2000" b="1" dirty="0" err="1">
                <a:solidFill>
                  <a:srgbClr val="FF0000"/>
                </a:solidFill>
                <a:latin typeface="Arial" panose="020B0604020202020204" pitchFamily="34" charset="0"/>
                <a:cs typeface="Arial" panose="020B0604020202020204" pitchFamily="34" charset="0"/>
              </a:rPr>
              <a:t>usuário_ou_grupo</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REVOKE </a:t>
            </a:r>
            <a:r>
              <a:rPr lang="pt-BR" sz="2000" b="1" dirty="0" err="1">
                <a:solidFill>
                  <a:srgbClr val="FF0000"/>
                </a:solidFill>
                <a:latin typeface="Arial" panose="020B0604020202020204" pitchFamily="34" charset="0"/>
                <a:cs typeface="Arial" panose="020B0604020202020204" pitchFamily="34" charset="0"/>
              </a:rPr>
              <a:t>parmissão_que_vai_retirar</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33CC"/>
                </a:solidFill>
                <a:latin typeface="Arial" panose="020B0604020202020204" pitchFamily="34" charset="0"/>
                <a:cs typeface="Arial" panose="020B0604020202020204" pitchFamily="34" charset="0"/>
              </a:rPr>
              <a:t>ON  </a:t>
            </a:r>
            <a:r>
              <a:rPr lang="pt-BR" sz="2000" b="1" dirty="0">
                <a:solidFill>
                  <a:srgbClr val="FF0000"/>
                </a:solidFill>
                <a:latin typeface="Arial" panose="020B0604020202020204" pitchFamily="34" charset="0"/>
                <a:cs typeface="Arial" panose="020B0604020202020204" pitchFamily="34" charset="0"/>
              </a:rPr>
              <a:t>objeto</a:t>
            </a:r>
            <a:r>
              <a:rPr lang="pt-BR" sz="2000" b="1" dirty="0">
                <a:solidFill>
                  <a:srgbClr val="0033CC"/>
                </a:solidFill>
                <a:latin typeface="Arial" panose="020B0604020202020204" pitchFamily="34" charset="0"/>
                <a:cs typeface="Arial" panose="020B0604020202020204" pitchFamily="34" charset="0"/>
              </a:rPr>
              <a:t> FROM </a:t>
            </a:r>
            <a:r>
              <a:rPr lang="pt-BR" sz="2000" b="1" dirty="0" err="1">
                <a:solidFill>
                  <a:srgbClr val="FF0000"/>
                </a:solidFill>
                <a:latin typeface="Arial" panose="020B0604020202020204" pitchFamily="34" charset="0"/>
                <a:cs typeface="Arial" panose="020B0604020202020204" pitchFamily="34" charset="0"/>
              </a:rPr>
              <a:t>usuário_ou_grupo</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504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E82889-0DB4-E269-D66B-D4D9EA3CBB37}"/>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1AFD9034-E835-7BA9-3BCE-6878AB687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0029F363-C05B-4FBA-6B57-8B6DD4033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a:extLst>
              <a:ext uri="{FF2B5EF4-FFF2-40B4-BE49-F238E27FC236}">
                <a16:creationId xmlns:a16="http://schemas.microsoft.com/office/drawing/2014/main" id="{C0D96902-850F-8232-3F4B-448614D67A7F}"/>
              </a:ext>
            </a:extLst>
          </p:cNvPr>
          <p:cNvSpPr>
            <a:spLocks noChangeArrowheads="1"/>
          </p:cNvSpPr>
          <p:nvPr/>
        </p:nvSpPr>
        <p:spPr bwMode="auto">
          <a:xfrm>
            <a:off x="530258" y="3376747"/>
            <a:ext cx="8074057" cy="1361508"/>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fontScale="55000" lnSpcReduction="20000"/>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a:solidFill>
                  <a:srgbClr val="FFFFFF"/>
                </a:solidFill>
                <a:latin typeface="+mj-lt"/>
                <a:ea typeface="+mj-ea"/>
                <a:cs typeface="+mj-cs"/>
              </a:rPr>
              <a:t>TCL – </a:t>
            </a:r>
            <a:r>
              <a:rPr lang="en-US" altLang="pt-BR" sz="3800" kern="1200" dirty="0" err="1">
                <a:solidFill>
                  <a:srgbClr val="FFFFFF"/>
                </a:solidFill>
                <a:latin typeface="+mj-lt"/>
                <a:ea typeface="+mj-ea"/>
                <a:cs typeface="+mj-cs"/>
              </a:rPr>
              <a:t>Transation</a:t>
            </a:r>
            <a:r>
              <a:rPr lang="en-US" altLang="pt-BR" sz="3800" kern="1200" dirty="0">
                <a:solidFill>
                  <a:srgbClr val="FFFFFF"/>
                </a:solidFill>
                <a:latin typeface="+mj-lt"/>
                <a:ea typeface="+mj-ea"/>
                <a:cs typeface="+mj-cs"/>
              </a:rPr>
              <a:t> Control Language</a:t>
            </a:r>
          </a:p>
          <a:p>
            <a:pPr algn="ctr">
              <a:lnSpc>
                <a:spcPct val="90000"/>
              </a:lnSpc>
              <a:spcBef>
                <a:spcPct val="0"/>
              </a:spcBef>
              <a:spcAft>
                <a:spcPts val="600"/>
              </a:spcAft>
            </a:pPr>
            <a:r>
              <a:rPr lang="en-US" altLang="pt-BR" sz="3800" kern="1200" dirty="0">
                <a:solidFill>
                  <a:srgbClr val="FFFFFF"/>
                </a:solidFill>
                <a:latin typeface="+mj-lt"/>
                <a:ea typeface="+mj-ea"/>
                <a:cs typeface="+mj-cs"/>
              </a:rPr>
              <a:t>BEGIN, COMMIT, REVOKE</a:t>
            </a:r>
          </a:p>
          <a:p>
            <a:pPr algn="ctr">
              <a:lnSpc>
                <a:spcPct val="90000"/>
              </a:lnSpc>
              <a:spcBef>
                <a:spcPct val="0"/>
              </a:spcBef>
              <a:spcAft>
                <a:spcPts val="600"/>
              </a:spcAft>
            </a:pPr>
            <a:r>
              <a:rPr lang="en-US" altLang="pt-BR" sz="3800" kern="1200" dirty="0" err="1">
                <a:solidFill>
                  <a:srgbClr val="FFFFFF"/>
                </a:solidFill>
                <a:latin typeface="+mj-lt"/>
                <a:ea typeface="+mj-ea"/>
                <a:cs typeface="+mj-cs"/>
              </a:rPr>
              <a:t>Linguagem</a:t>
            </a:r>
            <a:r>
              <a:rPr lang="en-US" altLang="pt-BR" sz="3800" kern="1200" dirty="0">
                <a:solidFill>
                  <a:srgbClr val="FFFFFF"/>
                </a:solidFill>
                <a:latin typeface="+mj-lt"/>
                <a:ea typeface="+mj-ea"/>
                <a:cs typeface="+mj-cs"/>
              </a:rPr>
              <a:t> de Controle de </a:t>
            </a:r>
            <a:r>
              <a:rPr lang="en-US" altLang="pt-BR" sz="3800" kern="1200" dirty="0" err="1">
                <a:solidFill>
                  <a:srgbClr val="FFFFFF"/>
                </a:solidFill>
                <a:latin typeface="+mj-lt"/>
                <a:ea typeface="+mj-ea"/>
                <a:cs typeface="+mj-cs"/>
              </a:rPr>
              <a:t>Transção</a:t>
            </a:r>
            <a:endParaRPr lang="en-US" altLang="pt-BR" sz="3800" kern="1200" dirty="0">
              <a:solidFill>
                <a:srgbClr val="FFFFFF"/>
              </a:solidFill>
              <a:latin typeface="+mj-lt"/>
              <a:ea typeface="+mj-ea"/>
              <a:cs typeface="+mj-cs"/>
            </a:endParaRPr>
          </a:p>
        </p:txBody>
      </p:sp>
      <p:pic>
        <p:nvPicPr>
          <p:cNvPr id="6" name="Imagem 5" descr="Uma imagem contendo objeto, relógio, computador, monitor&#10;&#10;Descrição gerada automaticamente">
            <a:extLst>
              <a:ext uri="{FF2B5EF4-FFF2-40B4-BE49-F238E27FC236}">
                <a16:creationId xmlns:a16="http://schemas.microsoft.com/office/drawing/2014/main" id="{EFECB717-6EEC-2346-51B8-7B4F065A3B0D}"/>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1418465329"/>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012E9-FDFE-BF69-E348-670A5E049B8B}"/>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6CD5BD2F-5F96-33AC-DE6F-C27E9D41536E}"/>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Contole</a:t>
            </a:r>
            <a:r>
              <a:rPr lang="en-US" sz="2400" b="1" i="1" dirty="0">
                <a:solidFill>
                  <a:srgbClr val="0033CC"/>
                </a:solidFill>
                <a:latin typeface="Verdana" panose="020B0604030504040204" pitchFamily="34" charset="0"/>
              </a:rPr>
              <a:t> de </a:t>
            </a:r>
            <a:r>
              <a:rPr lang="en-US" sz="2400" b="1" i="1" dirty="0" err="1">
                <a:solidFill>
                  <a:srgbClr val="0033CC"/>
                </a:solidFill>
                <a:latin typeface="Verdana" panose="020B0604030504040204" pitchFamily="34" charset="0"/>
              </a:rPr>
              <a:t>Transação</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A1488DC1-FEBB-C7F3-B649-80DDA5952F85}"/>
              </a:ext>
            </a:extLst>
          </p:cNvPr>
          <p:cNvSpPr txBox="1"/>
          <p:nvPr/>
        </p:nvSpPr>
        <p:spPr>
          <a:xfrm>
            <a:off x="896686" y="828722"/>
            <a:ext cx="7880549" cy="3170099"/>
          </a:xfrm>
          <a:prstGeom prst="rect">
            <a:avLst/>
          </a:prstGeom>
          <a:noFill/>
        </p:spPr>
        <p:txBody>
          <a:bodyPr wrap="square">
            <a:spAutoFit/>
          </a:bodyPr>
          <a:lstStyle/>
          <a:p>
            <a:pPr algn="just"/>
            <a:r>
              <a:rPr lang="pt-BR" sz="2000" dirty="0">
                <a:latin typeface="Arial" panose="020B0604020202020204" pitchFamily="34" charset="0"/>
                <a:cs typeface="Arial" panose="020B0604020202020204" pitchFamily="34" charset="0"/>
              </a:rPr>
              <a:t>Existem situações quando desenvolvemos um aplicativo que é necessário que um grupo de </a:t>
            </a:r>
            <a:r>
              <a:rPr lang="pt-BR" sz="2000" dirty="0" err="1">
                <a:latin typeface="Arial" panose="020B0604020202020204" pitchFamily="34" charset="0"/>
                <a:cs typeface="Arial" panose="020B0604020202020204" pitchFamily="34" charset="0"/>
              </a:rPr>
              <a:t>inserts</a:t>
            </a:r>
            <a:r>
              <a:rPr lang="pt-BR" sz="2000" dirty="0">
                <a:latin typeface="Arial" panose="020B0604020202020204" pitchFamily="34" charset="0"/>
                <a:cs typeface="Arial" panose="020B0604020202020204" pitchFamily="34" charset="0"/>
              </a:rPr>
              <a:t> ou updates sejam </a:t>
            </a:r>
            <a:r>
              <a:rPr lang="pt-BR" sz="2000" dirty="0" err="1">
                <a:latin typeface="Arial" panose="020B0604020202020204" pitchFamily="34" charset="0"/>
                <a:cs typeface="Arial" panose="020B0604020202020204" pitchFamily="34" charset="0"/>
              </a:rPr>
              <a:t>slavos</a:t>
            </a:r>
            <a:r>
              <a:rPr lang="pt-BR" sz="2000" dirty="0">
                <a:latin typeface="Arial" panose="020B0604020202020204" pitchFamily="34" charset="0"/>
                <a:cs typeface="Arial" panose="020B0604020202020204" pitchFamily="34" charset="0"/>
              </a:rPr>
              <a:t> todo ou não seja salvo nenhum, ex.: ao fazer uma venda de 3 itens o sistema vai </a:t>
            </a:r>
            <a:r>
              <a:rPr lang="pt-BR" sz="2000" dirty="0" err="1">
                <a:latin typeface="Arial" panose="020B0604020202020204" pitchFamily="34" charset="0"/>
                <a:cs typeface="Arial" panose="020B0604020202020204" pitchFamily="34" charset="0"/>
              </a:rPr>
              <a:t>danso</a:t>
            </a:r>
            <a:r>
              <a:rPr lang="pt-BR" sz="2000" dirty="0">
                <a:latin typeface="Arial" panose="020B0604020202020204" pitchFamily="34" charset="0"/>
                <a:cs typeface="Arial" panose="020B0604020202020204" pitchFamily="34" charset="0"/>
              </a:rPr>
              <a:t> baixa no estoque a cada </a:t>
            </a:r>
            <a:r>
              <a:rPr lang="pt-BR" sz="2000" dirty="0" err="1">
                <a:latin typeface="Arial" panose="020B0604020202020204" pitchFamily="34" charset="0"/>
                <a:cs typeface="Arial" panose="020B0604020202020204" pitchFamily="34" charset="0"/>
              </a:rPr>
              <a:t>iten</a:t>
            </a:r>
            <a:r>
              <a:rPr lang="pt-BR" sz="2000" dirty="0">
                <a:latin typeface="Arial" panose="020B0604020202020204" pitchFamily="34" charset="0"/>
                <a:cs typeface="Arial" panose="020B0604020202020204" pitchFamily="34" charset="0"/>
              </a:rPr>
              <a:t> vendido, é necessário que só se atualiza o estoque se o pedido for concluído com sucesso, caso contrário </a:t>
            </a:r>
            <a:r>
              <a:rPr lang="pt-BR" sz="2000" dirty="0" err="1">
                <a:latin typeface="Arial" panose="020B0604020202020204" pitchFamily="34" charset="0"/>
                <a:cs typeface="Arial" panose="020B0604020202020204" pitchFamily="34" charset="0"/>
              </a:rPr>
              <a:t>tods</a:t>
            </a:r>
            <a:r>
              <a:rPr lang="pt-BR" sz="2000" dirty="0">
                <a:latin typeface="Arial" panose="020B0604020202020204" pitchFamily="34" charset="0"/>
                <a:cs typeface="Arial" panose="020B0604020202020204" pitchFamily="34" charset="0"/>
              </a:rPr>
              <a:t> as baixas devem ser desfeitas.</a:t>
            </a:r>
          </a:p>
          <a:p>
            <a:pPr algn="just"/>
            <a:endParaRPr lang="pt-BR" sz="2000" dirty="0">
              <a:latin typeface="Arial" panose="020B0604020202020204" pitchFamily="34" charset="0"/>
              <a:cs typeface="Arial" panose="020B0604020202020204" pitchFamily="34" charset="0"/>
            </a:endParaRPr>
          </a:p>
          <a:p>
            <a:pPr algn="just"/>
            <a:r>
              <a:rPr lang="pt-BR" sz="2000" dirty="0">
                <a:latin typeface="Arial" panose="020B0604020202020204" pitchFamily="34" charset="0"/>
                <a:cs typeface="Arial" panose="020B0604020202020204" pitchFamily="34" charset="0"/>
              </a:rPr>
              <a:t>Este tipo de situação é conhecido como transação.</a:t>
            </a:r>
          </a:p>
          <a:p>
            <a:pPr algn="just"/>
            <a:endParaRPr lang="pt-BR" sz="2000" dirty="0">
              <a:latin typeface="Arial" panose="020B0604020202020204" pitchFamily="34" charset="0"/>
              <a:cs typeface="Arial" panose="020B0604020202020204" pitchFamily="34" charset="0"/>
            </a:endParaRPr>
          </a:p>
          <a:p>
            <a:endParaRPr lang="pt-BR"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926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2B6A6-9834-5258-F5C5-09B9F8A91F62}"/>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8D989CA6-A897-2733-DF70-1546C8594253}"/>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Contole</a:t>
            </a:r>
            <a:r>
              <a:rPr lang="en-US" sz="2400" b="1" i="1" dirty="0">
                <a:solidFill>
                  <a:srgbClr val="0033CC"/>
                </a:solidFill>
                <a:latin typeface="Verdana" panose="020B0604030504040204" pitchFamily="34" charset="0"/>
              </a:rPr>
              <a:t> de </a:t>
            </a:r>
            <a:r>
              <a:rPr lang="en-US" sz="2400" b="1" i="1" dirty="0" err="1">
                <a:solidFill>
                  <a:srgbClr val="0033CC"/>
                </a:solidFill>
                <a:latin typeface="Verdana" panose="020B0604030504040204" pitchFamily="34" charset="0"/>
              </a:rPr>
              <a:t>Acesso</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F4029D07-53C2-836B-76AA-3E1B31B6FCF9}"/>
              </a:ext>
            </a:extLst>
          </p:cNvPr>
          <p:cNvSpPr txBox="1"/>
          <p:nvPr/>
        </p:nvSpPr>
        <p:spPr>
          <a:xfrm>
            <a:off x="896686" y="828722"/>
            <a:ext cx="7880549" cy="3785652"/>
          </a:xfrm>
          <a:prstGeom prst="rect">
            <a:avLst/>
          </a:prstGeom>
          <a:noFill/>
        </p:spPr>
        <p:txBody>
          <a:bodyPr wrap="square">
            <a:spAutoFit/>
          </a:bodyPr>
          <a:lstStyle/>
          <a:p>
            <a:r>
              <a:rPr lang="pt-BR" sz="2000" b="1" dirty="0">
                <a:solidFill>
                  <a:srgbClr val="0033CC"/>
                </a:solidFill>
                <a:latin typeface="Arial" panose="020B0604020202020204" pitchFamily="34" charset="0"/>
                <a:cs typeface="Arial" panose="020B0604020202020204" pitchFamily="34" charset="0"/>
              </a:rPr>
              <a:t>BEGIN TRANSATION;</a:t>
            </a:r>
          </a:p>
          <a:p>
            <a:r>
              <a:rPr lang="pt-BR" sz="2000" dirty="0">
                <a:solidFill>
                  <a:schemeClr val="tx1"/>
                </a:solidFill>
                <a:latin typeface="Arial" panose="020B0604020202020204" pitchFamily="34" charset="0"/>
                <a:cs typeface="Arial" panose="020B0604020202020204" pitchFamily="34" charset="0"/>
              </a:rPr>
              <a:t>A partir da identificação deste comando o SGBD vai entender que todos os comandos de manipulação de dados estão dentro de uma mesma transação e devem ser salvos todos, o nenhum deles será salvo.</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COMMIT;</a:t>
            </a:r>
          </a:p>
          <a:p>
            <a:r>
              <a:rPr lang="pt-BR" sz="2000" dirty="0">
                <a:solidFill>
                  <a:schemeClr val="tx1"/>
                </a:solidFill>
                <a:latin typeface="Arial" panose="020B0604020202020204" pitchFamily="34" charset="0"/>
                <a:cs typeface="Arial" panose="020B0604020202020204" pitchFamily="34" charset="0"/>
              </a:rPr>
              <a:t>Salva os dados da transação</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ROLLBACK;</a:t>
            </a:r>
          </a:p>
          <a:p>
            <a:r>
              <a:rPr lang="pt-BR" sz="2000" dirty="0">
                <a:solidFill>
                  <a:schemeClr val="tx1"/>
                </a:solidFill>
                <a:latin typeface="Arial" panose="020B0604020202020204" pitchFamily="34" charset="0"/>
                <a:cs typeface="Arial" panose="020B0604020202020204" pitchFamily="34" charset="0"/>
              </a:rPr>
              <a:t>Desfaz toda a transação até o último COMMIT;</a:t>
            </a:r>
          </a:p>
          <a:p>
            <a:endParaRPr lang="pt-BR"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05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613D95-2DF2-1EFD-5C96-1345702F599F}"/>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A7C87718-B10F-9753-618C-D592A20CB1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576D1346-05E0-BC5F-D870-635633956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a:extLst>
              <a:ext uri="{FF2B5EF4-FFF2-40B4-BE49-F238E27FC236}">
                <a16:creationId xmlns:a16="http://schemas.microsoft.com/office/drawing/2014/main" id="{7B84B2F7-1546-E384-A4A0-215591B15D20}"/>
              </a:ext>
            </a:extLst>
          </p:cNvPr>
          <p:cNvSpPr>
            <a:spLocks noChangeArrowheads="1"/>
          </p:cNvSpPr>
          <p:nvPr/>
        </p:nvSpPr>
        <p:spPr bwMode="auto">
          <a:xfrm>
            <a:off x="530258" y="3376747"/>
            <a:ext cx="8074057" cy="1361508"/>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fontScale="55000" lnSpcReduction="20000"/>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a:solidFill>
                  <a:srgbClr val="FFFFFF"/>
                </a:solidFill>
                <a:latin typeface="+mj-lt"/>
                <a:ea typeface="+mj-ea"/>
                <a:cs typeface="+mj-cs"/>
              </a:rPr>
              <a:t>DML – Data Manipulation Language</a:t>
            </a:r>
          </a:p>
          <a:p>
            <a:pPr algn="ctr">
              <a:lnSpc>
                <a:spcPct val="90000"/>
              </a:lnSpc>
              <a:spcBef>
                <a:spcPct val="0"/>
              </a:spcBef>
              <a:spcAft>
                <a:spcPts val="600"/>
              </a:spcAft>
            </a:pPr>
            <a:r>
              <a:rPr lang="en-US" altLang="pt-BR" sz="3800" kern="1200" dirty="0">
                <a:solidFill>
                  <a:srgbClr val="FFFFFF"/>
                </a:solidFill>
                <a:latin typeface="+mj-lt"/>
                <a:ea typeface="+mj-ea"/>
                <a:cs typeface="+mj-cs"/>
              </a:rPr>
              <a:t>INSERT, SELECT, UPDATE, DELETE</a:t>
            </a:r>
          </a:p>
          <a:p>
            <a:pPr algn="ctr">
              <a:lnSpc>
                <a:spcPct val="90000"/>
              </a:lnSpc>
              <a:spcBef>
                <a:spcPct val="0"/>
              </a:spcBef>
              <a:spcAft>
                <a:spcPts val="600"/>
              </a:spcAft>
            </a:pPr>
            <a:r>
              <a:rPr lang="en-US" altLang="pt-BR" sz="3800" kern="1200" dirty="0" err="1">
                <a:solidFill>
                  <a:srgbClr val="FFFFFF"/>
                </a:solidFill>
                <a:latin typeface="+mj-lt"/>
                <a:ea typeface="+mj-ea"/>
                <a:cs typeface="+mj-cs"/>
              </a:rPr>
              <a:t>Linguagem</a:t>
            </a:r>
            <a:r>
              <a:rPr lang="en-US" altLang="pt-BR" sz="3800" kern="1200" dirty="0">
                <a:solidFill>
                  <a:srgbClr val="FFFFFF"/>
                </a:solidFill>
                <a:latin typeface="+mj-lt"/>
                <a:ea typeface="+mj-ea"/>
                <a:cs typeface="+mj-cs"/>
              </a:rPr>
              <a:t> de </a:t>
            </a:r>
            <a:r>
              <a:rPr lang="en-US" altLang="pt-BR" sz="3800" kern="1200" dirty="0" err="1">
                <a:solidFill>
                  <a:srgbClr val="FFFFFF"/>
                </a:solidFill>
                <a:latin typeface="+mj-lt"/>
                <a:ea typeface="+mj-ea"/>
                <a:cs typeface="+mj-cs"/>
              </a:rPr>
              <a:t>Manipulação</a:t>
            </a:r>
            <a:r>
              <a:rPr lang="en-US" altLang="pt-BR" sz="3800" kern="1200" dirty="0">
                <a:solidFill>
                  <a:srgbClr val="FFFFFF"/>
                </a:solidFill>
                <a:latin typeface="+mj-lt"/>
                <a:ea typeface="+mj-ea"/>
                <a:cs typeface="+mj-cs"/>
              </a:rPr>
              <a:t> dos Dados</a:t>
            </a:r>
          </a:p>
        </p:txBody>
      </p:sp>
      <p:pic>
        <p:nvPicPr>
          <p:cNvPr id="6" name="Imagem 5" descr="Uma imagem contendo objeto, relógio, computador, monitor&#10;&#10;Descrição gerada automaticamente">
            <a:extLst>
              <a:ext uri="{FF2B5EF4-FFF2-40B4-BE49-F238E27FC236}">
                <a16:creationId xmlns:a16="http://schemas.microsoft.com/office/drawing/2014/main" id="{3AD68E2B-1DB5-F570-8871-6230D429A3F5}"/>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1430658292"/>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BC69F-0297-4059-70D1-5E79FDABCF47}"/>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E1F70C37-4381-3D92-17F9-72752351F6C5}"/>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DELETE</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1370D011-020B-3992-2B93-62C3DD454869}"/>
              </a:ext>
            </a:extLst>
          </p:cNvPr>
          <p:cNvSpPr txBox="1"/>
          <p:nvPr/>
        </p:nvSpPr>
        <p:spPr>
          <a:xfrm>
            <a:off x="879753" y="820255"/>
            <a:ext cx="7880549" cy="3170099"/>
          </a:xfrm>
          <a:prstGeom prst="rect">
            <a:avLst/>
          </a:prstGeom>
          <a:noFill/>
        </p:spPr>
        <p:txBody>
          <a:bodyPr wrap="square">
            <a:spAutoFit/>
          </a:bodyPr>
          <a:lstStyle/>
          <a:p>
            <a:r>
              <a:rPr lang="pt-BR" sz="2000" dirty="0">
                <a:solidFill>
                  <a:schemeClr val="tx1"/>
                </a:solidFill>
                <a:latin typeface="Arial" panose="020B0604020202020204" pitchFamily="34" charset="0"/>
                <a:cs typeface="Arial" panose="020B0604020202020204" pitchFamily="34" charset="0"/>
              </a:rPr>
              <a:t>Este comando tem a função de excluir </a:t>
            </a:r>
            <a:r>
              <a:rPr lang="pt-BR" sz="2000" b="1" dirty="0">
                <a:solidFill>
                  <a:schemeClr val="tx1"/>
                </a:solidFill>
                <a:latin typeface="Arial" panose="020B0604020202020204" pitchFamily="34" charset="0"/>
                <a:cs typeface="Arial" panose="020B0604020202020204" pitchFamily="34" charset="0"/>
              </a:rPr>
              <a:t>LINHAS</a:t>
            </a:r>
            <a:r>
              <a:rPr lang="pt-BR" sz="2000" dirty="0">
                <a:solidFill>
                  <a:schemeClr val="tx1"/>
                </a:solidFill>
                <a:latin typeface="Arial" panose="020B0604020202020204" pitchFamily="34" charset="0"/>
                <a:cs typeface="Arial" panose="020B0604020202020204" pitchFamily="34" charset="0"/>
              </a:rPr>
              <a:t> de uma tabela</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DELETE FROM </a:t>
            </a:r>
            <a:r>
              <a:rPr lang="pt-BR" sz="2000" b="1" dirty="0" err="1">
                <a:solidFill>
                  <a:srgbClr val="FF0000"/>
                </a:solidFill>
                <a:latin typeface="Arial" panose="020B0604020202020204" pitchFamily="34" charset="0"/>
                <a:cs typeface="Arial" panose="020B0604020202020204" pitchFamily="34" charset="0"/>
              </a:rPr>
              <a:t>nomedatabela</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[WHERE  </a:t>
            </a:r>
            <a:r>
              <a:rPr lang="pt-BR" sz="2000" b="1" dirty="0" err="1">
                <a:solidFill>
                  <a:srgbClr val="FF0000"/>
                </a:solidFill>
                <a:latin typeface="Arial" panose="020B0604020202020204" pitchFamily="34" charset="0"/>
                <a:cs typeface="Arial" panose="020B0604020202020204" pitchFamily="34" charset="0"/>
              </a:rPr>
              <a:t>filtros_das_linhas</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A clausula WHERE é opcional, não existindo ela apaga todos os dados da tabela.</a:t>
            </a:r>
          </a:p>
          <a:p>
            <a:endParaRPr lang="pt-BR" sz="2000" dirty="0">
              <a:solidFill>
                <a:schemeClr val="tx1"/>
              </a:solidFill>
              <a:latin typeface="Arial" panose="020B0604020202020204" pitchFamily="34" charset="0"/>
              <a:cs typeface="Arial" panose="020B0604020202020204" pitchFamily="34" charset="0"/>
            </a:endParaRPr>
          </a:p>
          <a:p>
            <a:r>
              <a:rPr lang="pt-BR" sz="2000" dirty="0" err="1">
                <a:solidFill>
                  <a:schemeClr val="tx1"/>
                </a:solidFill>
                <a:latin typeface="Arial" panose="020B0604020202020204" pitchFamily="34" charset="0"/>
                <a:cs typeface="Arial" panose="020B0604020202020204" pitchFamily="34" charset="0"/>
              </a:rPr>
              <a:t>Obs</a:t>
            </a:r>
            <a:r>
              <a:rPr lang="pt-BR" sz="2000" dirty="0">
                <a:solidFill>
                  <a:schemeClr val="tx1"/>
                </a:solidFill>
                <a:latin typeface="Arial" panose="020B0604020202020204" pitchFamily="34" charset="0"/>
                <a:cs typeface="Arial" panose="020B0604020202020204" pitchFamily="34" charset="0"/>
              </a:rPr>
              <a:t>:  A </a:t>
            </a:r>
            <a:r>
              <a:rPr lang="pt-BR" sz="2000" dirty="0" err="1">
                <a:solidFill>
                  <a:schemeClr val="tx1"/>
                </a:solidFill>
                <a:latin typeface="Arial" panose="020B0604020202020204" pitchFamily="34" charset="0"/>
                <a:cs typeface="Arial" panose="020B0604020202020204" pitchFamily="34" charset="0"/>
              </a:rPr>
              <a:t>clausua</a:t>
            </a:r>
            <a:r>
              <a:rPr lang="pt-BR" sz="2000" dirty="0">
                <a:solidFill>
                  <a:schemeClr val="tx1"/>
                </a:solidFill>
                <a:latin typeface="Arial" panose="020B0604020202020204" pitchFamily="34" charset="0"/>
                <a:cs typeface="Arial" panose="020B0604020202020204" pitchFamily="34" charset="0"/>
              </a:rPr>
              <a:t> WHERE será bem estudada no </a:t>
            </a:r>
            <a:r>
              <a:rPr lang="pt-BR" sz="2000" dirty="0" err="1">
                <a:solidFill>
                  <a:schemeClr val="tx1"/>
                </a:solidFill>
                <a:latin typeface="Arial" panose="020B0604020202020204" pitchFamily="34" charset="0"/>
                <a:cs typeface="Arial" panose="020B0604020202020204" pitchFamily="34" charset="0"/>
              </a:rPr>
              <a:t>nomando</a:t>
            </a:r>
            <a:r>
              <a:rPr lang="pt-BR" sz="2000" dirty="0">
                <a:solidFill>
                  <a:schemeClr val="tx1"/>
                </a:solidFill>
                <a:latin typeface="Arial" panose="020B0604020202020204" pitchFamily="34" charset="0"/>
                <a:cs typeface="Arial" panose="020B0604020202020204" pitchFamily="34" charset="0"/>
              </a:rPr>
              <a:t> SELECT</a:t>
            </a: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875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652D3-3E52-6AE8-ACFA-777A3165224D}"/>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E6C4D416-E377-F5CC-C0A5-5A8FBD4D00BB}"/>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UPDATE</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82043A8C-5D83-C0D5-8AA1-4F968CFE7221}"/>
              </a:ext>
            </a:extLst>
          </p:cNvPr>
          <p:cNvSpPr txBox="1"/>
          <p:nvPr/>
        </p:nvSpPr>
        <p:spPr>
          <a:xfrm>
            <a:off x="879753" y="820255"/>
            <a:ext cx="7880549" cy="4093428"/>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Este comando tem a função de alterar valores de </a:t>
            </a:r>
            <a:r>
              <a:rPr lang="pt-BR" sz="2000" b="1" dirty="0">
                <a:solidFill>
                  <a:schemeClr val="tx1"/>
                </a:solidFill>
                <a:latin typeface="Arial" panose="020B0604020202020204" pitchFamily="34" charset="0"/>
                <a:cs typeface="Arial" panose="020B0604020202020204" pitchFamily="34" charset="0"/>
              </a:rPr>
              <a:t>COLUNAS</a:t>
            </a:r>
            <a:r>
              <a:rPr lang="pt-BR" sz="2000" dirty="0">
                <a:solidFill>
                  <a:schemeClr val="tx1"/>
                </a:solidFill>
                <a:latin typeface="Arial" panose="020B0604020202020204" pitchFamily="34" charset="0"/>
                <a:cs typeface="Arial" panose="020B0604020202020204" pitchFamily="34" charset="0"/>
              </a:rPr>
              <a:t> de uma tabela</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UPDATE </a:t>
            </a:r>
            <a:r>
              <a:rPr lang="pt-BR" sz="2000" b="1" dirty="0" err="1">
                <a:solidFill>
                  <a:srgbClr val="FF0000"/>
                </a:solidFill>
                <a:latin typeface="Arial" panose="020B0604020202020204" pitchFamily="34" charset="0"/>
                <a:cs typeface="Arial" panose="020B0604020202020204" pitchFamily="34" charset="0"/>
              </a:rPr>
              <a:t>nomedatabela</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SET </a:t>
            </a:r>
            <a:r>
              <a:rPr lang="pt-BR" sz="2000" b="1" dirty="0">
                <a:solidFill>
                  <a:srgbClr val="FF0000"/>
                </a:solidFill>
                <a:latin typeface="Arial" panose="020B0604020202020204" pitchFamily="34" charset="0"/>
                <a:cs typeface="Arial" panose="020B0604020202020204" pitchFamily="34" charset="0"/>
              </a:rPr>
              <a:t>coluna1 = </a:t>
            </a:r>
            <a:r>
              <a:rPr lang="pt-BR" sz="2000" b="1" dirty="0" err="1">
                <a:solidFill>
                  <a:srgbClr val="FF0000"/>
                </a:solidFill>
                <a:latin typeface="Arial" panose="020B0604020202020204" pitchFamily="34" charset="0"/>
                <a:cs typeface="Arial" panose="020B0604020202020204" pitchFamily="34" charset="0"/>
              </a:rPr>
              <a:t>novo_valor</a:t>
            </a:r>
            <a:r>
              <a:rPr lang="pt-BR" sz="2000" b="1" dirty="0">
                <a:solidFill>
                  <a:srgbClr val="FF0000"/>
                </a:solidFill>
                <a:latin typeface="Arial" panose="020B0604020202020204" pitchFamily="34" charset="0"/>
                <a:cs typeface="Arial" panose="020B0604020202020204" pitchFamily="34" charset="0"/>
              </a:rPr>
              <a:t>,</a:t>
            </a:r>
          </a:p>
          <a:p>
            <a:r>
              <a:rPr lang="pt-BR" sz="2000" b="1" dirty="0">
                <a:solidFill>
                  <a:srgbClr val="FF0000"/>
                </a:solidFill>
                <a:latin typeface="Arial" panose="020B0604020202020204" pitchFamily="34" charset="0"/>
                <a:cs typeface="Arial" panose="020B0604020202020204" pitchFamily="34" charset="0"/>
              </a:rPr>
              <a:t>        coluna2 = </a:t>
            </a:r>
            <a:r>
              <a:rPr lang="pt-BR" sz="2000" b="1" dirty="0" err="1">
                <a:solidFill>
                  <a:srgbClr val="FF0000"/>
                </a:solidFill>
                <a:latin typeface="Arial" panose="020B0604020202020204" pitchFamily="34" charset="0"/>
                <a:cs typeface="Arial" panose="020B0604020202020204" pitchFamily="34" charset="0"/>
              </a:rPr>
              <a:t>novo_valor</a:t>
            </a:r>
            <a:r>
              <a:rPr lang="pt-BR" sz="2000" b="1" dirty="0">
                <a:solidFill>
                  <a:srgbClr val="FF0000"/>
                </a:solidFill>
                <a:latin typeface="Arial" panose="020B0604020202020204" pitchFamily="34" charset="0"/>
                <a:cs typeface="Arial" panose="020B0604020202020204" pitchFamily="34" charset="0"/>
              </a:rPr>
              <a:t>,...</a:t>
            </a:r>
          </a:p>
          <a:p>
            <a:r>
              <a:rPr lang="pt-BR" sz="2000" b="1" dirty="0">
                <a:solidFill>
                  <a:srgbClr val="0033CC"/>
                </a:solidFill>
                <a:latin typeface="Arial" panose="020B0604020202020204" pitchFamily="34" charset="0"/>
                <a:cs typeface="Arial" panose="020B0604020202020204" pitchFamily="34" charset="0"/>
              </a:rPr>
              <a:t>[WHERE  </a:t>
            </a:r>
            <a:r>
              <a:rPr lang="pt-BR" sz="2000" b="1" dirty="0" err="1">
                <a:solidFill>
                  <a:srgbClr val="FF0000"/>
                </a:solidFill>
                <a:latin typeface="Arial" panose="020B0604020202020204" pitchFamily="34" charset="0"/>
                <a:cs typeface="Arial" panose="020B0604020202020204" pitchFamily="34" charset="0"/>
              </a:rPr>
              <a:t>filtros_das_linhas</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A clausula WHERE é opcional, não existindo o novo valor será colocado na coluna em todas as linhas da tabela.</a:t>
            </a:r>
          </a:p>
          <a:p>
            <a:endParaRPr lang="pt-BR" sz="2000" dirty="0">
              <a:solidFill>
                <a:schemeClr val="tx1"/>
              </a:solidFill>
              <a:latin typeface="Arial" panose="020B0604020202020204" pitchFamily="34" charset="0"/>
              <a:cs typeface="Arial" panose="020B0604020202020204" pitchFamily="34" charset="0"/>
            </a:endParaRPr>
          </a:p>
          <a:p>
            <a:r>
              <a:rPr lang="pt-BR" sz="2000" dirty="0" err="1">
                <a:solidFill>
                  <a:schemeClr val="tx1"/>
                </a:solidFill>
                <a:latin typeface="Arial" panose="020B0604020202020204" pitchFamily="34" charset="0"/>
                <a:cs typeface="Arial" panose="020B0604020202020204" pitchFamily="34" charset="0"/>
              </a:rPr>
              <a:t>Obs</a:t>
            </a:r>
            <a:r>
              <a:rPr lang="pt-BR" sz="2000" dirty="0">
                <a:solidFill>
                  <a:schemeClr val="tx1"/>
                </a:solidFill>
                <a:latin typeface="Arial" panose="020B0604020202020204" pitchFamily="34" charset="0"/>
                <a:cs typeface="Arial" panose="020B0604020202020204" pitchFamily="34" charset="0"/>
              </a:rPr>
              <a:t>:  A </a:t>
            </a:r>
            <a:r>
              <a:rPr lang="pt-BR" sz="2000" dirty="0" err="1">
                <a:solidFill>
                  <a:schemeClr val="tx1"/>
                </a:solidFill>
                <a:latin typeface="Arial" panose="020B0604020202020204" pitchFamily="34" charset="0"/>
                <a:cs typeface="Arial" panose="020B0604020202020204" pitchFamily="34" charset="0"/>
              </a:rPr>
              <a:t>clausua</a:t>
            </a:r>
            <a:r>
              <a:rPr lang="pt-BR" sz="2000" dirty="0">
                <a:solidFill>
                  <a:schemeClr val="tx1"/>
                </a:solidFill>
                <a:latin typeface="Arial" panose="020B0604020202020204" pitchFamily="34" charset="0"/>
                <a:cs typeface="Arial" panose="020B0604020202020204" pitchFamily="34" charset="0"/>
              </a:rPr>
              <a:t> WHERE será bem estudada no </a:t>
            </a:r>
            <a:r>
              <a:rPr lang="pt-BR" sz="2000" dirty="0" err="1">
                <a:solidFill>
                  <a:schemeClr val="tx1"/>
                </a:solidFill>
                <a:latin typeface="Arial" panose="020B0604020202020204" pitchFamily="34" charset="0"/>
                <a:cs typeface="Arial" panose="020B0604020202020204" pitchFamily="34" charset="0"/>
              </a:rPr>
              <a:t>nomando</a:t>
            </a:r>
            <a:r>
              <a:rPr lang="pt-BR" sz="2000" dirty="0">
                <a:solidFill>
                  <a:schemeClr val="tx1"/>
                </a:solidFill>
                <a:latin typeface="Arial" panose="020B0604020202020204" pitchFamily="34" charset="0"/>
                <a:cs typeface="Arial" panose="020B0604020202020204" pitchFamily="34" charset="0"/>
              </a:rPr>
              <a:t> SELECT</a:t>
            </a: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55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800D3-E125-1C5A-A6B0-EB9B23B58FEB}"/>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0723DBB8-65F8-7BC3-BA7F-620C2158226F}"/>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INSERT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26CA2784-FDE2-134B-168A-3E04067C6254}"/>
              </a:ext>
            </a:extLst>
          </p:cNvPr>
          <p:cNvSpPr txBox="1"/>
          <p:nvPr/>
        </p:nvSpPr>
        <p:spPr>
          <a:xfrm>
            <a:off x="879753" y="820255"/>
            <a:ext cx="7880549" cy="3785652"/>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Este comando tem a função de incluir novas </a:t>
            </a:r>
            <a:r>
              <a:rPr lang="pt-BR" sz="2000" b="1" dirty="0">
                <a:solidFill>
                  <a:schemeClr val="tx1"/>
                </a:solidFill>
                <a:latin typeface="Arial" panose="020B0604020202020204" pitchFamily="34" charset="0"/>
                <a:cs typeface="Arial" panose="020B0604020202020204" pitchFamily="34" charset="0"/>
              </a:rPr>
              <a:t>LINHAS</a:t>
            </a:r>
            <a:r>
              <a:rPr lang="pt-BR" sz="2000" dirty="0">
                <a:solidFill>
                  <a:schemeClr val="tx1"/>
                </a:solidFill>
                <a:latin typeface="Arial" panose="020B0604020202020204" pitchFamily="34" charset="0"/>
                <a:cs typeface="Arial" panose="020B0604020202020204" pitchFamily="34" charset="0"/>
              </a:rPr>
              <a:t> em uma tabela</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INSERT INTO </a:t>
            </a:r>
            <a:r>
              <a:rPr lang="pt-BR" sz="2000" b="1" dirty="0" err="1">
                <a:solidFill>
                  <a:srgbClr val="FF0000"/>
                </a:solidFill>
                <a:latin typeface="Arial" panose="020B0604020202020204" pitchFamily="34" charset="0"/>
                <a:cs typeface="Arial" panose="020B0604020202020204" pitchFamily="34" charset="0"/>
              </a:rPr>
              <a:t>nomedatabela</a:t>
            </a:r>
            <a:r>
              <a:rPr lang="pt-BR" sz="2000" b="1" dirty="0">
                <a:solidFill>
                  <a:srgbClr val="FF0000"/>
                </a:solidFill>
                <a:latin typeface="Arial" panose="020B0604020202020204" pitchFamily="34" charset="0"/>
                <a:cs typeface="Arial" panose="020B0604020202020204" pitchFamily="34" charset="0"/>
              </a:rPr>
              <a:t>[(coluna1,coluna2...)]</a:t>
            </a:r>
          </a:p>
          <a:p>
            <a:r>
              <a:rPr lang="pt-BR" sz="2000" b="1" dirty="0">
                <a:solidFill>
                  <a:srgbClr val="0033CC"/>
                </a:solidFill>
                <a:latin typeface="Arial" panose="020B0604020202020204" pitchFamily="34" charset="0"/>
                <a:cs typeface="Arial" panose="020B0604020202020204" pitchFamily="34" charset="0"/>
              </a:rPr>
              <a:t>VALUES (</a:t>
            </a:r>
            <a:r>
              <a:rPr lang="pt-BR" sz="2000" b="1" dirty="0">
                <a:solidFill>
                  <a:srgbClr val="FF0000"/>
                </a:solidFill>
                <a:latin typeface="Arial" panose="020B0604020202020204" pitchFamily="34" charset="0"/>
                <a:cs typeface="Arial" panose="020B0604020202020204" pitchFamily="34" charset="0"/>
              </a:rPr>
              <a:t>valor1,valor2...</a:t>
            </a:r>
            <a:r>
              <a:rPr lang="pt-BR" sz="2000" b="1" dirty="0">
                <a:solidFill>
                  <a:srgbClr val="0033CC"/>
                </a:solidFill>
                <a:latin typeface="Arial" panose="020B0604020202020204" pitchFamily="34" charset="0"/>
                <a:cs typeface="Arial" panose="020B0604020202020204" pitchFamily="34" charset="0"/>
              </a:rPr>
              <a:t> );</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A lista de colunas é opcional, não sento informada será necessário informar os valores para todas as colunas na tabela na ordem de criação, se for informado os </a:t>
            </a:r>
            <a:r>
              <a:rPr lang="pt-BR" sz="2000" dirty="0" err="1">
                <a:solidFill>
                  <a:schemeClr val="tx1"/>
                </a:solidFill>
                <a:latin typeface="Arial" panose="020B0604020202020204" pitchFamily="34" charset="0"/>
                <a:cs typeface="Arial" panose="020B0604020202020204" pitchFamily="34" charset="0"/>
              </a:rPr>
              <a:t>valors</a:t>
            </a:r>
            <a:r>
              <a:rPr lang="pt-BR" sz="2000" dirty="0">
                <a:solidFill>
                  <a:schemeClr val="tx1"/>
                </a:solidFill>
                <a:latin typeface="Arial" panose="020B0604020202020204" pitchFamily="34" charset="0"/>
                <a:cs typeface="Arial" panose="020B0604020202020204" pitchFamily="34" charset="0"/>
              </a:rPr>
              <a:t> dessem seguir a ordem informada e as colunas que não foram informadas devem permitir </a:t>
            </a:r>
            <a:r>
              <a:rPr lang="pt-BR" sz="2000" dirty="0" err="1">
                <a:solidFill>
                  <a:schemeClr val="tx1"/>
                </a:solidFill>
                <a:latin typeface="Arial" panose="020B0604020202020204" pitchFamily="34" charset="0"/>
                <a:cs typeface="Arial" panose="020B0604020202020204" pitchFamily="34" charset="0"/>
              </a:rPr>
              <a:t>null</a:t>
            </a:r>
            <a:endParaRPr lang="pt-BR" sz="2000" dirty="0">
              <a:solidFill>
                <a:schemeClr val="tx1"/>
              </a:solidFill>
              <a:latin typeface="Arial" panose="020B0604020202020204" pitchFamily="34" charset="0"/>
              <a:cs typeface="Arial" panose="020B0604020202020204" pitchFamily="34" charset="0"/>
            </a:endParaRP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802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0EA7D-FFC4-1BA2-8EF2-3A93B1C1C56C}"/>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E7B030A8-90EA-5D11-7F5F-A627F48A2E70}"/>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INSERT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39912562-5879-5683-5897-3FA891DB1899}"/>
              </a:ext>
            </a:extLst>
          </p:cNvPr>
          <p:cNvSpPr txBox="1"/>
          <p:nvPr/>
        </p:nvSpPr>
        <p:spPr>
          <a:xfrm>
            <a:off x="879753" y="820255"/>
            <a:ext cx="7880549" cy="2246769"/>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O comando tem ainda uma segunda forma</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INSERT INTO </a:t>
            </a:r>
            <a:r>
              <a:rPr lang="pt-BR" sz="2000" b="1" dirty="0" err="1">
                <a:solidFill>
                  <a:srgbClr val="FF0000"/>
                </a:solidFill>
                <a:latin typeface="Arial" panose="020B0604020202020204" pitchFamily="34" charset="0"/>
                <a:cs typeface="Arial" panose="020B0604020202020204" pitchFamily="34" charset="0"/>
              </a:rPr>
              <a:t>nomedatabela</a:t>
            </a:r>
            <a:r>
              <a:rPr lang="pt-BR" sz="2000" b="1" dirty="0">
                <a:solidFill>
                  <a:srgbClr val="FF0000"/>
                </a:solidFill>
                <a:latin typeface="Arial" panose="020B0604020202020204" pitchFamily="34" charset="0"/>
                <a:cs typeface="Arial" panose="020B0604020202020204" pitchFamily="34" charset="0"/>
              </a:rPr>
              <a:t>[(coluna1,coluna2...)]</a:t>
            </a:r>
          </a:p>
          <a:p>
            <a:r>
              <a:rPr lang="pt-BR" sz="2000" b="1" dirty="0">
                <a:solidFill>
                  <a:srgbClr val="0033CC"/>
                </a:solidFill>
                <a:latin typeface="Arial" panose="020B0604020202020204" pitchFamily="34" charset="0"/>
                <a:cs typeface="Arial" panose="020B0604020202020204" pitchFamily="34" charset="0"/>
              </a:rPr>
              <a:t>&lt;comando SELECT&gt;;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Neste caso o resultado do comando </a:t>
            </a:r>
            <a:r>
              <a:rPr lang="pt-BR" sz="2000" dirty="0" err="1">
                <a:solidFill>
                  <a:schemeClr val="tx1"/>
                </a:solidFill>
                <a:latin typeface="Arial" panose="020B0604020202020204" pitchFamily="34" charset="0"/>
                <a:cs typeface="Arial" panose="020B0604020202020204" pitchFamily="34" charset="0"/>
              </a:rPr>
              <a:t>selact</a:t>
            </a:r>
            <a:r>
              <a:rPr lang="pt-BR" sz="2000" dirty="0">
                <a:solidFill>
                  <a:schemeClr val="tx1"/>
                </a:solidFill>
                <a:latin typeface="Arial" panose="020B0604020202020204" pitchFamily="34" charset="0"/>
                <a:cs typeface="Arial" panose="020B0604020202020204" pitchFamily="34" charset="0"/>
              </a:rPr>
              <a:t> substituirá o </a:t>
            </a:r>
            <a:r>
              <a:rPr lang="pt-BR" sz="2000" dirty="0" err="1">
                <a:solidFill>
                  <a:schemeClr val="tx1"/>
                </a:solidFill>
                <a:latin typeface="Arial" panose="020B0604020202020204" pitchFamily="34" charset="0"/>
                <a:cs typeface="Arial" panose="020B0604020202020204" pitchFamily="34" charset="0"/>
              </a:rPr>
              <a:t>values</a:t>
            </a:r>
            <a:endParaRPr lang="pt-BR" sz="2000" dirty="0">
              <a:solidFill>
                <a:schemeClr val="tx1"/>
              </a:solidFill>
              <a:latin typeface="Arial" panose="020B0604020202020204" pitchFamily="34" charset="0"/>
              <a:cs typeface="Arial" panose="020B0604020202020204" pitchFamily="34" charset="0"/>
            </a:endParaRP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346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15A5A-285C-1C79-9061-B2D9BECFCB46}"/>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038CCA5D-D6BD-3D8F-A121-94B5C39FA71E}"/>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Exercícios</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9E5FC6B5-534C-7B94-52B4-758DBABE8AA2}"/>
              </a:ext>
            </a:extLst>
          </p:cNvPr>
          <p:cNvSpPr txBox="1"/>
          <p:nvPr/>
        </p:nvSpPr>
        <p:spPr>
          <a:xfrm>
            <a:off x="879753" y="820255"/>
            <a:ext cx="7880549" cy="4708981"/>
          </a:xfrm>
          <a:prstGeom prst="rect">
            <a:avLst/>
          </a:prstGeom>
          <a:noFill/>
        </p:spPr>
        <p:txBody>
          <a:bodyPr wrap="square">
            <a:spAutoFit/>
          </a:bodyPr>
          <a:lstStyle/>
          <a:p>
            <a:pPr marL="457200" indent="-457200" algn="just">
              <a:buAutoNum type="arabicParenR"/>
            </a:pPr>
            <a:r>
              <a:rPr lang="pt-BR" sz="2000" dirty="0">
                <a:solidFill>
                  <a:schemeClr val="tx1"/>
                </a:solidFill>
                <a:latin typeface="Arial" panose="020B0604020202020204" pitchFamily="34" charset="0"/>
                <a:cs typeface="Arial" panose="020B0604020202020204" pitchFamily="34" charset="0"/>
              </a:rPr>
              <a:t>Incluir a categoria “´Áudio e </a:t>
            </a:r>
            <a:r>
              <a:rPr lang="pt-BR" sz="2000" dirty="0" err="1">
                <a:solidFill>
                  <a:schemeClr val="tx1"/>
                </a:solidFill>
                <a:latin typeface="Arial" panose="020B0604020202020204" pitchFamily="34" charset="0"/>
                <a:cs typeface="Arial" panose="020B0604020202020204" pitchFamily="34" charset="0"/>
              </a:rPr>
              <a:t>Asom</a:t>
            </a:r>
            <a:r>
              <a:rPr lang="pt-BR" sz="2000" dirty="0">
                <a:solidFill>
                  <a:schemeClr val="tx1"/>
                </a:solidFill>
                <a:latin typeface="Arial" panose="020B0604020202020204" pitchFamily="34" charset="0"/>
                <a:cs typeface="Arial" panose="020B0604020202020204" pitchFamily="34" charset="0"/>
              </a:rPr>
              <a:t>” com id = 22 e com a descrição </a:t>
            </a:r>
            <a:r>
              <a:rPr lang="pt-BR" sz="2000" dirty="0"/>
              <a:t>Produtos relacionados à reprodução e gravação de áudio.</a:t>
            </a:r>
          </a:p>
          <a:p>
            <a:pPr marL="457200" indent="-457200" algn="just">
              <a:buAutoNum type="arabicParenR"/>
            </a:pPr>
            <a:r>
              <a:rPr lang="pt-BR" sz="2000" dirty="0">
                <a:solidFill>
                  <a:schemeClr val="tx1"/>
                </a:solidFill>
                <a:latin typeface="Arial" panose="020B0604020202020204" pitchFamily="34" charset="0"/>
                <a:cs typeface="Arial" panose="020B0604020202020204" pitchFamily="34" charset="0"/>
              </a:rPr>
              <a:t>Incluir a categoria “</a:t>
            </a:r>
            <a:r>
              <a:rPr lang="pt-BR" sz="2000" dirty="0"/>
              <a:t>Acessórios Eletrônicos Gerais” com o id = 23 e com a descrição</a:t>
            </a:r>
            <a:endParaRPr lang="pt-BR" sz="2000" dirty="0">
              <a:solidFill>
                <a:schemeClr val="tx1"/>
              </a:solidFill>
              <a:latin typeface="Arial" panose="020B0604020202020204" pitchFamily="34" charset="0"/>
              <a:cs typeface="Arial" panose="020B0604020202020204" pitchFamily="34" charset="0"/>
            </a:endParaRPr>
          </a:p>
          <a:p>
            <a:pPr algn="just"/>
            <a:r>
              <a:rPr lang="pt-BR" sz="1000" dirty="0"/>
              <a:t>Otimize e proteja seus dispositivos com nossa linha essencial de acessórios, criada para complementar, conectar e garantir o máximo desempenho da sua tecnologia. Indispensáveis para o dia a dia, desde o uso pessoal até ambientes profissionais, nossa seleção abrange cabos de alta performance (USB, HDMI, áudio), carregadores rápidos e </a:t>
            </a:r>
            <a:r>
              <a:rPr lang="pt-BR" sz="1000" dirty="0" err="1"/>
              <a:t>power</a:t>
            </a:r>
            <a:r>
              <a:rPr lang="pt-BR" sz="1000" dirty="0"/>
              <a:t> banks para mobilidade, adaptadores versáteis, protetores de tela e capas duráveis, além de suportes e ferramentas de limpeza. Com produtos confiáveis e compatíveis com uma vasta gama de equipamentos, você pode simplificar conexões, aumentar a autonomia dos seus aparelhos e mantê-los seguros. Descubra os complementos perfeitos e tire o máximo proveito da sua experiência tecnológica!</a:t>
            </a:r>
          </a:p>
          <a:p>
            <a:pPr algn="just"/>
            <a:endParaRPr lang="pt-BR" sz="1000"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3) Incluir o produto de id=544, </a:t>
            </a:r>
            <a:r>
              <a:rPr lang="pt-BR" sz="2000" dirty="0" err="1">
                <a:solidFill>
                  <a:schemeClr val="tx1"/>
                </a:solidFill>
                <a:latin typeface="Arial" panose="020B0604020202020204" pitchFamily="34" charset="0"/>
                <a:cs typeface="Arial" panose="020B0604020202020204" pitchFamily="34" charset="0"/>
              </a:rPr>
              <a:t>idcategoria</a:t>
            </a:r>
            <a:r>
              <a:rPr lang="pt-BR" sz="2000" dirty="0">
                <a:solidFill>
                  <a:schemeClr val="tx1"/>
                </a:solidFill>
                <a:latin typeface="Arial" panose="020B0604020202020204" pitchFamily="34" charset="0"/>
                <a:cs typeface="Arial" panose="020B0604020202020204" pitchFamily="34" charset="0"/>
              </a:rPr>
              <a:t>=23, </a:t>
            </a:r>
            <a:r>
              <a:rPr lang="pt-BR" sz="2000" dirty="0" err="1">
                <a:solidFill>
                  <a:schemeClr val="tx1"/>
                </a:solidFill>
                <a:latin typeface="Arial" panose="020B0604020202020204" pitchFamily="34" charset="0"/>
                <a:cs typeface="Arial" panose="020B0604020202020204" pitchFamily="34" charset="0"/>
              </a:rPr>
              <a:t>idfornecedor</a:t>
            </a:r>
            <a:r>
              <a:rPr lang="pt-BR" sz="2000" dirty="0">
                <a:solidFill>
                  <a:schemeClr val="tx1"/>
                </a:solidFill>
                <a:latin typeface="Arial" panose="020B0604020202020204" pitchFamily="34" charset="0"/>
                <a:cs typeface="Arial" panose="020B0604020202020204" pitchFamily="34" charset="0"/>
              </a:rPr>
              <a:t>=25, produto=</a:t>
            </a:r>
            <a:r>
              <a:rPr lang="pt-BR" sz="2000" dirty="0"/>
              <a:t>Hub USB-C HP </a:t>
            </a:r>
            <a:r>
              <a:rPr lang="pt-BR" sz="2000" dirty="0" err="1"/>
              <a:t>Multi-Porta</a:t>
            </a:r>
            <a:r>
              <a:rPr lang="pt-BR" sz="2000" dirty="0"/>
              <a:t>, preço unitário=412,35, unidades em estoque=500, nível mínimo=100</a:t>
            </a:r>
          </a:p>
          <a:p>
            <a:endParaRPr lang="pt-BR" sz="2000" dirty="0">
              <a:solidFill>
                <a:schemeClr val="tx1"/>
              </a:solidFill>
              <a:latin typeface="Arial" panose="020B0604020202020204" pitchFamily="34" charset="0"/>
              <a:cs typeface="Arial" panose="020B0604020202020204" pitchFamily="34" charset="0"/>
            </a:endParaRPr>
          </a:p>
          <a:p>
            <a:endParaRPr lang="pt-BR" sz="2000" dirty="0">
              <a:solidFill>
                <a:schemeClr val="tx1"/>
              </a:solidFill>
              <a:latin typeface="Arial" panose="020B0604020202020204" pitchFamily="34" charset="0"/>
              <a:cs typeface="Arial" panose="020B0604020202020204" pitchFamily="34" charset="0"/>
            </a:endParaRP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624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B0B0D-9CF8-6BE6-3A4C-A5EE6EA4BD05}"/>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E4803396-E637-8B3F-F7D7-BB15E85B9C6E}"/>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Exercícios</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D6F7EBEE-256D-38F7-8646-4C8284300C7E}"/>
              </a:ext>
            </a:extLst>
          </p:cNvPr>
          <p:cNvSpPr txBox="1"/>
          <p:nvPr/>
        </p:nvSpPr>
        <p:spPr>
          <a:xfrm>
            <a:off x="879753" y="820255"/>
            <a:ext cx="7880549" cy="1938992"/>
          </a:xfrm>
          <a:prstGeom prst="rect">
            <a:avLst/>
          </a:prstGeom>
          <a:noFill/>
        </p:spPr>
        <p:txBody>
          <a:bodyPr wrap="square">
            <a:spAutoFit/>
          </a:bodyPr>
          <a:lstStyle/>
          <a:p>
            <a:r>
              <a:rPr lang="pt-BR" sz="2000" dirty="0">
                <a:solidFill>
                  <a:schemeClr val="tx1"/>
                </a:solidFill>
                <a:latin typeface="Arial" panose="020B0604020202020204" pitchFamily="34" charset="0"/>
                <a:cs typeface="Arial" panose="020B0604020202020204" pitchFamily="34" charset="0"/>
              </a:rPr>
              <a:t>4) Excluir a categoria 22</a:t>
            </a:r>
          </a:p>
          <a:p>
            <a:endParaRPr lang="pt-BR" sz="2000" dirty="0">
              <a:solidFill>
                <a:schemeClr val="tx1"/>
              </a:solidFill>
              <a:latin typeface="Arial" panose="020B0604020202020204" pitchFamily="34" charset="0"/>
              <a:cs typeface="Arial" panose="020B0604020202020204" pitchFamily="34" charset="0"/>
            </a:endParaRPr>
          </a:p>
          <a:p>
            <a:r>
              <a:rPr lang="pt-BR" sz="2000" dirty="0">
                <a:solidFill>
                  <a:schemeClr val="tx1"/>
                </a:solidFill>
                <a:latin typeface="Arial" panose="020B0604020202020204" pitchFamily="34" charset="0"/>
                <a:cs typeface="Arial" panose="020B0604020202020204" pitchFamily="34" charset="0"/>
              </a:rPr>
              <a:t>5) Altere o nome do usuário 435983 para Silvano Carlos Menezes</a:t>
            </a:r>
            <a:endParaRPr lang="pt-BR" sz="2000" dirty="0"/>
          </a:p>
          <a:p>
            <a:endParaRPr lang="pt-BR" sz="2000" dirty="0">
              <a:solidFill>
                <a:schemeClr val="tx1"/>
              </a:solidFill>
              <a:latin typeface="Arial" panose="020B0604020202020204" pitchFamily="34" charset="0"/>
              <a:cs typeface="Arial" panose="020B0604020202020204" pitchFamily="34" charset="0"/>
            </a:endParaRPr>
          </a:p>
          <a:p>
            <a:endParaRPr lang="pt-BR" sz="2000" dirty="0">
              <a:solidFill>
                <a:schemeClr val="tx1"/>
              </a:solidFill>
              <a:latin typeface="Arial" panose="020B0604020202020204" pitchFamily="34" charset="0"/>
              <a:cs typeface="Arial" panose="020B0604020202020204" pitchFamily="34" charset="0"/>
            </a:endParaRP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8219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0BBD4-ADAF-5037-BA80-3294CABE957F}"/>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6160102C-F48E-8C43-C2A7-CB42938AD318}"/>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SELECT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93452208-11F3-7337-7B88-406E0FAE2BEC}"/>
              </a:ext>
            </a:extLst>
          </p:cNvPr>
          <p:cNvSpPr txBox="1"/>
          <p:nvPr/>
        </p:nvSpPr>
        <p:spPr>
          <a:xfrm>
            <a:off x="879753" y="820255"/>
            <a:ext cx="7880549" cy="4401205"/>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Este comando tem a função de buscar informações nas tabelas</a:t>
            </a:r>
          </a:p>
          <a:p>
            <a:r>
              <a:rPr lang="pt-BR" sz="2000" b="1" dirty="0">
                <a:solidFill>
                  <a:srgbClr val="0033CC"/>
                </a:solidFill>
                <a:latin typeface="Arial" panose="020B0604020202020204" pitchFamily="34" charset="0"/>
                <a:cs typeface="Arial" panose="020B0604020202020204" pitchFamily="34" charset="0"/>
              </a:rPr>
              <a:t>SELECT </a:t>
            </a:r>
            <a:r>
              <a:rPr lang="pt-BR" sz="2000" b="1" dirty="0">
                <a:solidFill>
                  <a:srgbClr val="FF0000"/>
                </a:solidFill>
                <a:latin typeface="Arial" panose="020B0604020202020204" pitchFamily="34" charset="0"/>
                <a:cs typeface="Arial" panose="020B0604020202020204" pitchFamily="34" charset="0"/>
              </a:rPr>
              <a:t>o que se quer exibir</a:t>
            </a:r>
          </a:p>
          <a:p>
            <a:r>
              <a:rPr lang="pt-BR" sz="2000" b="1" dirty="0">
                <a:solidFill>
                  <a:srgbClr val="0033CC"/>
                </a:solidFill>
                <a:latin typeface="Arial" panose="020B0604020202020204" pitchFamily="34" charset="0"/>
                <a:cs typeface="Arial" panose="020B0604020202020204" pitchFamily="34" charset="0"/>
              </a:rPr>
              <a:t>FROM </a:t>
            </a:r>
            <a:r>
              <a:rPr lang="pt-BR" sz="2000" b="1" dirty="0">
                <a:solidFill>
                  <a:srgbClr val="FF0000"/>
                </a:solidFill>
                <a:latin typeface="Arial" panose="020B0604020202020204" pitchFamily="34" charset="0"/>
                <a:cs typeface="Arial" panose="020B0604020202020204" pitchFamily="34" charset="0"/>
              </a:rPr>
              <a:t>onde estão os dados</a:t>
            </a:r>
          </a:p>
          <a:p>
            <a:r>
              <a:rPr lang="pt-BR" sz="2000" b="1" dirty="0">
                <a:solidFill>
                  <a:srgbClr val="0033CC"/>
                </a:solidFill>
                <a:latin typeface="Arial" panose="020B0604020202020204" pitchFamily="34" charset="0"/>
                <a:cs typeface="Arial" panose="020B0604020202020204" pitchFamily="34" charset="0"/>
              </a:rPr>
              <a:t>[WHERE </a:t>
            </a:r>
            <a:r>
              <a:rPr lang="pt-BR" sz="2000" b="1" dirty="0">
                <a:solidFill>
                  <a:srgbClr val="FF0000"/>
                </a:solidFill>
                <a:latin typeface="Arial" panose="020B0604020202020204" pitchFamily="34" charset="0"/>
                <a:cs typeface="Arial" panose="020B0604020202020204" pitchFamily="34" charset="0"/>
              </a:rPr>
              <a:t>filtro de linha a ser aplicado</a:t>
            </a:r>
            <a:r>
              <a:rPr lang="pt-BR" sz="2000" b="1" dirty="0">
                <a:solidFill>
                  <a:srgbClr val="0033CC"/>
                </a:solidFill>
                <a:latin typeface="Arial" panose="020B0604020202020204" pitchFamily="34" charset="0"/>
                <a:cs typeface="Arial" panose="020B0604020202020204" pitchFamily="34" charset="0"/>
              </a:rPr>
              <a:t>]</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[GROUP BY </a:t>
            </a:r>
            <a:r>
              <a:rPr lang="pt-BR" sz="2000" b="1" dirty="0">
                <a:solidFill>
                  <a:srgbClr val="FF0000"/>
                </a:solidFill>
                <a:latin typeface="Arial" panose="020B0604020202020204" pitchFamily="34" charset="0"/>
                <a:cs typeface="Arial" panose="020B0604020202020204" pitchFamily="34" charset="0"/>
              </a:rPr>
              <a:t>agrupamento desejado</a:t>
            </a:r>
            <a:r>
              <a:rPr lang="pt-BR" sz="2000" b="1" dirty="0">
                <a:solidFill>
                  <a:srgbClr val="0033CC"/>
                </a:solidFill>
                <a:latin typeface="Arial" panose="020B0604020202020204" pitchFamily="34" charset="0"/>
                <a:cs typeface="Arial" panose="020B0604020202020204" pitchFamily="34" charset="0"/>
              </a:rPr>
              <a:t>]</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[HAVING </a:t>
            </a:r>
            <a:r>
              <a:rPr lang="pt-BR" sz="2000" b="1" dirty="0">
                <a:solidFill>
                  <a:srgbClr val="FF0000"/>
                </a:solidFill>
                <a:latin typeface="Arial" panose="020B0604020202020204" pitchFamily="34" charset="0"/>
                <a:cs typeface="Arial" panose="020B0604020202020204" pitchFamily="34" charset="0"/>
              </a:rPr>
              <a:t>filtro de grupo a ser aplicado</a:t>
            </a:r>
            <a:r>
              <a:rPr lang="pt-BR" sz="2000" b="1" dirty="0">
                <a:solidFill>
                  <a:srgbClr val="0033CC"/>
                </a:solidFill>
                <a:latin typeface="Arial" panose="020B0604020202020204" pitchFamily="34" charset="0"/>
                <a:cs typeface="Arial" panose="020B0604020202020204" pitchFamily="34" charset="0"/>
              </a:rPr>
              <a:t>]</a:t>
            </a:r>
          </a:p>
          <a:p>
            <a:r>
              <a:rPr lang="pt-BR" sz="2000" b="1" dirty="0">
                <a:solidFill>
                  <a:srgbClr val="0033CC"/>
                </a:solidFill>
                <a:latin typeface="Arial" panose="020B0604020202020204" pitchFamily="34" charset="0"/>
                <a:cs typeface="Arial" panose="020B0604020202020204" pitchFamily="34" charset="0"/>
              </a:rPr>
              <a:t>[ORDER BY </a:t>
            </a:r>
            <a:r>
              <a:rPr lang="pt-BR" sz="2000" b="1" dirty="0">
                <a:solidFill>
                  <a:srgbClr val="FF0000"/>
                </a:solidFill>
                <a:latin typeface="Arial" panose="020B0604020202020204" pitchFamily="34" charset="0"/>
                <a:cs typeface="Arial" panose="020B0604020202020204" pitchFamily="34" charset="0"/>
              </a:rPr>
              <a:t>classificação desejada</a:t>
            </a:r>
            <a:r>
              <a:rPr lang="pt-BR" sz="2000" b="1" dirty="0">
                <a:solidFill>
                  <a:srgbClr val="0033CC"/>
                </a:solidFill>
                <a:latin typeface="Arial" panose="020B0604020202020204" pitchFamily="34" charset="0"/>
                <a:cs typeface="Arial" panose="020B0604020202020204" pitchFamily="34" charset="0"/>
              </a:rPr>
              <a:t>]</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[LIMIT </a:t>
            </a:r>
            <a:r>
              <a:rPr lang="pt-BR" sz="2000" b="1" dirty="0">
                <a:solidFill>
                  <a:srgbClr val="FF0000"/>
                </a:solidFill>
                <a:latin typeface="Arial" panose="020B0604020202020204" pitchFamily="34" charset="0"/>
                <a:cs typeface="Arial" panose="020B0604020202020204" pitchFamily="34" charset="0"/>
              </a:rPr>
              <a:t>quantidade de linhas a ser presentada</a:t>
            </a:r>
            <a:r>
              <a:rPr lang="pt-BR" sz="2000" b="1" dirty="0">
                <a:solidFill>
                  <a:srgbClr val="0033CC"/>
                </a:solidFill>
                <a:latin typeface="Arial" panose="020B0604020202020204" pitchFamily="34" charset="0"/>
                <a:cs typeface="Arial" panose="020B0604020202020204" pitchFamily="34" charset="0"/>
              </a:rPr>
              <a:t>]</a:t>
            </a:r>
            <a:endParaRPr lang="pt-BR" sz="2000" b="1" dirty="0">
              <a:solidFill>
                <a:srgbClr val="FF0000"/>
              </a:solidFill>
              <a:latin typeface="Arial" panose="020B0604020202020204" pitchFamily="34" charset="0"/>
              <a:cs typeface="Arial" panose="020B0604020202020204" pitchFamily="34" charset="0"/>
            </a:endParaRPr>
          </a:p>
          <a:p>
            <a:endParaRPr lang="pt-BR" sz="2000" b="1" dirty="0">
              <a:solidFill>
                <a:srgbClr val="FF0000"/>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Este </a:t>
            </a:r>
            <a:r>
              <a:rPr lang="pt-BR" sz="2000" dirty="0" err="1">
                <a:solidFill>
                  <a:schemeClr val="tx1"/>
                </a:solidFill>
                <a:latin typeface="Arial" panose="020B0604020202020204" pitchFamily="34" charset="0"/>
                <a:cs typeface="Arial" panose="020B0604020202020204" pitchFamily="34" charset="0"/>
              </a:rPr>
              <a:t>comomando</a:t>
            </a:r>
            <a:r>
              <a:rPr lang="pt-BR" sz="2000" dirty="0">
                <a:solidFill>
                  <a:schemeClr val="tx1"/>
                </a:solidFill>
                <a:latin typeface="Arial" panose="020B0604020202020204" pitchFamily="34" charset="0"/>
                <a:cs typeface="Arial" panose="020B0604020202020204" pitchFamily="34" charset="0"/>
              </a:rPr>
              <a:t> tem a clausula SELECT e a FROM como obrigatórias, as demais são opcionais, mas caso seja necessário elas devem seguir esta exata sequencia. Este comando será trabalhado com a lista de exercícios</a:t>
            </a: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931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D963-04AF-3D22-5244-7F667458D12D}"/>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3F85FD7E-BA5B-962C-A36B-C57E71FC7393}"/>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SELECT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8387394E-BA69-AB86-8FA1-6AE54C324A51}"/>
              </a:ext>
            </a:extLst>
          </p:cNvPr>
          <p:cNvSpPr txBox="1"/>
          <p:nvPr/>
        </p:nvSpPr>
        <p:spPr>
          <a:xfrm>
            <a:off x="799199" y="758782"/>
            <a:ext cx="7880549" cy="3477875"/>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Apesar de ter sua estrutura rígida o comando SELECT nos oferece algumas facilidade para ajudar no nosso dia a dia, entre elas temos:</a:t>
            </a:r>
          </a:p>
          <a:p>
            <a:pPr algn="just"/>
            <a:endParaRPr lang="pt-BR" sz="2000"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A clausula DISTINCT, esta clausula colocada após a palavra </a:t>
            </a:r>
            <a:r>
              <a:rPr lang="pt-BR" sz="2000" dirty="0" err="1">
                <a:solidFill>
                  <a:schemeClr val="tx1"/>
                </a:solidFill>
                <a:latin typeface="Arial" panose="020B0604020202020204" pitchFamily="34" charset="0"/>
                <a:cs typeface="Arial" panose="020B0604020202020204" pitchFamily="34" charset="0"/>
              </a:rPr>
              <a:t>select</a:t>
            </a:r>
            <a:r>
              <a:rPr lang="pt-BR" sz="2000" dirty="0">
                <a:solidFill>
                  <a:schemeClr val="tx1"/>
                </a:solidFill>
                <a:latin typeface="Arial" panose="020B0604020202020204" pitchFamily="34" charset="0"/>
                <a:cs typeface="Arial" panose="020B0604020202020204" pitchFamily="34" charset="0"/>
              </a:rPr>
              <a:t> e antes da lista de colunas a serem apresentada faz com que linhas repetidas sejam excluídas deixando apena a primeira ocorrência delas</a:t>
            </a:r>
          </a:p>
          <a:p>
            <a:pPr algn="just"/>
            <a:endParaRPr lang="pt-BR" sz="2000"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Podemos utilizar o conector AS para renomear colunas ou tabelas dentro do nosso SELECT facilitando o entendimento da saída do comando</a:t>
            </a:r>
          </a:p>
        </p:txBody>
      </p:sp>
    </p:spTree>
    <p:extLst>
      <p:ext uri="{BB962C8B-B14F-4D97-AF65-F5344CB8AC3E}">
        <p14:creationId xmlns:p14="http://schemas.microsoft.com/office/powerpoint/2010/main" val="138878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7CFA8-4B53-B2A7-8A48-485CAB765EEA}"/>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B84064CC-DB3A-E3DA-BA8D-C87D65B05079}"/>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SELECT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37DA0C69-FBDA-A553-CE44-47A11E64B910}"/>
              </a:ext>
            </a:extLst>
          </p:cNvPr>
          <p:cNvSpPr txBox="1"/>
          <p:nvPr/>
        </p:nvSpPr>
        <p:spPr>
          <a:xfrm>
            <a:off x="799199" y="758782"/>
            <a:ext cx="7880549" cy="3170099"/>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Para colunas do tipo </a:t>
            </a:r>
            <a:r>
              <a:rPr lang="pt-BR" sz="2000" dirty="0" err="1">
                <a:solidFill>
                  <a:schemeClr val="tx1"/>
                </a:solidFill>
                <a:latin typeface="Arial" panose="020B0604020202020204" pitchFamily="34" charset="0"/>
                <a:cs typeface="Arial" panose="020B0604020202020204" pitchFamily="34" charset="0"/>
              </a:rPr>
              <a:t>string</a:t>
            </a:r>
            <a:r>
              <a:rPr lang="pt-BR" sz="2000" dirty="0">
                <a:solidFill>
                  <a:schemeClr val="tx1"/>
                </a:solidFill>
                <a:latin typeface="Arial" panose="020B0604020202020204" pitchFamily="34" charset="0"/>
                <a:cs typeface="Arial" panose="020B0604020202020204" pitchFamily="34" charset="0"/>
              </a:rPr>
              <a:t> podemos utilizar o operador LIKE par fazer busca por padrão, este operador utiliza de 2 caracteres como curinga o caractere ‘%’ que significa qualquer quantidade de caracteres e o caractere ‘_’ que significa um e somente um caractere.</a:t>
            </a:r>
          </a:p>
          <a:p>
            <a:pPr algn="just"/>
            <a:endParaRPr lang="pt-BR" sz="2000"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Trabalhar com valores nulos precisam sempre de atenção para isso o SELECT nos traz as constantes IS NULL e IS NOT NULL que devemos utilizar sempre que queremos saber se uma coluna é ou não é nula.</a:t>
            </a:r>
          </a:p>
        </p:txBody>
      </p:sp>
    </p:spTree>
    <p:extLst>
      <p:ext uri="{BB962C8B-B14F-4D97-AF65-F5344CB8AC3E}">
        <p14:creationId xmlns:p14="http://schemas.microsoft.com/office/powerpoint/2010/main" val="419546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16D0-57E8-641D-168D-45AFFB94D04D}"/>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97350E99-903D-CFE5-EE18-C932F9846F4A}"/>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SELECT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4700220A-5F24-C44F-F5CF-7F152FF8F0C7}"/>
              </a:ext>
            </a:extLst>
          </p:cNvPr>
          <p:cNvSpPr txBox="1"/>
          <p:nvPr/>
        </p:nvSpPr>
        <p:spPr>
          <a:xfrm>
            <a:off x="799199" y="758782"/>
            <a:ext cx="7880549" cy="4093428"/>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Agregações de informações sempre são importantes, especialmente quando queremos fazer análises, o SQL padrão nos traz as funções MIN(), MAX(), SUM(), AVG() e COUNT() para trabalhar essas análises.</a:t>
            </a:r>
          </a:p>
          <a:p>
            <a:pPr algn="just"/>
            <a:endParaRPr lang="pt-BR" sz="2000"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Eventualmente queremos saber não só se a informação está </a:t>
            </a:r>
            <a:r>
              <a:rPr lang="pt-BR" sz="2000" dirty="0" err="1">
                <a:solidFill>
                  <a:schemeClr val="tx1"/>
                </a:solidFill>
                <a:latin typeface="Arial" panose="020B0604020202020204" pitchFamily="34" charset="0"/>
                <a:cs typeface="Arial" panose="020B0604020202020204" pitchFamily="34" charset="0"/>
              </a:rPr>
              <a:t>ma</a:t>
            </a:r>
            <a:r>
              <a:rPr lang="pt-BR" sz="2000" dirty="0">
                <a:solidFill>
                  <a:schemeClr val="tx1"/>
                </a:solidFill>
                <a:latin typeface="Arial" panose="020B0604020202020204" pitchFamily="34" charset="0"/>
                <a:cs typeface="Arial" panose="020B0604020202020204" pitchFamily="34" charset="0"/>
              </a:rPr>
              <a:t> lista mas outras comparações para isso ainda temos os operadores ANY, SOME, ALL </a:t>
            </a:r>
          </a:p>
          <a:p>
            <a:pPr algn="just"/>
            <a:endParaRPr lang="pt-BR" sz="2000"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É comum a necessidade de se querer filtrar dados a partir de uma lista, por exemplo: queremos saber os clientes do sul do Brasil, para isso teríamos que buscar os clientes cujo estado são ‘RS’, ‘SC’ ou ‘PR’, para tratar lista o SQL nos traz os operadores IN e NOT IN</a:t>
            </a:r>
          </a:p>
        </p:txBody>
      </p:sp>
    </p:spTree>
    <p:extLst>
      <p:ext uri="{BB962C8B-B14F-4D97-AF65-F5344CB8AC3E}">
        <p14:creationId xmlns:p14="http://schemas.microsoft.com/office/powerpoint/2010/main" val="3409494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49555-59DE-6E76-3EAD-7AD8A7849DCE}"/>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AA1FF67C-05FF-B6FE-7103-A9D54A5F44DD}"/>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SELECT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67236164-1451-CCE2-028B-A00B45FAAF23}"/>
              </a:ext>
            </a:extLst>
          </p:cNvPr>
          <p:cNvSpPr txBox="1"/>
          <p:nvPr/>
        </p:nvSpPr>
        <p:spPr>
          <a:xfrm>
            <a:off x="799199" y="758782"/>
            <a:ext cx="7880549" cy="4093428"/>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É comum necessitarmos informações que estão em nossa base de dados como filtro, ou mesmos para análises mais complexas, neste caso podemos usar o conceito e </a:t>
            </a:r>
            <a:r>
              <a:rPr lang="pt-BR" sz="2000" dirty="0" err="1">
                <a:solidFill>
                  <a:schemeClr val="tx1"/>
                </a:solidFill>
                <a:latin typeface="Arial" panose="020B0604020202020204" pitchFamily="34" charset="0"/>
                <a:cs typeface="Arial" panose="020B0604020202020204" pitchFamily="34" charset="0"/>
              </a:rPr>
              <a:t>subselect</a:t>
            </a:r>
            <a:r>
              <a:rPr lang="pt-BR" sz="2000" dirty="0">
                <a:solidFill>
                  <a:schemeClr val="tx1"/>
                </a:solidFill>
                <a:latin typeface="Arial" panose="020B0604020202020204" pitchFamily="34" charset="0"/>
                <a:cs typeface="Arial" panose="020B0604020202020204" pitchFamily="34" charset="0"/>
              </a:rPr>
              <a:t>, ou seja, usar um comando de SELECT dentro de outro de outro comando SELECT.</a:t>
            </a:r>
          </a:p>
          <a:p>
            <a:pPr algn="just"/>
            <a:endParaRPr lang="pt-BR" sz="2000"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Todo o resultado de um comando SELECT pode ser utilizado como filtros ou até mesmo como uma tabela temporária que pode ser usada no FROM de outro comando SELECT</a:t>
            </a:r>
          </a:p>
          <a:p>
            <a:pPr algn="just"/>
            <a:endParaRPr lang="pt-BR" sz="2000"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Esta possibilidade pode gerar comandos de SELECT complexos e com dificuldade de entendimento, o SQL nos oferece então o objeto VIEW que podemos dizer um nome dado a um SELECT, este objeto pode ser trabalhado como se fosse uma nova tabela</a:t>
            </a:r>
          </a:p>
        </p:txBody>
      </p:sp>
    </p:spTree>
    <p:extLst>
      <p:ext uri="{BB962C8B-B14F-4D97-AF65-F5344CB8AC3E}">
        <p14:creationId xmlns:p14="http://schemas.microsoft.com/office/powerpoint/2010/main" val="189872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29623</TotalTime>
  <Words>3732</Words>
  <Application>Microsoft Office PowerPoint</Application>
  <PresentationFormat>Apresentação na tela (16:9)</PresentationFormat>
  <Paragraphs>328</Paragraphs>
  <Slides>58</Slides>
  <Notes>36</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58</vt:i4>
      </vt:variant>
    </vt:vector>
  </HeadingPairs>
  <TitlesOfParts>
    <vt:vector size="67" baseType="lpstr">
      <vt:lpstr>Calibri Light</vt:lpstr>
      <vt:lpstr>Times</vt:lpstr>
      <vt:lpstr>Arial Unicode MS</vt:lpstr>
      <vt:lpstr>Arial</vt:lpstr>
      <vt:lpstr>Verdana</vt:lpstr>
      <vt:lpstr>Calibri</vt:lpstr>
      <vt:lpstr>Roboto</vt:lpstr>
      <vt:lpstr>Consolas</vt:lpstr>
      <vt:lpstr>Personalizar design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Treina Recife - Banco de Dados(SQL)</dc:title>
  <dc:creator>Prof. Rogério Aguiar,MSc;Rogerio Aguiar</dc:creator>
  <cp:keywords>Treina Recife</cp:keywords>
  <cp:lastModifiedBy>Fernando Calabria</cp:lastModifiedBy>
  <cp:revision>15</cp:revision>
  <cp:lastPrinted>2022-09-12T20:23:48Z</cp:lastPrinted>
  <dcterms:created xsi:type="dcterms:W3CDTF">2020-01-19T22:21:58Z</dcterms:created>
  <dcterms:modified xsi:type="dcterms:W3CDTF">2025-06-27T11:47:43Z</dcterms:modified>
</cp:coreProperties>
</file>